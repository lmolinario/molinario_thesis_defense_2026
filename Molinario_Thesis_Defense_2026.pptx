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85" r:id="rId6"/>
    <p:sldId id="260" r:id="rId7"/>
    <p:sldId id="261" r:id="rId8"/>
    <p:sldId id="262" r:id="rId9"/>
    <p:sldId id="263" r:id="rId10"/>
    <p:sldId id="264" r:id="rId11"/>
    <p:sldId id="265" r:id="rId12"/>
    <p:sldId id="266" r:id="rId13"/>
    <p:sldId id="267" r:id="rId14"/>
    <p:sldId id="268" r:id="rId15"/>
    <p:sldId id="269" r:id="rId16"/>
    <p:sldId id="283" r:id="rId17"/>
    <p:sldId id="270" r:id="rId18"/>
    <p:sldId id="271" r:id="rId19"/>
    <p:sldId id="272" r:id="rId20"/>
    <p:sldId id="273" r:id="rId21"/>
    <p:sldId id="274" r:id="rId22"/>
    <p:sldId id="275" r:id="rId23"/>
    <p:sldId id="276" r:id="rId24"/>
    <p:sldId id="277" r:id="rId25"/>
    <p:sldId id="278" r:id="rId2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F58347-48CA-4BFE-910C-1B19FCD9C5CB}" v="1" dt="2026-09-24T10:56:07.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28114" autoAdjust="0"/>
  </p:normalViewPr>
  <p:slideViewPr>
    <p:cSldViewPr snapToGrid="0" snapToObjects="1">
      <p:cViewPr varScale="1">
        <p:scale>
          <a:sx n="45" d="100"/>
          <a:sy n="45" d="100"/>
        </p:scale>
        <p:origin x="1468" y="40"/>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LLO MOLINARIO" userId="675167b3-0327-4eb0-b712-ad5d2d77a8a3" providerId="ADAL" clId="{9715378B-D33F-4C88-8CE1-003C56922897}"/>
    <pc:docChg chg="addSld delSld modSld">
      <pc:chgData name="LELLO MOLINARIO" userId="675167b3-0327-4eb0-b712-ad5d2d77a8a3" providerId="ADAL" clId="{9715378B-D33F-4C88-8CE1-003C56922897}" dt="2026-09-24T10:56:10.445" v="2" actId="47"/>
      <pc:docMkLst>
        <pc:docMk/>
      </pc:docMkLst>
      <pc:sldChg chg="modNotesTx">
        <pc:chgData name="LELLO MOLINARIO" userId="675167b3-0327-4eb0-b712-ad5d2d77a8a3" providerId="ADAL" clId="{9715378B-D33F-4C88-8CE1-003C56922897}" dt="2026-09-23T09:38:06.639" v="0" actId="20577"/>
        <pc:sldMkLst>
          <pc:docMk/>
          <pc:sldMk cId="7108233" sldId="257"/>
        </pc:sldMkLst>
      </pc:sldChg>
      <pc:sldChg chg="del">
        <pc:chgData name="LELLO MOLINARIO" userId="675167b3-0327-4eb0-b712-ad5d2d77a8a3" providerId="ADAL" clId="{9715378B-D33F-4C88-8CE1-003C56922897}" dt="2026-09-24T10:56:10.445" v="2" actId="47"/>
        <pc:sldMkLst>
          <pc:docMk/>
          <pc:sldMk cId="0" sldId="284"/>
        </pc:sldMkLst>
      </pc:sldChg>
      <pc:sldChg chg="add setBg">
        <pc:chgData name="LELLO MOLINARIO" userId="675167b3-0327-4eb0-b712-ad5d2d77a8a3" providerId="ADAL" clId="{9715378B-D33F-4C88-8CE1-003C56922897}" dt="2026-09-24T10:56:07.044" v="1"/>
        <pc:sldMkLst>
          <pc:docMk/>
          <pc:sldMk cId="0" sldId="285"/>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FNR · missed-target risk</c:v>
          </c:tx>
          <c:spPr>
            <a:solidFill>
              <a:srgbClr val="BE3C37"/>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7.0000000000000007E-2</c:v>
              </c:pt>
              <c:pt idx="1">
                <c:v>0.12</c:v>
              </c:pt>
              <c:pt idx="2">
                <c:v>4.2000000000000003E-2</c:v>
              </c:pt>
              <c:pt idx="3">
                <c:v>1.4E-2</c:v>
              </c:pt>
              <c:pt idx="4">
                <c:v>3.2000000000000001E-2</c:v>
              </c:pt>
              <c:pt idx="5">
                <c:v>3.5999999999999997E-2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173-4757-916B-D1825A920195}"/>
            </c:ext>
          </c:extLst>
        </c:ser>
        <c:ser>
          <c:idx val="1"/>
          <c:order val="1"/>
          <c:tx>
            <c:v>FPR · review workload</c:v>
          </c:tx>
          <c:spPr>
            <a:solidFill>
              <a:srgbClr val="C89B14"/>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2.5999999999999999E-2</c:v>
              </c:pt>
              <c:pt idx="2">
                <c:v>7.0000000000000007E-2</c:v>
              </c:pt>
              <c:pt idx="3">
                <c:v>0.156</c:v>
              </c:pt>
              <c:pt idx="4">
                <c:v>0.04</c:v>
              </c:pt>
              <c:pt idx="5">
                <c:v>8.0000000000000002E-3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173-4757-916B-D1825A920195}"/>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75">
                <a:solidFill>
                  <a:srgbClr val="172033"/>
                </a:solidFill>
              </a:defRPr>
            </a:pPr>
            <a:endParaRPr lang="it-IT"/>
          </a:p>
        </c:txPr>
        <c:crossAx val="48650112"/>
        <c:crosses val="autoZero"/>
        <c:crossBetween val="between"/>
      </c:valAx>
      <c:spPr>
        <a:solidFill>
          <a:srgbClr val="F7F8FA"/>
        </a:solidFill>
        <a:ln w="0">
          <a:noFill/>
          <a:prstDash val="solid"/>
        </a:ln>
      </c:spPr>
    </c:plotArea>
    <c:legend>
      <c:legendPos val="b"/>
      <c:overlay val="0"/>
      <c:txPr>
        <a:bodyPr anchorCtr="1"/>
        <a:lstStyle/>
        <a:p>
          <a:pPr>
            <a:defRPr sz="1200">
              <a:solidFill>
                <a:srgbClr val="5B6577"/>
              </a:solidFill>
            </a:defRPr>
          </a:pPr>
          <a:endParaRPr lang="it-IT"/>
        </a:p>
      </c:txPr>
    </c:legend>
    <c:plotVisOnly val="1"/>
    <c:dispBlanksAs val="zero"/>
    <c:showDLblsOverMax val="1"/>
  </c:chart>
  <c:spPr>
    <a:solidFill>
      <a:srgbClr val="F7F8FA"/>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OOD weapon-assignment rate</c:v>
          </c:tx>
          <c:spPr>
            <a:solidFill>
              <a:srgbClr val="233A70"/>
            </a:solidFill>
          </c:spPr>
          <c:invertIfNegative val="1"/>
          <c:dPt>
            <c:idx val="2"/>
            <c:invertIfNegative val="0"/>
            <c:bubble3D val="0"/>
            <c:spPr>
              <a:solidFill>
                <a:srgbClr val="BE3C37"/>
              </a:solidFill>
            </c:spPr>
            <c:extLst>
              <c:ext xmlns:c16="http://schemas.microsoft.com/office/drawing/2014/chart" uri="{C3380CC4-5D6E-409C-BE32-E72D297353CC}">
                <c16:uniqueId val="{00000001-17A7-4A15-9920-6B2EF4D0E65B}"/>
              </c:ext>
            </c:extLst>
          </c:dPt>
          <c:dPt>
            <c:idx val="3"/>
            <c:invertIfNegative val="0"/>
            <c:bubble3D val="0"/>
            <c:spPr>
              <a:solidFill>
                <a:srgbClr val="087A50"/>
              </a:solidFill>
            </c:spPr>
            <c:extLst>
              <c:ext xmlns:c16="http://schemas.microsoft.com/office/drawing/2014/chart" uri="{C3380CC4-5D6E-409C-BE32-E72D297353CC}">
                <c16:uniqueId val="{00000003-17A7-4A15-9920-6B2EF4D0E65B}"/>
              </c:ext>
            </c:extLst>
          </c:dPt>
          <c:dPt>
            <c:idx val="4"/>
            <c:invertIfNegative val="0"/>
            <c:bubble3D val="0"/>
            <c:spPr>
              <a:solidFill>
                <a:srgbClr val="087A50"/>
              </a:solidFill>
            </c:spPr>
            <c:extLst>
              <c:ext xmlns:c16="http://schemas.microsoft.com/office/drawing/2014/chart" uri="{C3380CC4-5D6E-409C-BE32-E72D297353CC}">
                <c16:uniqueId val="{00000005-17A7-4A15-9920-6B2EF4D0E65B}"/>
              </c:ext>
            </c:extLst>
          </c:dPt>
          <c:dPt>
            <c:idx val="5"/>
            <c:invertIfNegative val="0"/>
            <c:bubble3D val="0"/>
            <c:spPr>
              <a:solidFill>
                <a:srgbClr val="087A50"/>
              </a:solidFill>
            </c:spPr>
            <c:extLst>
              <c:ext xmlns:c16="http://schemas.microsoft.com/office/drawing/2014/chart" uri="{C3380CC4-5D6E-409C-BE32-E72D297353CC}">
                <c16:uniqueId val="{00000007-17A7-4A15-9920-6B2EF4D0E65B}"/>
              </c:ext>
            </c:extLst>
          </c:dPt>
          <c:dPt>
            <c:idx val="6"/>
            <c:invertIfNegative val="0"/>
            <c:bubble3D val="0"/>
            <c:spPr>
              <a:solidFill>
                <a:srgbClr val="C89B14"/>
              </a:solidFill>
            </c:spPr>
            <c:extLst>
              <c:ext xmlns:c16="http://schemas.microsoft.com/office/drawing/2014/chart" uri="{C3380CC4-5D6E-409C-BE32-E72D297353CC}">
                <c16:uniqueId val="{00000009-17A7-4A15-9920-6B2EF4D0E65B}"/>
              </c:ext>
            </c:extLst>
          </c:dPt>
          <c:dPt>
            <c:idx val="7"/>
            <c:invertIfNegative val="0"/>
            <c:bubble3D val="0"/>
            <c:spPr>
              <a:solidFill>
                <a:srgbClr val="087A50"/>
              </a:solidFill>
            </c:spPr>
            <c:extLst>
              <c:ext xmlns:c16="http://schemas.microsoft.com/office/drawing/2014/chart" uri="{C3380CC4-5D6E-409C-BE32-E72D297353CC}">
                <c16:uniqueId val="{0000000B-17A7-4A15-9920-6B2EF4D0E65B}"/>
              </c:ext>
            </c:extLst>
          </c:dPt>
          <c:dPt>
            <c:idx val="8"/>
            <c:invertIfNegative val="0"/>
            <c:bubble3D val="0"/>
            <c:spPr>
              <a:solidFill>
                <a:srgbClr val="087A50"/>
              </a:solidFill>
            </c:spPr>
            <c:extLst>
              <c:ext xmlns:c16="http://schemas.microsoft.com/office/drawing/2014/chart" uri="{C3380CC4-5D6E-409C-BE32-E72D297353CC}">
                <c16:uniqueId val="{0000000D-17A7-4A15-9920-6B2EF4D0E65B}"/>
              </c:ext>
            </c:extLst>
          </c:dPt>
          <c:dLbls>
            <c:spPr>
              <a:noFill/>
              <a:ln>
                <a:noFill/>
              </a:ln>
            </c:spPr>
            <c:txPr>
              <a:bodyPr anchorCtr="1"/>
              <a:lstStyle/>
              <a:p>
                <a:pPr>
                  <a:defRPr sz="1050"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0.36959999999999998</c:v>
              </c:pt>
              <c:pt idx="1">
                <c:v>0.43759999999999999</c:v>
              </c:pt>
              <c:pt idx="2">
                <c:v>0.83560000000000001</c:v>
              </c:pt>
              <c:pt idx="3">
                <c:v>0.36</c:v>
              </c:pt>
              <c:pt idx="4">
                <c:v>0.23799999999999999</c:v>
              </c:pt>
              <c:pt idx="5">
                <c:v>0.34</c:v>
              </c:pt>
              <c:pt idx="6">
                <c:v>0.52200000000000002</c:v>
              </c:pt>
              <c:pt idx="7">
                <c:v>0.29199999999999998</c:v>
              </c:pt>
              <c:pt idx="8">
                <c:v>0.26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17A7-4A15-9920-6B2EF4D0E65B}"/>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00">
                <a:solidFill>
                  <a:srgbClr val="172033"/>
                </a:solidFill>
              </a:defRPr>
            </a:pPr>
            <a:endParaRPr lang="it-IT"/>
          </a:p>
        </c:txPr>
        <c:crossAx val="48650112"/>
        <c:crosses val="autoZero"/>
        <c:crossBetween val="between"/>
      </c:valAx>
      <c:spPr>
        <a:solidFill>
          <a:srgbClr val="F7F8FA"/>
        </a:solidFill>
        <a:ln w="0">
          <a:noFill/>
          <a:prstDash val="solid"/>
        </a:ln>
      </c:spPr>
    </c:plotArea>
    <c:plotVisOnly val="1"/>
    <c:dispBlanksAs val="zero"/>
    <c:showDLblsOverMax val="1"/>
  </c:chart>
  <c:spPr>
    <a:solidFill>
      <a:srgbClr val="F7F8FA"/>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0:00–0:40</a:t>
            </a:r>
          </a:p>
          <a:p>
            <a:endParaRPr dirty="0"/>
          </a:p>
          <a:p>
            <a:r>
              <a:rPr dirty="0"/>
              <a:t>SPEAKER SCRIPT</a:t>
            </a:r>
          </a:p>
          <a:p>
            <a:r>
              <a:rPr dirty="0"/>
              <a:t>Good morning. My name is Lello Molinario, and today I will present my Master's thesis entitled “Evaluating the Robustness of AI-Based Forensic Tools under Adversarial and Anti-Forensic Attacks”.</a:t>
            </a:r>
          </a:p>
          <a:p>
            <a:endParaRPr dirty="0"/>
          </a:p>
          <a:p>
            <a:r>
              <a:rPr dirty="0"/>
              <a:t>Artificial intelligence is increasingly integrated into digital forensic tools to help investigators analyze and classify relevant data. However, this introduces an important question: what happens when the data analyzed by these systems are intentionally manipulated to evade detection?</a:t>
            </a:r>
          </a:p>
          <a:p>
            <a:endParaRPr dirty="0"/>
          </a:p>
          <a:p>
            <a:r>
              <a:rPr dirty="0"/>
              <a:t>The main goal of my thesis is to investigate the operational robustness of AI-based forensic tools under adversarial and anti-forensic conditions. To study this problem experimentally, I use automated image classification as a representative case study.</a:t>
            </a:r>
          </a:p>
          <a:p>
            <a:endParaRPr dirty="0"/>
          </a:p>
          <a:p>
            <a:r>
              <a:rPr dirty="0"/>
              <a:t>MEMORY ANCHORS</a:t>
            </a:r>
          </a:p>
          <a:p>
            <a:r>
              <a:rPr dirty="0"/>
              <a:t>AI forensic tools → relevant data → manipulation → operational robustness → image classification as case study</a:t>
            </a:r>
          </a:p>
          <a:p>
            <a:endParaRPr dirty="0"/>
          </a:p>
          <a:p>
            <a:r>
              <a:rPr dirty="0"/>
              <a:t>TRANSITION</a:t>
            </a:r>
          </a:p>
          <a:p>
            <a:r>
              <a:rPr dirty="0"/>
              <a:t>I will start from the operational risk that motivated this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0:40–1:25</a:t>
            </a:r>
          </a:p>
          <a:p>
            <a:endParaRPr dirty="0"/>
          </a:p>
          <a:p>
            <a:r>
              <a:rPr dirty="0"/>
              <a:t>SPEAKER SCRIPT</a:t>
            </a:r>
          </a:p>
          <a:p>
            <a:r>
              <a:rPr dirty="0"/>
              <a:t>Digital investigations may involve very large amounts of data, and AI-based tools can help investigators prioritize what should be reviewed first.</a:t>
            </a:r>
          </a:p>
          <a:p>
            <a:endParaRPr dirty="0"/>
          </a:p>
          <a:p>
            <a:r>
              <a:rPr dirty="0"/>
              <a:t>However, the main operational risk is a false negative. A false positive creates additional work for the analyst, but a false negative may silently move relevant evidence out of the priority queue.</a:t>
            </a:r>
          </a:p>
          <a:p>
            <a:endParaRPr dirty="0"/>
          </a:p>
          <a:p>
            <a:r>
              <a:rPr dirty="0"/>
              <a:t>For this reason, good performance on clean data is not enough. The key question is how forensic triage behaves when the input is adversarial, anti-forensic, or out of distribution.</a:t>
            </a:r>
          </a:p>
          <a:p>
            <a:endParaRPr dirty="0"/>
          </a:p>
          <a:p>
            <a:r>
              <a:rPr dirty="0"/>
              <a:t>My contribution is therefore an auditable</a:t>
            </a:r>
            <a:r>
              <a:rPr lang="it-IT" dirty="0"/>
              <a:t> (</a:t>
            </a:r>
            <a:r>
              <a:rPr lang="it-IT" dirty="0" err="1"/>
              <a:t>oditable</a:t>
            </a:r>
            <a:r>
              <a:rPr lang="it-IT" dirty="0"/>
              <a:t>)</a:t>
            </a:r>
            <a:r>
              <a:rPr dirty="0"/>
              <a:t> robustness assessment, not the development of a new firearm classifier.</a:t>
            </a:r>
          </a:p>
          <a:p>
            <a:endParaRPr dirty="0"/>
          </a:p>
          <a:p>
            <a:r>
              <a:rPr dirty="0"/>
              <a:t>MEMORY ANCHORS</a:t>
            </a:r>
          </a:p>
          <a:p>
            <a:r>
              <a:rPr dirty="0"/>
              <a:t>large data → AI triage → false positive = workload → false negative = silent exclusion → robustness</a:t>
            </a:r>
          </a:p>
          <a:p>
            <a:endParaRPr dirty="0"/>
          </a:p>
          <a:p>
            <a:r>
              <a:rPr dirty="0"/>
              <a:t>TRANSITION</a:t>
            </a:r>
          </a:p>
          <a:p>
            <a:r>
              <a:rPr dirty="0"/>
              <a:t>To evaluate this problem systematically, I designed the </a:t>
            </a:r>
            <a:r>
              <a:rPr dirty="0" err="1"/>
              <a:t>FAIRLab</a:t>
            </a:r>
            <a:r>
              <a:rPr dirty="0"/>
              <a:t>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1:25–2:15</a:t>
            </a:r>
          </a:p>
          <a:p>
            <a:endParaRPr/>
          </a:p>
          <a:p>
            <a:r>
              <a:t>SPEAKER SCRIPT</a:t>
            </a:r>
          </a:p>
          <a:p>
            <a:r>
              <a:t>FAIRLab is the experimental protocol used to make the robustness assessment traceable and auditable.</a:t>
            </a:r>
          </a:p>
          <a:p>
            <a:endParaRPr/>
          </a:p>
          <a:p>
            <a:r>
              <a:t>It connects six stages. I start from a heterogeneous image pool, validate and deduplicate it, and then freeze the source population. Next, I generate controlled perturbations, evaluate both transparent proxy models and commercial black-box configurations, normalize the observable outputs, and finally interpret the results in forensic terms.</a:t>
            </a:r>
          </a:p>
          <a:p>
            <a:endParaRPr/>
          </a:p>
          <a:p>
            <a:r>
              <a:t>Traceability is maintained throughout the process using deterministic identifiers, manifests, checksums, frozen configurations, and source-to-output links.</a:t>
            </a:r>
          </a:p>
          <a:p>
            <a:endParaRPr/>
          </a:p>
          <a:p>
            <a:r>
              <a:t>This is important because every reported result must be connected back to the original source and to the exact experimental condition.</a:t>
            </a:r>
          </a:p>
          <a:p>
            <a:endParaRPr/>
          </a:p>
          <a:p>
            <a:r>
              <a:t>MEMORY ANCHORS</a:t>
            </a:r>
          </a:p>
          <a:p>
            <a:r>
              <a:t>source → validate → freeze → perturb → evaluate → interpret → traceability throughout</a:t>
            </a:r>
          </a:p>
          <a:p>
            <a:endParaRPr/>
          </a:p>
          <a:p>
            <a:r>
              <a:t>TRANSITION</a:t>
            </a:r>
          </a:p>
          <a:p>
            <a:r>
              <a:t>The next slide shows the exact experimental population behind every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2:15–2:55</a:t>
            </a:r>
          </a:p>
          <a:p>
            <a:endParaRPr dirty="0"/>
          </a:p>
          <a:p>
            <a:r>
              <a:rPr dirty="0"/>
              <a:t>SPEAKER SCRIPT</a:t>
            </a:r>
          </a:p>
          <a:p>
            <a:r>
              <a:rPr dirty="0"/>
              <a:t>The frozen population contains 1,500 source images: 500 weapon, 500 non-weapon, and 500 images in a separate out-of-distribution branch.</a:t>
            </a:r>
          </a:p>
          <a:p>
            <a:endParaRPr dirty="0"/>
          </a:p>
          <a:p>
            <a:r>
              <a:rPr dirty="0"/>
              <a:t>The 1,000 images belonging to the binary task are each linked to ten manipulated conditions, producing 10,000 adversarial and anti-forensic variants. Together with the 1,500 clean sources, the tool-facing bundle contains 11,500 files.</a:t>
            </a:r>
          </a:p>
          <a:p>
            <a:endParaRPr dirty="0"/>
          </a:p>
          <a:p>
            <a:r>
              <a:rPr dirty="0"/>
              <a:t>An important point is that these 10,000 manipulated files are not independent cases. They remain source-condition variants linked to the original images. The OOD branch is also evaluated separately </a:t>
            </a:r>
            <a:r>
              <a:rPr lang="it-IT" dirty="0"/>
              <a:t>(</a:t>
            </a:r>
            <a:r>
              <a:rPr lang="it-IT" dirty="0" err="1"/>
              <a:t>seperetly</a:t>
            </a:r>
            <a:r>
              <a:rPr lang="it-IT" dirty="0"/>
              <a:t>) </a:t>
            </a:r>
            <a:r>
              <a:rPr dirty="0"/>
              <a:t>and is not treated as a third supervised class.</a:t>
            </a:r>
          </a:p>
          <a:p>
            <a:endParaRPr dirty="0"/>
          </a:p>
          <a:p>
            <a:r>
              <a:rPr dirty="0"/>
              <a:t>MEMORY ANCHORS</a:t>
            </a:r>
          </a:p>
          <a:p>
            <a:r>
              <a:rPr dirty="0"/>
              <a:t>1,500 sources → 500 / 500 / 500 OOD → 10,000 linked variants → 11,500 files → OOD separate</a:t>
            </a:r>
          </a:p>
          <a:p>
            <a:endParaRPr dirty="0"/>
          </a:p>
          <a:p>
            <a:r>
              <a:rPr dirty="0"/>
              <a:t>TRANSITION</a:t>
            </a:r>
          </a:p>
          <a:p>
            <a:r>
              <a:rPr dirty="0"/>
              <a:t>Before moving to the tools, I will clarify how weapon, non-weapon and OOD play different roles.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2:55–3:30</a:t>
            </a:r>
          </a:p>
          <a:p>
            <a:endParaRPr/>
          </a:p>
          <a:p>
            <a:r>
              <a:t>SPEAKER SCRIPT</a:t>
            </a:r>
          </a:p>
          <a:p>
            <a:r>
              <a:t>Before moving to the tools, it is important to distinguish the three groups in the frozen source population.</a:t>
            </a:r>
          </a:p>
          <a:p>
            <a:endParaRPr/>
          </a:p>
          <a:p>
            <a:r>
              <a:t>Weapon and non-weapon form the supervised binary task. Weapon images contain a real firearm or firearm-like object that is sufficiently visible and relevant to the triage task. Non-weapon images are realistic negative samples with no firearm, but they still belong to the same visual domain.</a:t>
            </a:r>
          </a:p>
          <a:p>
            <a:endParaRPr/>
          </a:p>
          <a:p>
            <a:r>
              <a:t>OOD is different. It is a separate evaluation branch containing borderline, synthetic, degraded, ambiguous, or semantically external inputs, such as toys or replicas, CGI, non-firearm weapons, or war-related imagery.</a:t>
            </a:r>
          </a:p>
          <a:p>
            <a:endParaRPr/>
          </a:p>
          <a:p>
            <a:r>
              <a:t>So OOD is not a third supervised class. It is a stress-test branch used to observe how closed-set systems behave outside the intended binary distribution.</a:t>
            </a:r>
          </a:p>
          <a:p>
            <a:endParaRPr/>
          </a:p>
          <a:p>
            <a:r>
              <a:t>MEMORY ANCHORS</a:t>
            </a:r>
          </a:p>
          <a:p>
            <a:r>
              <a:t>weapon = positive → non-weapon = negative → OOD = separate branch → not third class → stress test</a:t>
            </a:r>
          </a:p>
          <a:p>
            <a:endParaRPr/>
          </a:p>
          <a:p>
            <a:r>
              <a:t>TRANSITION</a:t>
            </a:r>
          </a:p>
          <a:p>
            <a:r>
              <a:t>With this distinction clear, I can now explain the two evidence levels used in the evaluation.</a:t>
            </a:r>
          </a:p>
          <a:p>
            <a:endParaRPr/>
          </a:p>
          <a:p>
            <a:r>
              <a:t>[Sources]</a:t>
            </a:r>
          </a:p>
          <a:p>
            <a:r>
              <a:t>- datasets/DATASET_CARD.md</a:t>
            </a:r>
          </a:p>
          <a:p>
            <a:r>
              <a:t>- datasets/final/README.md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3:30–4:25</a:t>
            </a:r>
          </a:p>
          <a:p>
            <a:endParaRPr dirty="0"/>
          </a:p>
          <a:p>
            <a:r>
              <a:rPr dirty="0"/>
              <a:t>SPEAKER SCRIPT</a:t>
            </a:r>
          </a:p>
          <a:p>
            <a:r>
              <a:rPr dirty="0"/>
              <a:t>The evaluation uses two evidence levels.</a:t>
            </a:r>
          </a:p>
          <a:p>
            <a:endParaRPr dirty="0"/>
          </a:p>
          <a:p>
            <a:r>
              <a:rPr dirty="0"/>
              <a:t>The first level consists of three transparent, white-box-capable proxy models: EfficientNet-B0, ResNet18, and a CLIP-based supervised classifier. All three expose predictions, gradients, and fold-aware checkpoints; CLIP uses a frozen visual encoder and a supervised binary head.</a:t>
            </a:r>
            <a:r>
              <a:rPr lang="it-IT" dirty="0"/>
              <a:t/>
            </a:r>
            <a:r>
              <a:rPr lang="it-IT" dirty="0" err="1"/>
              <a:t/>
            </a:r>
            <a:r>
              <a:rPr lang="it-IT" dirty="0"/>
              <a:t/>
            </a:r>
            <a:r>
              <a:rPr dirty="0"/>
              <a:t/>
            </a:r>
          </a:p>
          <a:p>
            <a:endParaRPr dirty="0"/>
          </a:p>
          <a:p>
            <a:r>
              <a:rPr dirty="0"/>
              <a:t>The second level consists of four commercial black-box systems evaluated through six configurations. Here I can only observe analyst-visible outputs such as tags, bookmarks, labels, or semantic retrieval results.</a:t>
            </a:r>
          </a:p>
          <a:p>
            <a:endParaRPr dirty="0"/>
          </a:p>
          <a:p>
            <a:r>
              <a:rPr dirty="0"/>
              <a:t>The threat model specifies Goal, Knowledge, and Capability. The goal of model-dependent attacks is untargeted misclassification. Knowledge is gradient-based for FGSM, Sigma Zero, and the internal SuperDeepFool adapter, and score-based for One Pixel. Capability is constrained image manipulation at inference time. EfficientNet-B0 is the source model. Other proxies measure transfer, and commercial systems provide empirical responses to transferred artifacts. Color Shift and anti-forensic transformations are model-agnostic, with anti-forensics evaluated separately from adversarial attacks.</a:t>
            </a:r>
            <a:r>
              <a:rPr lang="it-IT" dirty="0"/>
              <a:t/>
            </a:r>
            <a:r>
              <a:rPr lang="it-IT" dirty="0" err="1"/>
              <a:t/>
            </a:r>
            <a:r>
              <a:rPr lang="it-IT" dirty="0"/>
              <a:t/>
            </a:r>
            <a:r>
              <a:rPr dirty="0"/>
              <a:t/>
            </a:r>
          </a:p>
          <a:p>
            <a:endParaRPr dirty="0"/>
          </a:p>
          <a:p>
            <a:r>
              <a:rPr dirty="0"/>
              <a:t>MEMORY ANCHORS</a:t>
            </a:r>
          </a:p>
          <a:p>
            <a:r>
              <a:rPr dirty="0"/>
              <a:t>GKC: untargeted errors → gradient / score access → constrained test-time changes → source / transfer → model-agnostic conditions</a:t>
            </a:r>
          </a:p>
          <a:p>
            <a:endParaRPr dirty="0"/>
          </a:p>
          <a:p>
            <a:r>
              <a:rPr dirty="0"/>
              <a:t>TRANSITION</a:t>
            </a:r>
          </a:p>
          <a:p>
            <a:r>
              <a:rPr dirty="0"/>
              <a:t>Because these systems expose different outputs, I need an explicit normalization step before comparing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4:25–5:15</a:t>
            </a:r>
          </a:p>
          <a:p>
            <a:endParaRPr dirty="0"/>
          </a:p>
          <a:p>
            <a:r>
              <a:rPr dirty="0"/>
              <a:t>SPEAKER SCRIPT</a:t>
            </a:r>
          </a:p>
          <a:p>
            <a:r>
              <a:rPr dirty="0"/>
              <a:t>Commercial forensic tools do not expose one common prediction interface. Depending on the tool, the observable result may be a tag, a bookmark, a label, or a retrieval hit.</a:t>
            </a:r>
          </a:p>
          <a:p>
            <a:endParaRPr dirty="0"/>
          </a:p>
          <a:p>
            <a:r>
              <a:rPr dirty="0"/>
              <a:t>For this reason, I freeze an output mapping for every tool version and configuration and normalize each observable result </a:t>
            </a:r>
            <a:r>
              <a:rPr lang="it-IT" dirty="0"/>
              <a:t>(</a:t>
            </a:r>
            <a:r>
              <a:rPr lang="it-IT" dirty="0" err="1"/>
              <a:t>rezalt</a:t>
            </a:r>
            <a:r>
              <a:rPr lang="it-IT" dirty="0"/>
              <a:t>) </a:t>
            </a:r>
            <a:r>
              <a:rPr dirty="0"/>
              <a:t>into three operational states: weapon, non-weapon, or unknown.</a:t>
            </a:r>
          </a:p>
          <a:p>
            <a:endParaRPr dirty="0"/>
          </a:p>
          <a:p>
            <a:r>
              <a:rPr dirty="0"/>
              <a:t>This allows directional errors to be compared consistently. The false-negative rate represents missed-target risk, while the false-positive rate represents additional review workload. OOD weapon assignment is reported separately because OOD images do not belong to the supervised binary task.</a:t>
            </a:r>
          </a:p>
          <a:p>
            <a:endParaRPr dirty="0"/>
          </a:p>
          <a:p>
            <a:r>
              <a:rPr dirty="0"/>
              <a:t>In the final 69,000 normalized commercial decisions, no unknown state occurred</a:t>
            </a:r>
            <a:r>
              <a:rPr lang="it-IT" dirty="0"/>
              <a:t> (</a:t>
            </a:r>
            <a:r>
              <a:rPr lang="it-IT" dirty="0" err="1"/>
              <a:t>occiurrd</a:t>
            </a:r>
            <a:r>
              <a:rPr lang="it-IT" dirty="0"/>
              <a:t>)</a:t>
            </a:r>
            <a:r>
              <a:rPr dirty="0"/>
              <a:t>, but the protocol keeps this state explicit rather than silently treating unsupported output as negative.</a:t>
            </a:r>
          </a:p>
          <a:p>
            <a:endParaRPr dirty="0"/>
          </a:p>
          <a:p>
            <a:r>
              <a:rPr dirty="0"/>
              <a:t>MEMORY ANCHORS</a:t>
            </a:r>
          </a:p>
          <a:p>
            <a:r>
              <a:rPr dirty="0"/>
              <a:t>heterogeneous outputs → frozen mapping → weapon / </a:t>
            </a:r>
            <a:r>
              <a:rPr dirty="0" err="1"/>
              <a:t>non_weapon</a:t>
            </a:r>
            <a:r>
              <a:rPr dirty="0"/>
              <a:t> / unknown → FNR = misses → FPR = workload → OOD separate</a:t>
            </a:r>
          </a:p>
          <a:p>
            <a:endParaRPr dirty="0"/>
          </a:p>
          <a:p>
            <a:r>
              <a:rPr dirty="0"/>
              <a:t>TRANSITION</a:t>
            </a:r>
          </a:p>
          <a:p>
            <a:r>
              <a:rPr dirty="0"/>
              <a:t>With the comparison rules fixed, we can now examine</a:t>
            </a:r>
            <a:r>
              <a:rPr lang="it-IT" dirty="0"/>
              <a:t> (</a:t>
            </a:r>
            <a:r>
              <a:rPr lang="it-IT" dirty="0" err="1"/>
              <a:t>exemine</a:t>
            </a:r>
            <a:r>
              <a:rPr lang="it-IT" dirty="0"/>
              <a:t>)</a:t>
            </a:r>
            <a:r>
              <a:rPr dirty="0"/>
              <a:t> the main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5:15–6:15</a:t>
            </a:r>
          </a:p>
          <a:p>
            <a:endParaRPr dirty="0"/>
          </a:p>
          <a:p>
            <a:r>
              <a:rPr dirty="0"/>
              <a:t>SPEAKER SCRIPT</a:t>
            </a:r>
          </a:p>
          <a:p>
            <a:r>
              <a:rPr dirty="0"/>
              <a:t>This slide distinguishes source-model evaluation from cross-model transfer.</a:t>
            </a:r>
          </a:p>
          <a:p>
            <a:endParaRPr dirty="0"/>
          </a:p>
          <a:p>
            <a:r>
              <a:rPr dirty="0"/>
              <a:t>EfficientNet-B0 reaches 97.8 percent accuracy on clean data. Under the strongest direct Sigma Zero condition, accuracy falls to 1.5 percent, corresponding to a drop of 96.3 percentage points.</a:t>
            </a:r>
          </a:p>
          <a:p>
            <a:endParaRPr dirty="0"/>
          </a:p>
          <a:p>
            <a:r>
              <a:rPr dirty="0"/>
              <a:t>However, the same generated artifacts do not transfer uniformly. The worst transferred accuracy is 91.8 percent for ResNet18 and 91.4 percent for the CLIP proxy.</a:t>
            </a:r>
          </a:p>
          <a:p>
            <a:endParaRPr dirty="0"/>
          </a:p>
          <a:p>
            <a:r>
              <a:rPr dirty="0"/>
              <a:t>These results show severe source-model vulnerability for EfficientNet-B0 and much smaller cross-model effects under the tested conditions. Limited transfer does not establish direct robustness of ResNet18 or CLIP because no attacks were optimized against them.</a:t>
            </a:r>
            <a:r>
              <a:rPr lang="it-IT" dirty="0"/>
              <a:t/>
            </a:r>
            <a:r>
              <a:rPr dirty="0"/>
              <a:t/>
            </a:r>
          </a:p>
          <a:p>
            <a:endParaRPr dirty="0"/>
          </a:p>
          <a:p>
            <a:r>
              <a:rPr dirty="0"/>
              <a:t>The largest aggregate anti-forensic proxy drop is smaller, at 3.0 percentage points, although directional errors still need to be considered.</a:t>
            </a:r>
          </a:p>
          <a:p>
            <a:endParaRPr dirty="0"/>
          </a:p>
          <a:p>
            <a:r>
              <a:rPr dirty="0"/>
              <a:t>MEMORY ANCHORS</a:t>
            </a:r>
          </a:p>
          <a:p>
            <a:r>
              <a:rPr dirty="0"/>
              <a:t>97.8 clean → 1.5 Sigma Zero direct → −96.3 pp → limited transfer → anti-forensic aggregate drop smaller</a:t>
            </a:r>
          </a:p>
          <a:p>
            <a:endParaRPr dirty="0"/>
          </a:p>
          <a:p>
            <a:r>
              <a:rPr dirty="0"/>
              <a:t>TRANSITION</a:t>
            </a:r>
          </a:p>
          <a:p>
            <a:r>
              <a:rPr dirty="0"/>
              <a:t>The commercial black-box results show configuration-dependent responses to the transferred artifacts.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6:15–7:10</a:t>
            </a:r>
          </a:p>
          <a:p>
            <a:endParaRPr dirty="0"/>
          </a:p>
          <a:p>
            <a:r>
              <a:rPr dirty="0"/>
              <a:t>SPEAKER SCRIPT</a:t>
            </a:r>
          </a:p>
          <a:p>
            <a:r>
              <a:rPr dirty="0"/>
              <a:t>This heatmap summarizes empirical responses to EfficientNet-B0-generated artifacts across the commercial black-box configurations.</a:t>
            </a:r>
          </a:p>
          <a:p>
            <a:endParaRPr dirty="0"/>
          </a:p>
          <a:p>
            <a:r>
              <a:rPr dirty="0"/>
              <a:t>I would not interpret every cell individually. The important message is heterogeneity: artifacts generated against EfficientNet-B0 produce different effects across different tools and even across different settings of the same tool.</a:t>
            </a:r>
          </a:p>
          <a:p>
            <a:endParaRPr dirty="0"/>
          </a:p>
          <a:p>
            <a:r>
              <a:rPr dirty="0"/>
              <a:t>The largest observed accuracy changes occur for Sigma Zero artifacts on Excire D50 and D80, with drops of 20.2 and 25.8 percentage points.</a:t>
            </a:r>
            <a:r>
              <a:rPr dirty="0" err="1"/>
              <a:t/>
            </a:r>
            <a:r>
              <a:rPr dirty="0"/>
              <a:t/>
            </a:r>
          </a:p>
          <a:p>
            <a:endParaRPr dirty="0"/>
          </a:p>
          <a:p>
            <a:r>
              <a:rPr dirty="0"/>
              <a:t>These artifacts were generated on EfficientNet-B0, not optimized against the proprietary models. FGSM, Sigma Zero, and SuperDeepFool were exported as 224 × 224 PNGs, while clean inputs retained native formats and sizes; One Pixel also used PNG serialization. Without a representation-matched clean control, the observed response may combine perturbation, resizing, and serialization effects.</a:t>
            </a:r>
          </a:p>
          <a:p>
            <a:endParaRPr dirty="0"/>
          </a:p>
          <a:p>
            <a:r>
              <a:rPr dirty="0"/>
              <a:t>For the same reason, this heatmap should be interpreted as a protocol-specific robustness profile, not as a universal ranking of products.</a:t>
            </a:r>
          </a:p>
          <a:p>
            <a:endParaRPr dirty="0"/>
          </a:p>
          <a:p>
            <a:r>
              <a:rPr dirty="0"/>
              <a:t>MEMORY ANCHORS</a:t>
            </a:r>
          </a:p>
          <a:p>
            <a:r>
              <a:rPr dirty="0"/>
              <a:t>heatmap → configuration-dependent responses → D50 −20.2 pp / D80 −25.8 pp → representation caveat</a:t>
            </a:r>
          </a:p>
          <a:p>
            <a:endParaRPr dirty="0"/>
          </a:p>
          <a:p>
            <a:r>
              <a:rPr dirty="0"/>
              <a:t>TRANSITION</a:t>
            </a:r>
          </a:p>
          <a:p>
            <a:r>
              <a:rPr dirty="0"/>
              <a:t>Configuration choices also change the ordinary clean-condition trade-off between misses and review workload.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7:10–8:05</a:t>
            </a:r>
          </a:p>
          <a:p>
            <a:endParaRPr dirty="0"/>
          </a:p>
          <a:p>
            <a:r>
              <a:rPr dirty="0"/>
              <a:t>SPEAKER SCRIPT</a:t>
            </a:r>
          </a:p>
          <a:p>
            <a:r>
              <a:rPr dirty="0"/>
              <a:t>This slide shows why one overall accuracy value is not enough for forensic triage</a:t>
            </a:r>
            <a:r>
              <a:rPr lang="it-IT" dirty="0"/>
              <a:t> (triage)</a:t>
            </a:r>
            <a:r>
              <a:rPr dirty="0"/>
              <a:t>.</a:t>
            </a:r>
          </a:p>
          <a:p>
            <a:endParaRPr dirty="0"/>
          </a:p>
          <a:p>
            <a:r>
              <a:rPr dirty="0"/>
              <a:t>For </a:t>
            </a:r>
            <a:r>
              <a:rPr dirty="0" err="1"/>
              <a:t>Excire</a:t>
            </a:r>
            <a:r>
              <a:rPr dirty="0"/>
              <a:t>, moving from distance 20 to distance 80 reduces the missed-target rate from 12.0 percent to 1.4 percent. This looks positive from the perspective of silent exclusion.</a:t>
            </a:r>
          </a:p>
          <a:p>
            <a:endParaRPr dirty="0"/>
          </a:p>
          <a:p>
            <a:r>
              <a:rPr dirty="0"/>
              <a:t>However, the false-positive rate increases from 2.6 to 15.6 percent, creating substantially more review work. At the same time, the OOD weapon-assignment rate increases from 23.8 to 52.2 percent.</a:t>
            </a:r>
          </a:p>
          <a:p>
            <a:endParaRPr dirty="0"/>
          </a:p>
          <a:p>
            <a:r>
              <a:rPr dirty="0"/>
              <a:t>So no configuration simultaneously minimizes missed targets, review workload, and OOD assignments. The operating point must therefore be interpreted according to the forensic use case rather than by selecting a single headline metric.</a:t>
            </a:r>
          </a:p>
          <a:p>
            <a:endParaRPr dirty="0"/>
          </a:p>
          <a:p>
            <a:r>
              <a:rPr dirty="0"/>
              <a:t>MEMORY ANCHORS</a:t>
            </a:r>
          </a:p>
          <a:p>
            <a:r>
              <a:rPr dirty="0" err="1"/>
              <a:t>Excire</a:t>
            </a:r>
            <a:r>
              <a:rPr dirty="0"/>
              <a:t> D20 → D80 → FNR down 12.0 to 1.4 → FPR up 2.6 to 15.6 → OOD up 23.8 to 52.2</a:t>
            </a:r>
          </a:p>
          <a:p>
            <a:endParaRPr dirty="0"/>
          </a:p>
          <a:p>
            <a:r>
              <a:rPr dirty="0"/>
              <a:t>TRANSITION</a:t>
            </a:r>
          </a:p>
          <a:p>
            <a:r>
              <a:rPr dirty="0"/>
              <a:t>The separate OOD branch makes this third type of behavior directly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8:05–8:55</a:t>
            </a:r>
          </a:p>
          <a:p>
            <a:endParaRPr dirty="0"/>
          </a:p>
          <a:p>
            <a:r>
              <a:rPr dirty="0"/>
              <a:t>SPEAKER SCRIPT</a:t>
            </a:r>
          </a:p>
          <a:p>
            <a:r>
              <a:rPr dirty="0"/>
              <a:t>All evaluated systems assign at least some out-of-distribution images to the weapon-oriented state.</a:t>
            </a:r>
          </a:p>
          <a:p>
            <a:endParaRPr dirty="0"/>
          </a:p>
          <a:p>
            <a:r>
              <a:rPr dirty="0"/>
              <a:t>The CLIP proxy reaches an OOD weapon-assignment rate of 83.6 percent, while the commercial configurations range from 23.8 to 52.2 percent.</a:t>
            </a:r>
          </a:p>
          <a:p>
            <a:endParaRPr dirty="0"/>
          </a:p>
          <a:p>
            <a:r>
              <a:rPr dirty="0"/>
              <a:t>These values must be interpreted carefully. OOD images are not part of the supervised weapon versus non-weapon task, so these are not ordinary supervised false-positive rates. They describe closed-set operating behavior when the system is forced to process inputs outside the intended binary distribution.</a:t>
            </a:r>
          </a:p>
          <a:p>
            <a:endParaRPr dirty="0"/>
          </a:p>
          <a:p>
            <a:r>
              <a:rPr dirty="0"/>
              <a:t>For CLIP</a:t>
            </a:r>
            <a:r>
              <a:rPr lang="it-IT" dirty="0"/>
              <a:t> (</a:t>
            </a:r>
            <a:r>
              <a:rPr lang="it-IT" sz="1200" b="0" u="none" strike="noStrike" kern="1200" dirty="0">
                <a:effectLst/>
              </a:rPr>
              <a:t>Contrastive Language-Image Pre-training)</a:t>
            </a:r>
            <a:r>
              <a:rPr dirty="0"/>
              <a:t>, the reported value aggregates five fold-specific responses for each of the 500 OOD images. Each commercial configuration instead produces one normalized decision per OOD image.</a:t>
            </a:r>
          </a:p>
          <a:p>
            <a:endParaRPr dirty="0"/>
          </a:p>
          <a:p>
            <a:r>
              <a:rPr dirty="0"/>
              <a:t>MEMORY ANCHORS</a:t>
            </a:r>
          </a:p>
          <a:p>
            <a:r>
              <a:rPr dirty="0"/>
              <a:t>OOD → weapon assignment exists in every system → CLIP 83.6 → black-box 23.8–52.2 → not supervised FPR</a:t>
            </a:r>
          </a:p>
          <a:p>
            <a:endParaRPr dirty="0"/>
          </a:p>
          <a:p>
            <a:r>
              <a:rPr dirty="0"/>
              <a:t>TRANSITION</a:t>
            </a:r>
          </a:p>
          <a:p>
            <a:r>
              <a:rPr dirty="0"/>
              <a:t>The next example shows why even a maximally concentrated model output does not guarantee correctness.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8:55–9:40</a:t>
            </a:r>
          </a:p>
          <a:p>
            <a:endParaRPr dirty="0"/>
          </a:p>
          <a:p>
            <a:r>
              <a:rPr dirty="0"/>
              <a:t>SPEAKER SCRIPT</a:t>
            </a:r>
          </a:p>
          <a:p>
            <a:r>
              <a:rPr dirty="0"/>
              <a:t>This is a qualitative explainability example from the transparent proxy analysis.</a:t>
            </a:r>
          </a:p>
          <a:p>
            <a:endParaRPr dirty="0"/>
          </a:p>
          <a:p>
            <a:r>
              <a:rPr dirty="0"/>
              <a:t>In case 0015, the reference class is non-weapon. After the Sigma Zero perturbation, the proxy predicts weapon with a maximum predicted-class probability of 1</a:t>
            </a:r>
            <a:r>
              <a:rPr lang="it-IT" dirty="0"/>
              <a:t> </a:t>
            </a:r>
            <a:r>
              <a:rPr lang="it-IT" dirty="0" err="1"/>
              <a:t>hundred</a:t>
            </a:r>
            <a:r>
              <a:rPr lang="it-IT" dirty="0"/>
              <a:t> </a:t>
            </a:r>
            <a:r>
              <a:rPr lang="it-IT" dirty="0" err="1"/>
              <a:t>percent</a:t>
            </a:r>
            <a:r>
              <a:rPr dirty="0"/>
              <a:t>.</a:t>
            </a:r>
          </a:p>
          <a:p>
            <a:endParaRPr dirty="0"/>
          </a:p>
          <a:p>
            <a:r>
              <a:rPr dirty="0"/>
              <a:t>Integrated Gradients is used here to inspect where the selected proxy response is concentrated. However, I deliberately keep the claim limited. The attribution is a diagnostic aid: it does not certify that the prediction is correct, it does not calibrate confidence, and it does not explain the internal behavior of proprietary black-box tools.</a:t>
            </a:r>
          </a:p>
          <a:p>
            <a:endParaRPr dirty="0"/>
          </a:p>
          <a:p>
            <a:r>
              <a:rPr dirty="0"/>
              <a:t>The important point is that a highly concentrated or apparently confident output can still be wrong.</a:t>
            </a:r>
          </a:p>
          <a:p>
            <a:endParaRPr dirty="0"/>
          </a:p>
          <a:p>
            <a:r>
              <a:rPr dirty="0"/>
              <a:t>MEMORY ANCHORS</a:t>
            </a:r>
          </a:p>
          <a:p>
            <a:r>
              <a:rPr dirty="0"/>
              <a:t>case 0015 → </a:t>
            </a:r>
            <a:r>
              <a:rPr dirty="0" err="1"/>
              <a:t>non_weapon</a:t>
            </a:r>
            <a:r>
              <a:rPr dirty="0"/>
              <a:t> reference → Sigma Zero → weapon prediction → max-P 1.000 → IG diagnostic only</a:t>
            </a:r>
          </a:p>
          <a:p>
            <a:endParaRPr dirty="0"/>
          </a:p>
          <a:p>
            <a:r>
              <a:rPr dirty="0"/>
              <a:t>TRANSITION</a:t>
            </a:r>
          </a:p>
          <a:p>
            <a:r>
              <a:rPr dirty="0"/>
              <a:t>These findings lead to a simple operational principle for the use of AI in forensic triage.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9:40–10:20</a:t>
            </a:r>
          </a:p>
          <a:p>
            <a:endParaRPr/>
          </a:p>
          <a:p>
            <a:r>
              <a:t>SPEAKER SCRIPT</a:t>
            </a:r>
          </a:p>
          <a:p>
            <a:r>
              <a:t>AI can still provide substantial value in forensic workflows, but it should support prioritization rather than irreversible exclusion.</a:t>
            </a:r>
          </a:p>
          <a:p>
            <a:endParaRPr/>
          </a:p>
          <a:p>
            <a:r>
              <a:t>The AI output can create a prioritized review queue and reduce workload. The human analyst then validates the result in context and makes the final decision.</a:t>
            </a:r>
          </a:p>
          <a:p>
            <a:endParaRPr/>
          </a:p>
          <a:p>
            <a:r>
              <a:t>At the same time, each decision should preserve the tool version, configuration, output mapping, and validation context. This makes the workflow traceable and defensible.</a:t>
            </a:r>
          </a:p>
          <a:p>
            <a:endParaRPr/>
          </a:p>
          <a:p>
            <a:r>
              <a:t>The practical rule is therefore simple: use AI to prioritize evidence review, but never allow it to silently exclude potentially relevant evidence without human review.</a:t>
            </a:r>
          </a:p>
          <a:p>
            <a:endParaRPr/>
          </a:p>
          <a:p>
            <a:r>
              <a:t>MEMORY ANCHORS</a:t>
            </a:r>
          </a:p>
          <a:p>
            <a:r>
              <a:t>AI output → prioritized queue → human review → documented action → trace every decision</a:t>
            </a:r>
          </a:p>
          <a:p>
            <a:endParaRPr/>
          </a:p>
          <a:p>
            <a:r>
              <a:t>TRANSITION</a:t>
            </a:r>
          </a:p>
          <a:p>
            <a:r>
              <a:t>Before concluding, I will state the main boundaries of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10:20–11:05</a:t>
            </a:r>
          </a:p>
          <a:p>
            <a:endParaRPr/>
          </a:p>
          <a:p>
            <a:r>
              <a:t>SPEAKER SCRIPT</a:t>
            </a:r>
          </a:p>
          <a:p>
            <a:r>
              <a:t>The results should be interpreted within the boundaries of the frozen protocol.</a:t>
            </a:r>
          </a:p>
          <a:p>
            <a:endParaRPr/>
          </a:p>
          <a:p>
            <a:r>
              <a:t>The main limitations are the 1,500-image corpus with one reviewer, one setting per perturbation, the bounded One Pixel search, and generation only on EfficientNet-B0. SuperDeepFool results concern an internal single-cycle L2 adapter rather than the full published method. Commercial responses also depend on tool version, configuration, output mapping, and representation differences from native clean inputs.</a:t>
            </a:r>
          </a:p>
          <a:p>
            <a:endParaRPr/>
          </a:p>
          <a:p>
            <a:r>
              <a:t>I also evaluated possible metadata sensitivity. Fifteen of the 11,500 files matched a predefined sensitive metadata term. The leave-out differences were small, but this does not prove that metadata was causally irrelevant to every individual decision.</a:t>
            </a:r>
          </a:p>
          <a:p>
            <a:endParaRPr/>
          </a:p>
          <a:p>
            <a:r>
              <a:t>Finally, this work evaluates operational triage robustness. It does not claim legal admissibility, certification, or a universal ranking of commercial products.</a:t>
            </a:r>
          </a:p>
          <a:p>
            <a:endParaRPr/>
          </a:p>
          <a:p>
            <a:r>
              <a:t>MEMORY ANCHORS</a:t>
            </a:r>
          </a:p>
          <a:p>
            <a:r>
              <a:t>1,500 / one reviewer → fixed budgets → internal SDF adapter → EfficientNet source → representation caveat → no legal claim</a:t>
            </a:r>
          </a:p>
          <a:p>
            <a:endParaRPr/>
          </a:p>
          <a:p>
            <a:r>
              <a:t>TRANSITION</a:t>
            </a:r>
          </a:p>
          <a:p>
            <a:r>
              <a:t>I will finish with three messages to remember.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11:05–11:45</a:t>
            </a:r>
          </a:p>
          <a:p>
            <a:endParaRPr dirty="0"/>
          </a:p>
          <a:p>
            <a:r>
              <a:rPr dirty="0"/>
              <a:t>SPEAKER SCRIPT</a:t>
            </a:r>
          </a:p>
          <a:p>
            <a:r>
              <a:rPr dirty="0"/>
              <a:t>I would like to conclude with three points.</a:t>
            </a:r>
          </a:p>
          <a:p>
            <a:endParaRPr dirty="0"/>
          </a:p>
          <a:p>
            <a:r>
              <a:rPr dirty="0"/>
              <a:t>First, clean performance is only the baseline. Robustness is condition-dependent, so clean accuracy alone is not sufficient.</a:t>
            </a:r>
          </a:p>
          <a:p>
            <a:endParaRPr dirty="0"/>
          </a:p>
          <a:p>
            <a:r>
              <a:rPr dirty="0"/>
              <a:t>Second, source-model evaluation, cross-model transfer, commercial responses, out-of-distribution behavior, and configuration trade-offs are different dimensions and should be interpreted separately.</a:t>
            </a:r>
          </a:p>
          <a:p>
            <a:endParaRPr dirty="0"/>
          </a:p>
          <a:p>
            <a:r>
              <a:rPr dirty="0"/>
              <a:t>Third, </a:t>
            </a:r>
            <a:r>
              <a:rPr dirty="0" err="1"/>
              <a:t>FAIRLab</a:t>
            </a:r>
            <a:r>
              <a:rPr dirty="0"/>
              <a:t> makes these dimensions traceable, auditable, and reviewable by a forensic expert.</a:t>
            </a:r>
          </a:p>
          <a:p>
            <a:endParaRPr dirty="0"/>
          </a:p>
          <a:p>
            <a:r>
              <a:rPr dirty="0"/>
              <a:t>The final message of the thesis is therefore: AI can prioritize evidence, but it must not silently exclude it.</a:t>
            </a:r>
          </a:p>
          <a:p>
            <a:endParaRPr dirty="0"/>
          </a:p>
          <a:p>
            <a:r>
              <a:rPr dirty="0"/>
              <a:t>MEMORY ANCHORS</a:t>
            </a:r>
          </a:p>
          <a:p>
            <a:r>
              <a:rPr dirty="0"/>
              <a:t>clean is baseline → separate robustness dimensions → </a:t>
            </a:r>
            <a:r>
              <a:rPr dirty="0" err="1"/>
              <a:t>FAIRLab</a:t>
            </a:r>
            <a:r>
              <a:rPr dirty="0"/>
              <a:t> = traceable and auditable → AI prioritizes, never silently excludes</a:t>
            </a:r>
          </a:p>
          <a:p>
            <a:endParaRPr dirty="0"/>
          </a:p>
          <a:p>
            <a:r>
              <a:rPr dirty="0"/>
              <a:t>TRANSITION</a:t>
            </a:r>
          </a:p>
          <a:p>
            <a:r>
              <a:rPr dirty="0"/>
              <a:t>Thank you for your attention.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r>
              <a:t>Q&amp;A SLIDE</a:t>
            </a:r>
          </a:p>
          <a:p>
            <a:endParaRPr/>
          </a:p>
          <a:p>
            <a:r>
              <a:t>SPEAKER SCRIPT</a:t>
            </a:r>
          </a:p>
          <a:p>
            <a:r>
              <a:t>Thank you for your attention. I am happy to answer your questions.</a:t>
            </a:r>
          </a:p>
          <a:p>
            <a:endParaRPr/>
          </a:p>
          <a:p>
            <a:r>
              <a:t>PRESENTER CUE</a:t>
            </a:r>
          </a:p>
          <a:p>
            <a:r>
              <a:t>Stop here. Do not continue speaking unless the commission asks a question. Open a backup slide only when it directly supports the answer.</a:t>
            </a:r>
          </a:p>
          <a:p>
            <a:endParaRPr/>
          </a:p>
          <a:p>
            <a:r>
              <a:t>BACKUP MAP</a:t>
            </a:r>
          </a:p>
          <a:p>
            <a:r>
              <a:t>B1 → formal research questions and claim scope</a:t>
            </a:r>
          </a:p>
          <a:p>
            <a:r>
              <a:t>B2 → perturbation suite and threat paths</a:t>
            </a:r>
          </a:p>
          <a:p>
            <a:r>
              <a:t>B3 → traceability and reproducibility</a:t>
            </a:r>
          </a:p>
          <a:p>
            <a:r>
              <a:t>B4 → exact commercial clean/OOD metrics</a:t>
            </a:r>
          </a:p>
          <a:p>
            <a:r>
              <a:t>B5 → frozen adversarial parameters</a:t>
            </a:r>
          </a:p>
          <a:p>
            <a:r>
              <a:t>B6 → frozen anti-forensic parameters</a:t>
            </a:r>
          </a:p>
          <a:p>
            <a:r>
              <a:t>B7 → black-box output normalization</a:t>
            </a:r>
          </a:p>
          <a:p>
            <a:r>
              <a:t>B8 → metric formulas and denominators</a:t>
            </a:r>
          </a:p>
          <a:p>
            <a:r>
              <a:t>B9 → limitations and future validation</a:t>
            </a:r>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B1 — RESEARCH QUESTIONS AND CLAIM SCOPE</a:t>
            </a:r>
          </a:p>
          <a:p>
            <a:endParaRPr/>
          </a:p>
          <a:p>
            <a:r>
              <a:t>USE WHEN</a:t>
            </a:r>
          </a:p>
          <a:p>
            <a:r>
              <a:t>The commission asks: “What are your formal research questions?” or “What exactly does the thesis claim?”</a:t>
            </a:r>
          </a:p>
          <a:p>
            <a:endParaRPr/>
          </a:p>
          <a:p>
            <a:r>
              <a:t>COMMISSION ANSWER</a:t>
            </a:r>
          </a:p>
          <a:p>
            <a:r>
              <a:t>The thesis has four research questions. RQ1 evaluates proxy behavior under separate OOD, adversarial, and anti-forensic conditions. RQ2 compares proxy responses under source-model evaluation, empirical cross-model transfer, and model-agnostic Color Shift. RQ3 examines black-box outputs and configuration-dependent profiles. RQ4 addresses directional errors, degradations, OOD assignments, and unknown states relevant to continued human review.</a:t>
            </a:r>
          </a:p>
          <a:p>
            <a:endParaRPr/>
          </a:p>
          <a:p>
            <a:r>
              <a:t>The claim scope is deliberately limited: this is an operational robustness assessment under one frozen and traceable protocol. It is not a certification, a legal-admissibility assessment, or a universal product ranking.</a:t>
            </a:r>
          </a:p>
          <a:p>
            <a:endParaRPr/>
          </a:p>
          <a:p>
            <a:r>
              <a:t>KEY WORDS</a:t>
            </a:r>
          </a:p>
          <a:p>
            <a:r>
              <a:t>RQ1 conditions → RQ2 source evaluation / cross-model transfer / Color Shift → RQ3 configurations → RQ4 directional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B2 — GKC THREAT MODEL AND PERTURBATION SUITE</a:t>
            </a:r>
          </a:p>
          <a:p>
            <a:endParaRPr/>
          </a:p>
          <a:p>
            <a:r>
              <a:t>USE WHEN</a:t>
            </a:r>
          </a:p>
          <a:p>
            <a:r>
              <a:t>The commission asks: “What is your threat model?” or “Which attacks and transformations did you evaluate?”</a:t>
            </a:r>
          </a:p>
          <a:p>
            <a:endParaRPr/>
          </a:p>
          <a:p>
            <a:r>
              <a:t>COMMISSION ANSWER</a:t>
            </a:r>
          </a:p>
          <a:p>
            <a:r>
              <a:t>The adversarial or adversarial-style group includes FGSM, One Pixel, Sigma Zero, SuperDeepFool, and deterministic Color Shift. The anti-forensic group includes JPEG recompression, resampling or resize, Gaussian blur, histogram modification, and contrast stretching.</a:t>
            </a:r>
          </a:p>
          <a:p>
            <a:endParaRPr/>
          </a:p>
          <a:p>
            <a:r>
              <a:t>The adversarial threat model uses Goal, Knowledge, and Capability. Goal: the model-dependent attacks seek untargeted misclassification. Knowledge: FGSM, Sigma Zero, and the internal SuperDeepFool adapter use gradients, while One Pixel uses scores. Capability: the attacker modifies image inputs at inference time within the constraints of each condition, without altering model training. All three proxies are inspectable and white-box-capable, but only EfficientNet-B0 was used for model-dependent generation. ResNet18 and CLIP measure cross-model transfer; commercial systems provide empirical responses. Color Shift and the anti-forensic transformations are model-agnostic, with anti-forensics evaluated separately from adversarial attacks.</a:t>
            </a:r>
          </a:p>
          <a:p>
            <a:endParaRPr/>
          </a:p>
          <a:p>
            <a:r>
              <a:t>KEY WORDS</a:t>
            </a:r>
          </a:p>
          <a:p>
            <a:r>
              <a:t>Goal: untargeted errors → Knowledge: gradient / score / model-agnostic → Capability: constrained evasion → source / transfer / commercial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B3 — TRACEABILITY AND REPRODUCIBILITY</a:t>
            </a:r>
          </a:p>
          <a:p>
            <a:endParaRPr/>
          </a:p>
          <a:p>
            <a:r>
              <a:t>USE WHEN</a:t>
            </a:r>
          </a:p>
          <a:p>
            <a:r>
              <a:t>The commission asks: “How can a reported result be audited?” or “How reproducible is the experiment?”</a:t>
            </a:r>
          </a:p>
          <a:p>
            <a:endParaRPr/>
          </a:p>
          <a:p>
            <a:r>
              <a:t>COMMISSION ANSWER</a:t>
            </a:r>
          </a:p>
          <a:p>
            <a:r>
              <a:t>A reported result can be followed through a complete chain. I start from the source manifest and manual review, then use the source-condition identifier to link the derived variant. From there I can identify the proxy prediction or normalized commercial output, the metric table, and finally the figure or conclusion reported in the thesis.</a:t>
            </a:r>
          </a:p>
          <a:p>
            <a:endParaRPr/>
          </a:p>
          <a:p>
            <a:r>
              <a:t>Integrity is supported by SHA-256 digests, frozen model and tool-version registries, frozen configurations, and explicit normalization rules. The repository scripts regenerate the main metrics and thesis-ready reporting assets.</a:t>
            </a:r>
          </a:p>
          <a:p>
            <a:endParaRPr/>
          </a:p>
          <a:p>
            <a:r>
              <a:t>KEY WORDS</a:t>
            </a:r>
          </a:p>
          <a:p>
            <a:r>
              <a:t>source → derivation → decision → metric → report → SHA-256 → frozen registries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B4 — COMMERCIAL CLEAN METRICS AND OOD BEHAVIOR</a:t>
            </a:r>
          </a:p>
          <a:p>
            <a:endParaRPr/>
          </a:p>
          <a:p>
            <a:r>
              <a:t>USE WHEN</a:t>
            </a:r>
          </a:p>
          <a:p>
            <a:r>
              <a:t>The commission asks for an exact number or compares two commercial configurations.</a:t>
            </a:r>
          </a:p>
          <a:p>
            <a:endParaRPr/>
          </a:p>
          <a:p>
            <a:r>
              <a:t>COMMISSION ANSWER</a:t>
            </a:r>
          </a:p>
          <a:p>
            <a:r>
              <a:t>This table reports clean binary accuracy, recall, false-negative rate, false-positive rate, and a separate OOD weapon-assignment rate for each frozen configuration.</a:t>
            </a:r>
          </a:p>
          <a:p>
            <a:endParaRPr/>
          </a:p>
          <a:p>
            <a:r>
              <a:t>For example, Griffeye/T3K has 97.8 percent clean accuracy and 0.8 percent FPR in this protocol, while Excire D80 has the lowest FNR at 1.4 percent but a much higher FPR of 15.6 percent and an OOD weapon-assignment rate of 52.2 percent.</a:t>
            </a:r>
          </a:p>
          <a:p>
            <a:endParaRPr/>
          </a:p>
          <a:p>
            <a:r>
              <a:t>I would not use the table to declare a universally best product. These rows describe operating profiles under specific tool versions, settings, mappings, and one frozen dataset.</a:t>
            </a:r>
          </a:p>
          <a:p>
            <a:endParaRPr/>
          </a:p>
          <a:p>
            <a:r>
              <a:t>KEY WORDS</a:t>
            </a:r>
          </a:p>
          <a:p>
            <a:r>
              <a:t>exact numbers → clean and OOD separate → operating profiles → no universal 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B5 — FROZEN ADVERSARIAL SETTINGS</a:t>
            </a:r>
          </a:p>
          <a:p>
            <a:endParaRPr/>
          </a:p>
          <a:p>
            <a:r>
              <a:t>USE WHEN</a:t>
            </a:r>
          </a:p>
          <a:p>
            <a:r>
              <a:t>The commission asks: “Which attack parameters did you use?” or “Were the attacks reproducible?”</a:t>
            </a:r>
          </a:p>
          <a:p>
            <a:endParaRPr/>
          </a:p>
          <a:p>
            <a:r>
              <a:t>COMMISSION ANSWER</a:t>
            </a:r>
          </a:p>
          <a:p>
            <a:r>
              <a:t>FGSM uses a fixed epsilon of 8/255, with precedent in RobustBench CIFAR evaluation; this is not a forensic standard, and no epsilon sweep was performed. One Pixel uses score-based Differential Evolution over x, y, R, G, and B, with 50 maximum iterations, 100 candidates, seed 42, and stopping at a generation boundary after misclassification. This is a smaller budget than the original 400-candidate, 100-iteration setting; limited effectiveness does not establish general robustness.</a:t>
            </a:r>
          </a:p>
          <a:p>
            <a:endParaRPr/>
          </a:p>
          <a:p>
            <a:r>
              <a:t>Sigma Zero uses the defaults of the pinned adversarial-library reference function: 1,000 steps, eta zero 1.0, sigma 0.001, tau zero 0.3, threshold factor 0.01, and infinity-norm gradient normalization. The internal SuperDeepFool adapter uses L2 geometry, at most 50 DeepFool iterations, and one projection. Although the configured outer cap is 20, all 1,000 records show one executed cycle; failed projection falls back to the boundary point. This differs from the repeated boundary/projection procedure of published SDF infinity-one. Infinity denotes the inner iteration variant, not an L-infinity perturbation norm. Results describe this bounded internal adapter; Color Shift remains model-agnostic.</a:t>
            </a:r>
          </a:p>
          <a:p>
            <a:endParaRPr/>
          </a:p>
          <a:p>
            <a:r>
              <a:t>KEY WORDS</a:t>
            </a:r>
          </a:p>
          <a:p>
            <a:r>
              <a:t>FGSM fixed 8/255 → One Pixel bounded 50/100 → Sigma Zero reference defaults → SDF internal L2 / one cycle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B6 — FROZEN ANTI-FORENSIC SETTINGS</a:t>
            </a:r>
          </a:p>
          <a:p>
            <a:endParaRPr/>
          </a:p>
          <a:p>
            <a:r>
              <a:t>USE WHEN</a:t>
            </a:r>
          </a:p>
          <a:p>
            <a:r>
              <a:t>The commission asks: “How did you control the anti-forensic transformations?”</a:t>
            </a:r>
          </a:p>
          <a:p>
            <a:endParaRPr/>
          </a:p>
          <a:p>
            <a:r>
              <a:t>COMMISSION ANSWER</a:t>
            </a:r>
          </a:p>
          <a:p>
            <a:r>
              <a:t>Each anti-forensic condition uses one frozen, model-agnostic setting. JPEG recompression uses quality 70 without changing dimensions. Resize downsamples to 50 percent and restores the original size with bicubic interpolation. Gaussian blur uses radius 1.5. Histogram modification applies per-channel equalization, while contrast stretching uses autocontrast with a 1 percent cutoff.</a:t>
            </a:r>
          </a:p>
          <a:p>
            <a:endParaRPr/>
          </a:p>
          <a:p>
            <a:r>
              <a:t>The other transformations use JPEG quality 95. Each condition contains 1,000 source-linked artifacts for controlled paired comparison at one predefined setting. These results characterize the tested conditions, not a complete severity-response curve.</a:t>
            </a:r>
          </a:p>
          <a:p>
            <a:endParaRPr/>
          </a:p>
          <a:p>
            <a:r>
              <a:t>KEY WORDS</a:t>
            </a:r>
          </a:p>
          <a:p>
            <a:r>
              <a:t>JPEG q70 → resize 50% bicubic → blur 1.5 → histogram equalization → autocontrast 1% → frozen/model-agnostic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B7 — BLACK-BOX OUTPUT NORMALIZATION</a:t>
            </a:r>
          </a:p>
          <a:p>
            <a:endParaRPr/>
          </a:p>
          <a:p>
            <a:r>
              <a:t>USE WHEN</a:t>
            </a:r>
          </a:p>
          <a:p>
            <a:r>
              <a:t>The commission asks: “How did you compare tools that produce different kinds of outputs?”</a:t>
            </a:r>
          </a:p>
          <a:p>
            <a:endParaRPr/>
          </a:p>
          <a:p>
            <a:r>
              <a:t>COMMISSION ANSWER</a:t>
            </a:r>
          </a:p>
          <a:p>
            <a:r>
              <a:t>I did not assume that the commercial systems expose the same classifier interface. Instead, I defined a frozen mapping for the analyst-visible output of each system.</a:t>
            </a:r>
          </a:p>
          <a:p>
            <a:endParaRPr/>
          </a:p>
          <a:p>
            <a:r>
              <a:t>Magnet uses the “Possible weapons” tag. Griffeye/T3K uses the CORE/Violence/Firearm bookmark. Excire uses a hit in at least one of eight frozen firearm-oriented prompt lists, with D20, D50, and D80 kept as separate configurations. Cellebrite uses the “Armi”, “Pistola”, or “Fucile” classifications.</a:t>
            </a:r>
          </a:p>
          <a:p>
            <a:endParaRPr/>
          </a:p>
          <a:p>
            <a:r>
              <a:t>The observable states are mapped to weapon, non-weapon, or unknown. Unsupported output is never silently converted to negative. No unknown state occurred in the final 69,000 normalized decisions.</a:t>
            </a:r>
          </a:p>
          <a:p>
            <a:endParaRPr/>
          </a:p>
          <a:p>
            <a:r>
              <a:t>KEY WORDS</a:t>
            </a:r>
          </a:p>
          <a:p>
            <a:r>
              <a:t>observable outputs → frozen mapping → per-tool rule → unsupported = unknown, never negative → 0 unknown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B8 — METRIC FORMULAS AND DENOMINATORS</a:t>
            </a:r>
          </a:p>
          <a:p>
            <a:endParaRPr/>
          </a:p>
          <a:p>
            <a:r>
              <a:t>USE WHEN</a:t>
            </a:r>
          </a:p>
          <a:p>
            <a:r>
              <a:t>The commission asks about FNR, FPR, OOD rates, or why denominators differ.</a:t>
            </a:r>
          </a:p>
          <a:p>
            <a:endParaRPr/>
          </a:p>
          <a:p>
            <a:r>
              <a:t>COMMISSION ANSWER</a:t>
            </a:r>
          </a:p>
          <a:p>
            <a:r>
              <a:t>Accuracy is the proportion of correct evaluated binary decisions. FNR is false negatives divided by true positives plus false negatives, so operationally it represents missed-target risk. FPR is false positives divided by false positives plus true negatives, so it represents additional review workload.</a:t>
            </a:r>
          </a:p>
          <a:p>
            <a:endParaRPr/>
          </a:p>
          <a:p>
            <a:r>
              <a:t>OOD weapon assignment is reported separately because OOD images do not belong to the supervised weapon/non-weapon task. For proxy OOD evaluation, five fold-specific checkpoints produce 2,500 responses from 500 images. Each commercial configuration produces one decision per OOD image, so its denominator is 500. Unknown outputs would be excluded from binary denominators and reported separately.</a:t>
            </a:r>
          </a:p>
          <a:p>
            <a:endParaRPr/>
          </a:p>
          <a:p>
            <a:r>
              <a:t>KEY WORDS</a:t>
            </a:r>
          </a:p>
          <a:p>
            <a:r>
              <a:t>FNR = misses → FPR = workload → OOD separate → proxy denominator 2,500 → commercial denominator 500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B9 — LIMITATIONS AND FUTURE VALIDATION</a:t>
            </a:r>
          </a:p>
          <a:p>
            <a:endParaRPr/>
          </a:p>
          <a:p>
            <a:r>
              <a:t>USE WHEN</a:t>
            </a:r>
          </a:p>
          <a:p>
            <a:r>
              <a:t>The commission asks: “What would you do next?” or “How generalizable are these results?”</a:t>
            </a:r>
          </a:p>
          <a:p>
            <a:endParaRPr/>
          </a:p>
          <a:p>
            <a:r>
              <a:t>COMMISSION ANSWER</a:t>
            </a:r>
          </a:p>
          <a:p>
            <a:r>
              <a:t>Further validation should use larger and more heterogeneous datasets with multiple reviewers, test parameter sweeps and matched attacks, evaluate the full iterative SuperDeepFool method, and include representation-matched clean controls. It should also repeat commercial evaluations across versions, extend beyond still images, and strengthen audit and human-review controls. These are future experiments, not results of the current study.</a:t>
            </a:r>
          </a:p>
          <a:p>
            <a:endParaRPr/>
          </a:p>
          <a:p>
            <a:r>
              <a:t>The objective is not simply to maximize accuracy. It is to test whether the observed operating profiles remain stable across data, tools, conditions, and time while preserving the traceability of every experimental decision.</a:t>
            </a:r>
          </a:p>
          <a:p>
            <a:endParaRPr/>
          </a:p>
          <a:p>
            <a:r>
              <a:t>KEY WORDS</a:t>
            </a:r>
          </a:p>
          <a:p>
            <a:r>
              <a:t>larger multi-reviewer data → parameter sweeps/adaptive attacks → version drift → other modalities → stronger governance → preserve traceability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B6DC-E063-4C95-B7B6-18A89B193093}"/>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0B6458F3-DEF4-4E74-90D7-A6CFC6E9EEC7}"/>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68E6159-AEF2-436B-AD0D-300A104E7B1B}"/>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8D0553C7-FFA7-49E1-A235-16CA36E4E67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C081E00-2BEC-4075-90C4-CFC44EDE307E}"/>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CDE2-EC61-4F5B-880C-33A7790A7C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79B4628-C1DE-40AC-BDA3-B903DF2A384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AFDE277-33BE-4446-97AE-44467DBA3D58}"/>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3B517663-0F9B-47BC-BDE8-9142A67B5EE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B0C35A8-30BB-466D-92CB-18D51542872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B1F-DD36-4780-BFC5-310492F5FE4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B860CB1-3D2D-4251-9A8A-4FF50D93991F}"/>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75557EC-AFCA-4E22-9F26-0FB019F0BA9B}"/>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175A50AD-4A24-409F-A142-AE6C1EE1AC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B1A7DB3-0CCE-4B73-823D-F04AC0D1EB4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D41A-3909-47A2-95D9-38FEE70376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B5B6AAF-BEEA-4CEA-A916-D654B1375A59}"/>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C389DD6A-2D90-4166-A9EE-903D16CAA7BF}"/>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80A4F4A-B7E3-4623-9AEA-A4CD8EAECF46}"/>
              </a:ext>
            </a:extLst>
          </p:cNvPr>
          <p:cNvSpPr>
            <a:spLocks noGrp="1"/>
          </p:cNvSpPr>
          <p:nvPr>
            <p:ph type="dt" idx="10"/>
          </p:nvPr>
        </p:nvSpPr>
        <p:spPr/>
        <p:txBody>
          <a:bodyPr/>
          <a:lstStyle/>
          <a:p>
            <a:fld id="{5BCAD085-E8A6-8845-BD4E-CB4CCA059FC4}" type="datetimeFigureOut">
              <a:t>28/09/2026</a:t>
            </a:fld>
            <a:endParaRPr/>
          </a:p>
        </p:txBody>
      </p:sp>
      <p:sp>
        <p:nvSpPr>
          <p:cNvPr id="6" name="Footer Placeholder 5">
            <a:extLst>
              <a:ext uri="{FF2B5EF4-FFF2-40B4-BE49-F238E27FC236}">
                <a16:creationId xmlns:a16="http://schemas.microsoft.com/office/drawing/2014/main" id="{C2CC5959-F783-4E91-B12E-EDAD95F1084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91C8CAC-6FA5-4F6C-A71A-27061AB321D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E595-36FE-428E-BE96-BD221BACB6CB}"/>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73819F1B-B435-4117-AA3D-8C0CAF9C30B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E6DA375-0CC3-4E73-9EB5-CCB3FD21EF5B}"/>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F7DD439-42EA-45E1-BDE6-318C9D104E4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746805BB-EB86-4603-A671-DC22CC8DF44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A69D72F-70A5-4C5C-AD07-00B42AB26818}"/>
              </a:ext>
            </a:extLst>
          </p:cNvPr>
          <p:cNvSpPr>
            <a:spLocks noGrp="1"/>
          </p:cNvSpPr>
          <p:nvPr>
            <p:ph type="dt" idx="10"/>
          </p:nvPr>
        </p:nvSpPr>
        <p:spPr/>
        <p:txBody>
          <a:bodyPr/>
          <a:lstStyle/>
          <a:p>
            <a:fld id="{5BCAD085-E8A6-8845-BD4E-CB4CCA059FC4}" type="datetimeFigureOut">
              <a:t>28/09/2026</a:t>
            </a:fld>
            <a:endParaRPr/>
          </a:p>
        </p:txBody>
      </p:sp>
      <p:sp>
        <p:nvSpPr>
          <p:cNvPr id="8" name="Footer Placeholder 7">
            <a:extLst>
              <a:ext uri="{FF2B5EF4-FFF2-40B4-BE49-F238E27FC236}">
                <a16:creationId xmlns:a16="http://schemas.microsoft.com/office/drawing/2014/main" id="{099064B0-BBC0-4762-A0C7-CFB35B3E0F4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215CA60-B417-4C38-9CEF-45D71C32AA11}"/>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578BC-66CB-4605-8371-D7CE3C09688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FA87690-DE1A-4C8D-BDDE-AD99E99A5CE1}"/>
              </a:ext>
            </a:extLst>
          </p:cNvPr>
          <p:cNvSpPr>
            <a:spLocks noGrp="1"/>
          </p:cNvSpPr>
          <p:nvPr>
            <p:ph type="dt" idx="10"/>
          </p:nvPr>
        </p:nvSpPr>
        <p:spPr/>
        <p:txBody>
          <a:bodyPr/>
          <a:lstStyle/>
          <a:p>
            <a:fld id="{5BCAD085-E8A6-8845-BD4E-CB4CCA059FC4}" type="datetimeFigureOut">
              <a:t>28/09/2026</a:t>
            </a:fld>
            <a:endParaRPr/>
          </a:p>
        </p:txBody>
      </p:sp>
      <p:sp>
        <p:nvSpPr>
          <p:cNvPr id="4" name="Footer Placeholder 3">
            <a:extLst>
              <a:ext uri="{FF2B5EF4-FFF2-40B4-BE49-F238E27FC236}">
                <a16:creationId xmlns:a16="http://schemas.microsoft.com/office/drawing/2014/main" id="{3F680584-8E32-4755-A818-91F7B782EE2E}"/>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779BFB0-617E-429E-B7B9-7C6BB54E173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E7E42A-7458-42ED-A3B7-AD723AA2CC4A}"/>
              </a:ext>
            </a:extLst>
          </p:cNvPr>
          <p:cNvSpPr>
            <a:spLocks noGrp="1"/>
          </p:cNvSpPr>
          <p:nvPr>
            <p:ph type="dt" idx="10"/>
          </p:nvPr>
        </p:nvSpPr>
        <p:spPr/>
        <p:txBody>
          <a:bodyPr/>
          <a:lstStyle/>
          <a:p>
            <a:fld id="{5BCAD085-E8A6-8845-BD4E-CB4CCA059FC4}" type="datetimeFigureOut">
              <a:t>28/09/2026</a:t>
            </a:fld>
            <a:endParaRPr/>
          </a:p>
        </p:txBody>
      </p:sp>
      <p:sp>
        <p:nvSpPr>
          <p:cNvPr id="3" name="Footer Placeholder 2">
            <a:extLst>
              <a:ext uri="{FF2B5EF4-FFF2-40B4-BE49-F238E27FC236}">
                <a16:creationId xmlns:a16="http://schemas.microsoft.com/office/drawing/2014/main" id="{8761F3E5-4678-4403-B401-D64A135C4E7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C9EF1D2-B6B8-45DA-B76E-8FA56FDEE907}"/>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6176-68E0-4FA0-9BDC-287A293ED3D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F26C89E-D46D-4222-8E58-66D988513029}"/>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541E7EA-2690-4907-A27C-945DDB4C41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BB577236-C748-4945-88C1-A0D7A3F00BBD}"/>
              </a:ext>
            </a:extLst>
          </p:cNvPr>
          <p:cNvSpPr>
            <a:spLocks noGrp="1"/>
          </p:cNvSpPr>
          <p:nvPr>
            <p:ph type="dt" idx="10"/>
          </p:nvPr>
        </p:nvSpPr>
        <p:spPr/>
        <p:txBody>
          <a:bodyPr/>
          <a:lstStyle/>
          <a:p>
            <a:fld id="{5BCAD085-E8A6-8845-BD4E-CB4CCA059FC4}" type="datetimeFigureOut">
              <a:t>28/09/2026</a:t>
            </a:fld>
            <a:endParaRPr/>
          </a:p>
        </p:txBody>
      </p:sp>
      <p:sp>
        <p:nvSpPr>
          <p:cNvPr id="6" name="Footer Placeholder 5">
            <a:extLst>
              <a:ext uri="{FF2B5EF4-FFF2-40B4-BE49-F238E27FC236}">
                <a16:creationId xmlns:a16="http://schemas.microsoft.com/office/drawing/2014/main" id="{C6010D2C-380A-4777-B04C-010EC9C3366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FEF9276-37EF-4AB6-9801-C549160E02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C540-6228-445D-86C0-D79BF7AA0DC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312FC71-A96C-44BB-A277-8A81822FE9A2}"/>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40EBC7F-89EB-4D1A-965E-6EB9F82A492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EF697E-1F7D-42F8-9E1A-0EC7F1A3B3FC}"/>
              </a:ext>
            </a:extLst>
          </p:cNvPr>
          <p:cNvSpPr>
            <a:spLocks noGrp="1"/>
          </p:cNvSpPr>
          <p:nvPr>
            <p:ph type="dt" idx="10"/>
          </p:nvPr>
        </p:nvSpPr>
        <p:spPr/>
        <p:txBody>
          <a:bodyPr/>
          <a:lstStyle/>
          <a:p>
            <a:fld id="{5BCAD085-E8A6-8845-BD4E-CB4CCA059FC4}" type="datetimeFigureOut">
              <a:t>28/09/2026</a:t>
            </a:fld>
            <a:endParaRPr/>
          </a:p>
        </p:txBody>
      </p:sp>
      <p:sp>
        <p:nvSpPr>
          <p:cNvPr id="6" name="Footer Placeholder 5">
            <a:extLst>
              <a:ext uri="{FF2B5EF4-FFF2-40B4-BE49-F238E27FC236}">
                <a16:creationId xmlns:a16="http://schemas.microsoft.com/office/drawing/2014/main" id="{FF0F8D75-D6BB-4D73-9D65-D17EA5BB52A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B7FB32C-3732-44E4-9220-E015D01AB6A0}"/>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8B4B-CC31-495B-A04F-A6C392A2380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A7DADADB-A65B-4E39-8B9D-8CAE0D78A24F}"/>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DE9904A-A67A-4F38-BF91-4D30D967DCF4}"/>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FB20E72A-1994-4537-86B6-465DABE14D5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34082B7-07AA-4036-9DDD-DC72434839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0B8711-C9F4-413D-8B29-0029BDA2BE2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50DE2CF-B073-4D05-9BF4-0AFDD831769B}"/>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A55F7D-C61A-43EC-BDE6-728D1D648991}"/>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B307FD32-5EAC-4BCB-9FF0-E6F3F490218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1DE324-D168-4B61-BF7A-4C9215F4B2B5}"/>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A03E93-00E9-4A6B-A0E2-6EFE99D38ED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B55EB488-BBB0-4243-BBDE-AA230682474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A46BD0A-CC69-499C-8F43-F4C52E467D2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50272A18-0833-4409-B631-EFC143341D1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7B78FB27-D5F1-4963-AD32-CC01B1D84F5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AD3ADBD0-72C3-4D60-A6FB-9276160845E1}"/>
              </a:ext>
            </a:extLst>
          </p:cNvPr>
          <p:cNvSpPr>
            <a:spLocks noGrp="1"/>
          </p:cNvSpPr>
          <p:nvPr/>
        </p:nvSpPr>
        <p:spPr>
          <a:xfrm>
            <a:off x="6830569" y="0"/>
            <a:ext cx="5361431" cy="6858000"/>
          </a:xfrm>
          <a:custGeom>
            <a:avLst/>
            <a:gdLst/>
            <a:ahLst/>
            <a:cxnLst/>
            <a:rect l="l" t="t" r="r" b="b"/>
            <a:pathLst>
              <a:path w="5361431" h="6858000">
                <a:moveTo>
                  <a:pt x="2496312" y="0"/>
                </a:moveTo>
                <a:lnTo>
                  <a:pt x="5361431" y="0"/>
                </a:lnTo>
                <a:lnTo>
                  <a:pt x="5361431" y="6858000"/>
                </a:lnTo>
                <a:lnTo>
                  <a:pt x="0" y="6858000"/>
                </a:lnTo>
                <a:close/>
              </a:path>
            </a:pathLst>
          </a:cu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Picture 2"/>
          <p:cNvPicPr>
            <a:picLocks noChangeAspect="1"/>
          </p:cNvPicPr>
          <p:nvPr/>
        </p:nvPicPr>
        <p:blipFill>
          <a:blip r:embed="rId3"/>
          <a:stretch>
            <a:fillRect/>
          </a:stretch>
        </p:blipFill>
        <p:spPr>
          <a:xfrm>
            <a:off x="7787251" y="4572000"/>
            <a:ext cx="4370832" cy="1170432"/>
          </a:xfrm>
          <a:prstGeom prst="rect">
            <a:avLst/>
          </a:prstGeom>
        </p:spPr>
      </p:pic>
      <p:sp>
        <p:nvSpPr>
          <p:cNvPr id="4" name="TextBox 3">
            <a:extLst>
              <a:ext uri="{FF2B5EF4-FFF2-40B4-BE49-F238E27FC236}">
                <a16:creationId xmlns:a16="http://schemas.microsoft.com/office/drawing/2014/main" id="{5F6D6B5F-566D-4D15-A4E4-289A74BD800B}"/>
              </a:ext>
            </a:extLst>
          </p:cNvPr>
          <p:cNvSpPr>
            <a:spLocks noGrp="1"/>
          </p:cNvSpPr>
          <p:nvPr/>
        </p:nvSpPr>
        <p:spPr>
          <a:xfrm>
            <a:off x="1245455" y="1092127"/>
            <a:ext cx="6234784"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Evaluating the Robustness of AI-Based</a:t>
            </a:r>
          </a:p>
        </p:txBody>
      </p:sp>
      <p:sp>
        <p:nvSpPr>
          <p:cNvPr id="5" name="TextBox 4">
            <a:extLst>
              <a:ext uri="{FF2B5EF4-FFF2-40B4-BE49-F238E27FC236}">
                <a16:creationId xmlns:a16="http://schemas.microsoft.com/office/drawing/2014/main" id="{4C68C7AD-E9E1-4269-A322-11CC58D220E5}"/>
              </a:ext>
            </a:extLst>
          </p:cNvPr>
          <p:cNvSpPr>
            <a:spLocks noGrp="1"/>
          </p:cNvSpPr>
          <p:nvPr/>
        </p:nvSpPr>
        <p:spPr>
          <a:xfrm>
            <a:off x="1369406" y="1574169"/>
            <a:ext cx="5987582"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Forensic Tools under Adversarial and</a:t>
            </a:r>
          </a:p>
        </p:txBody>
      </p:sp>
      <p:sp>
        <p:nvSpPr>
          <p:cNvPr id="6" name="TextBox 5">
            <a:extLst>
              <a:ext uri="{FF2B5EF4-FFF2-40B4-BE49-F238E27FC236}">
                <a16:creationId xmlns:a16="http://schemas.microsoft.com/office/drawing/2014/main" id="{AE37D7BF-E7C8-4B80-AA3E-D277CB4D3227}"/>
              </a:ext>
            </a:extLst>
          </p:cNvPr>
          <p:cNvSpPr>
            <a:spLocks noGrp="1"/>
          </p:cNvSpPr>
          <p:nvPr/>
        </p:nvSpPr>
        <p:spPr>
          <a:xfrm>
            <a:off x="2616367" y="2056238"/>
            <a:ext cx="3492427"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Anti-Forensic Attacks</a:t>
            </a:r>
          </a:p>
        </p:txBody>
      </p:sp>
      <p:sp>
        <p:nvSpPr>
          <p:cNvPr id="7" name="TextBox 6">
            <a:extLst>
              <a:ext uri="{FF2B5EF4-FFF2-40B4-BE49-F238E27FC236}">
                <a16:creationId xmlns:a16="http://schemas.microsoft.com/office/drawing/2014/main" id="{714EF284-A801-4261-926C-2EEAFEA761DF}"/>
              </a:ext>
            </a:extLst>
          </p:cNvPr>
          <p:cNvSpPr>
            <a:spLocks noGrp="1"/>
          </p:cNvSpPr>
          <p:nvPr/>
        </p:nvSpPr>
        <p:spPr>
          <a:xfrm>
            <a:off x="1143000" y="2816638"/>
            <a:ext cx="64389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Master’s Degree in Computer Engineering</a:t>
            </a:r>
          </a:p>
        </p:txBody>
      </p:sp>
      <p:sp>
        <p:nvSpPr>
          <p:cNvPr id="8" name="TextBox 7">
            <a:extLst>
              <a:ext uri="{FF2B5EF4-FFF2-40B4-BE49-F238E27FC236}">
                <a16:creationId xmlns:a16="http://schemas.microsoft.com/office/drawing/2014/main" id="{B60AA5D2-5B61-455B-BBE9-086C543935C9}"/>
              </a:ext>
            </a:extLst>
          </p:cNvPr>
          <p:cNvSpPr>
            <a:spLocks noGrp="1"/>
          </p:cNvSpPr>
          <p:nvPr/>
        </p:nvSpPr>
        <p:spPr>
          <a:xfrm>
            <a:off x="1428750" y="3111246"/>
            <a:ext cx="58674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Cybersecurity and Artificial Intelligence</a:t>
            </a:r>
          </a:p>
        </p:txBody>
      </p:sp>
      <p:sp>
        <p:nvSpPr>
          <p:cNvPr id="9" name="TextBox 8">
            <a:extLst>
              <a:ext uri="{FF2B5EF4-FFF2-40B4-BE49-F238E27FC236}">
                <a16:creationId xmlns:a16="http://schemas.microsoft.com/office/drawing/2014/main" id="{8CC206C0-8612-4C95-88BD-073E5D709139}"/>
              </a:ext>
            </a:extLst>
          </p:cNvPr>
          <p:cNvSpPr>
            <a:spLocks noGrp="1"/>
          </p:cNvSpPr>
          <p:nvPr/>
        </p:nvSpPr>
        <p:spPr>
          <a:xfrm>
            <a:off x="761986" y="3996866"/>
            <a:ext cx="80397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Advisor</a:t>
            </a:r>
          </a:p>
        </p:txBody>
      </p:sp>
      <p:sp>
        <p:nvSpPr>
          <p:cNvPr id="10" name="TextBox 9">
            <a:extLst>
              <a:ext uri="{FF2B5EF4-FFF2-40B4-BE49-F238E27FC236}">
                <a16:creationId xmlns:a16="http://schemas.microsoft.com/office/drawing/2014/main" id="{8597C9F5-C83C-46EA-B5F8-9BA5795DFE33}"/>
              </a:ext>
            </a:extLst>
          </p:cNvPr>
          <p:cNvSpPr>
            <a:spLocks noGrp="1"/>
          </p:cNvSpPr>
          <p:nvPr/>
        </p:nvSpPr>
        <p:spPr>
          <a:xfrm>
            <a:off x="761986" y="4224775"/>
            <a:ext cx="194035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Prof. Davide Maiorca</a:t>
            </a:r>
          </a:p>
        </p:txBody>
      </p:sp>
      <p:sp>
        <p:nvSpPr>
          <p:cNvPr id="11" name="TextBox 10">
            <a:extLst>
              <a:ext uri="{FF2B5EF4-FFF2-40B4-BE49-F238E27FC236}">
                <a16:creationId xmlns:a16="http://schemas.microsoft.com/office/drawing/2014/main" id="{31C97160-9434-4274-86A4-31180B678549}"/>
              </a:ext>
            </a:extLst>
          </p:cNvPr>
          <p:cNvSpPr>
            <a:spLocks noGrp="1"/>
          </p:cNvSpPr>
          <p:nvPr/>
        </p:nvSpPr>
        <p:spPr>
          <a:xfrm>
            <a:off x="761986" y="4627618"/>
            <a:ext cx="1091282"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Co-Advisor</a:t>
            </a:r>
          </a:p>
        </p:txBody>
      </p:sp>
      <p:sp>
        <p:nvSpPr>
          <p:cNvPr id="12" name="TextBox 11">
            <a:extLst>
              <a:ext uri="{FF2B5EF4-FFF2-40B4-BE49-F238E27FC236}">
                <a16:creationId xmlns:a16="http://schemas.microsoft.com/office/drawing/2014/main" id="{5B16A2C5-AD4B-43D8-80B7-E209C671B2FA}"/>
              </a:ext>
            </a:extLst>
          </p:cNvPr>
          <p:cNvSpPr>
            <a:spLocks noGrp="1"/>
          </p:cNvSpPr>
          <p:nvPr/>
        </p:nvSpPr>
        <p:spPr>
          <a:xfrm>
            <a:off x="761986" y="4855554"/>
            <a:ext cx="220452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Silvia Lucia Sanna, Ph.D.</a:t>
            </a:r>
          </a:p>
        </p:txBody>
      </p:sp>
      <p:sp>
        <p:nvSpPr>
          <p:cNvPr id="13" name="TextBox 12">
            <a:extLst>
              <a:ext uri="{FF2B5EF4-FFF2-40B4-BE49-F238E27FC236}">
                <a16:creationId xmlns:a16="http://schemas.microsoft.com/office/drawing/2014/main" id="{2A1750C7-FF88-40A1-81A0-843EF4A32EDF}"/>
              </a:ext>
            </a:extLst>
          </p:cNvPr>
          <p:cNvSpPr>
            <a:spLocks noGrp="1"/>
          </p:cNvSpPr>
          <p:nvPr/>
        </p:nvSpPr>
        <p:spPr>
          <a:xfrm>
            <a:off x="6201901" y="3971544"/>
            <a:ext cx="102829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Candidate</a:t>
            </a:r>
          </a:p>
        </p:txBody>
      </p:sp>
      <p:sp>
        <p:nvSpPr>
          <p:cNvPr id="14" name="TextBox 13">
            <a:extLst>
              <a:ext uri="{FF2B5EF4-FFF2-40B4-BE49-F238E27FC236}">
                <a16:creationId xmlns:a16="http://schemas.microsoft.com/office/drawing/2014/main" id="{5F83D23B-74B9-4F5E-8934-E6D373922EF3}"/>
              </a:ext>
            </a:extLst>
          </p:cNvPr>
          <p:cNvSpPr>
            <a:spLocks noGrp="1"/>
          </p:cNvSpPr>
          <p:nvPr/>
        </p:nvSpPr>
        <p:spPr>
          <a:xfrm>
            <a:off x="5798944" y="4229963"/>
            <a:ext cx="1431297"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Lello Molinario</a:t>
            </a:r>
          </a:p>
        </p:txBody>
      </p:sp>
      <p:sp>
        <p:nvSpPr>
          <p:cNvPr id="15" name="TextBox 14">
            <a:extLst>
              <a:ext uri="{FF2B5EF4-FFF2-40B4-BE49-F238E27FC236}">
                <a16:creationId xmlns:a16="http://schemas.microsoft.com/office/drawing/2014/main" id="{459D83A5-BA59-4DBD-A175-A13844B7B58E}"/>
              </a:ext>
            </a:extLst>
          </p:cNvPr>
          <p:cNvSpPr>
            <a:spLocks noGrp="1"/>
          </p:cNvSpPr>
          <p:nvPr/>
        </p:nvSpPr>
        <p:spPr>
          <a:xfrm>
            <a:off x="4833354" y="4685635"/>
            <a:ext cx="2347428"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Student ID: 70/90/00369</a:t>
            </a:r>
          </a:p>
        </p:txBody>
      </p:sp>
      <p:sp>
        <p:nvSpPr>
          <p:cNvPr id="16" name="TextBox 15">
            <a:extLst>
              <a:ext uri="{FF2B5EF4-FFF2-40B4-BE49-F238E27FC236}">
                <a16:creationId xmlns:a16="http://schemas.microsoft.com/office/drawing/2014/main" id="{98B901F8-0F1F-4C36-A37E-DBF9254044E0}"/>
              </a:ext>
            </a:extLst>
          </p:cNvPr>
          <p:cNvSpPr>
            <a:spLocks noGrp="1"/>
          </p:cNvSpPr>
          <p:nvPr/>
        </p:nvSpPr>
        <p:spPr>
          <a:xfrm>
            <a:off x="2372525" y="5618318"/>
            <a:ext cx="3246783" cy="425219"/>
          </a:xfrm>
          <a:prstGeom prst="rect">
            <a:avLst/>
          </a:prstGeom>
          <a:noFill/>
        </p:spPr>
        <p:txBody>
          <a:bodyPr wrap="none" lIns="0" tIns="0" rIns="0" bIns="0" anchor="t">
            <a:noAutofit/>
          </a:bodyPr>
          <a:lstStyle/>
          <a:p>
            <a:pPr algn="l">
              <a:lnSpc>
                <a:spcPct val="100000"/>
              </a:lnSpc>
              <a:spcBef>
                <a:spcPts val="0"/>
              </a:spcBef>
              <a:spcAft>
                <a:spcPts val="0"/>
              </a:spcAft>
              <a:buNone/>
            </a:pPr>
            <a:r>
              <a:rPr sz="2309" b="0" i="0">
                <a:solidFill>
                  <a:srgbClr val="000000"/>
                </a:solidFill>
                <a:latin typeface="Carlito"/>
                <a:ea typeface="Carlito"/>
                <a:cs typeface="Carlito"/>
              </a:rPr>
              <a:t>Academic Year 2025/2026</a:t>
            </a:r>
          </a:p>
        </p:txBody>
      </p:sp>
    </p:spTree>
    <p:extLst>
      <p:ext uri="{BB962C8B-B14F-4D97-AF65-F5344CB8AC3E}">
        <p14:creationId xmlns:p14="http://schemas.microsoft.com/office/powerpoint/2010/main" val="374676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B8A7D5BD-3F8A-4BB6-975D-5266EF1DB7CC}"/>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588B664-C98E-41C9-A1E0-71858EDC400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a:ext uri="{FF2B5EF4-FFF2-40B4-BE49-F238E27FC236}">
                <a16:creationId xmlns:a16="http://schemas.microsoft.com/office/drawing/2014/main" id="{8C61DB06-AF65-4B2C-AA7F-B35A9C8C91A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965599AD-B896-4974-A1A2-CBC1B2481DA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E12A901-ED39-4DD2-822A-E7619785E99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02</a:t>
            </a:r>
          </a:p>
        </p:txBody>
      </p:sp>
      <p:sp>
        <p:nvSpPr>
          <p:cNvPr id="6" name="Rettangolo con angoli arrotondati 5">
            <a:extLst>
              <a:ext uri="{FF2B5EF4-FFF2-40B4-BE49-F238E27FC236}">
                <a16:creationId xmlns:a16="http://schemas.microsoft.com/office/drawing/2014/main" id="{295FDD48-F0EC-46C5-B827-2A805C95A516}"/>
              </a:ext>
            </a:extLst>
          </p:cNvPr>
          <p:cNvSpPr>
            <a:spLocks noGrp="1"/>
          </p:cNvSpPr>
          <p:nvPr/>
        </p:nvSpPr>
        <p:spPr>
          <a:xfrm>
            <a:off x="685800" y="1524000"/>
            <a:ext cx="3048000" cy="1200150"/>
          </a:xfrm>
          <a:prstGeom prst="roundRect">
            <a:avLst>
              <a:gd name="adj" fmla="val 14286"/>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134106DB-7DBE-4BE2-AF47-E9B1070376D7}"/>
              </a:ext>
            </a:extLst>
          </p:cNvPr>
          <p:cNvSpPr>
            <a:spLocks noGrp="1"/>
          </p:cNvSpPr>
          <p:nvPr/>
        </p:nvSpPr>
        <p:spPr>
          <a:xfrm>
            <a:off x="8763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a:ext uri="{FF2B5EF4-FFF2-40B4-BE49-F238E27FC236}">
                <a16:creationId xmlns:a16="http://schemas.microsoft.com/office/drawing/2014/main" id="{6866549D-9D17-463F-9BE9-DC9437B3FE8D}"/>
              </a:ext>
            </a:extLst>
          </p:cNvPr>
          <p:cNvSpPr>
            <a:spLocks noGrp="1"/>
          </p:cNvSpPr>
          <p:nvPr/>
        </p:nvSpPr>
        <p:spPr>
          <a:xfrm>
            <a:off x="8763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a:ext uri="{FF2B5EF4-FFF2-40B4-BE49-F238E27FC236}">
                <a16:creationId xmlns:a16="http://schemas.microsoft.com/office/drawing/2014/main" id="{1B4F03EB-5A2C-471C-ABF0-97B8F80F2258}"/>
              </a:ext>
            </a:extLst>
          </p:cNvPr>
          <p:cNvSpPr>
            <a:spLocks noGrp="1"/>
          </p:cNvSpPr>
          <p:nvPr/>
        </p:nvSpPr>
        <p:spPr>
          <a:xfrm>
            <a:off x="4343400" y="1524000"/>
            <a:ext cx="3048000" cy="1200150"/>
          </a:xfrm>
          <a:prstGeom prst="roundRect">
            <a:avLst>
              <a:gd name="adj" fmla="val 14286"/>
            </a:avLst>
          </a:prstGeom>
          <a:solidFill>
            <a:srgbClr val="E9EEF8"/>
          </a:solidFill>
          <a:ln w="9525">
            <a:solidFill>
              <a:srgbClr val="E9EEF8"/>
            </a:solidFill>
            <a:prstDash val="solid"/>
          </a:ln>
        </p:spPr>
        <p:txBody>
          <a:bodyPr/>
          <a:lstStyle/>
          <a:p>
            <a:endParaRPr/>
          </a:p>
        </p:txBody>
      </p:sp>
      <p:sp>
        <p:nvSpPr>
          <p:cNvPr id="10" name="Rettangolo 9">
            <a:extLst>
              <a:ext uri="{FF2B5EF4-FFF2-40B4-BE49-F238E27FC236}">
                <a16:creationId xmlns:a16="http://schemas.microsoft.com/office/drawing/2014/main" id="{AFC8020C-45AE-4038-A8C9-738588A763B5}"/>
              </a:ext>
            </a:extLst>
          </p:cNvPr>
          <p:cNvSpPr>
            <a:spLocks noGrp="1"/>
          </p:cNvSpPr>
          <p:nvPr/>
        </p:nvSpPr>
        <p:spPr>
          <a:xfrm>
            <a:off x="45339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a:ext uri="{FF2B5EF4-FFF2-40B4-BE49-F238E27FC236}">
                <a16:creationId xmlns:a16="http://schemas.microsoft.com/office/drawing/2014/main" id="{C33FDAE1-0BA9-4918-83D0-329C1792220C}"/>
              </a:ext>
            </a:extLst>
          </p:cNvPr>
          <p:cNvSpPr>
            <a:spLocks noGrp="1"/>
          </p:cNvSpPr>
          <p:nvPr/>
        </p:nvSpPr>
        <p:spPr>
          <a:xfrm>
            <a:off x="45339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a:ext uri="{FF2B5EF4-FFF2-40B4-BE49-F238E27FC236}">
                <a16:creationId xmlns:a16="http://schemas.microsoft.com/office/drawing/2014/main" id="{4C845868-F781-47A9-940E-F0CDBB7371DC}"/>
              </a:ext>
            </a:extLst>
          </p:cNvPr>
          <p:cNvSpPr>
            <a:spLocks noGrp="1"/>
          </p:cNvSpPr>
          <p:nvPr/>
        </p:nvSpPr>
        <p:spPr>
          <a:xfrm>
            <a:off x="8001000" y="1524000"/>
            <a:ext cx="3048000" cy="1200150"/>
          </a:xfrm>
          <a:prstGeom prst="roundRect">
            <a:avLst>
              <a:gd name="adj" fmla="val 14286"/>
            </a:avLst>
          </a:prstGeom>
          <a:solidFill>
            <a:srgbClr val="FBEAEA"/>
          </a:solidFill>
          <a:ln w="9525">
            <a:solidFill>
              <a:srgbClr val="FBEAEA"/>
            </a:solidFill>
            <a:prstDash val="solid"/>
          </a:ln>
        </p:spPr>
        <p:txBody>
          <a:bodyPr/>
          <a:lstStyle/>
          <a:p>
            <a:endParaRPr/>
          </a:p>
        </p:txBody>
      </p:sp>
      <p:sp>
        <p:nvSpPr>
          <p:cNvPr id="13" name="Rettangolo 12">
            <a:extLst>
              <a:ext uri="{FF2B5EF4-FFF2-40B4-BE49-F238E27FC236}">
                <a16:creationId xmlns:a16="http://schemas.microsoft.com/office/drawing/2014/main" id="{E1D87471-E992-400B-8BA5-98A79A7C8C69}"/>
              </a:ext>
            </a:extLst>
          </p:cNvPr>
          <p:cNvSpPr>
            <a:spLocks noGrp="1"/>
          </p:cNvSpPr>
          <p:nvPr/>
        </p:nvSpPr>
        <p:spPr>
          <a:xfrm>
            <a:off x="81915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a:ext uri="{FF2B5EF4-FFF2-40B4-BE49-F238E27FC236}">
                <a16:creationId xmlns:a16="http://schemas.microsoft.com/office/drawing/2014/main" id="{B0C05342-6D6D-4097-A670-5979C502D4B5}"/>
              </a:ext>
            </a:extLst>
          </p:cNvPr>
          <p:cNvSpPr>
            <a:spLocks noGrp="1"/>
          </p:cNvSpPr>
          <p:nvPr/>
        </p:nvSpPr>
        <p:spPr>
          <a:xfrm>
            <a:off x="81915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a:ext uri="{FF2B5EF4-FFF2-40B4-BE49-F238E27FC236}">
                <a16:creationId xmlns:a16="http://schemas.microsoft.com/office/drawing/2014/main" id="{BE95789F-29F4-458B-9109-B5F4176210EA}"/>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a:ext uri="{FF2B5EF4-FFF2-40B4-BE49-F238E27FC236}">
                <a16:creationId xmlns:a16="http://schemas.microsoft.com/office/drawing/2014/main" id="{B813C1EC-E4C9-443B-9424-97804AB1F480}"/>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a:ext uri="{FF2B5EF4-FFF2-40B4-BE49-F238E27FC236}">
                <a16:creationId xmlns:a16="http://schemas.microsoft.com/office/drawing/2014/main" id="{4EBFE33E-8979-4761-84B8-587E7AC16DD3}"/>
              </a:ext>
            </a:extLst>
          </p:cNvPr>
          <p:cNvSpPr>
            <a:spLocks noGrp="1"/>
          </p:cNvSpPr>
          <p:nvPr/>
        </p:nvSpPr>
        <p:spPr>
          <a:xfrm>
            <a:off x="1123950" y="3162300"/>
            <a:ext cx="9944100" cy="1352550"/>
          </a:xfrm>
          <a:prstGeom prst="roundRect">
            <a:avLst>
              <a:gd name="adj" fmla="val 12676"/>
            </a:avLst>
          </a:prstGeom>
          <a:solidFill>
            <a:srgbClr val="233A70"/>
          </a:solidFill>
          <a:ln w="0">
            <a:noFill/>
            <a:prstDash val="solid"/>
          </a:ln>
        </p:spPr>
        <p:txBody>
          <a:bodyPr/>
          <a:lstStyle/>
          <a:p>
            <a:endParaRPr/>
          </a:p>
        </p:txBody>
      </p:sp>
      <p:sp>
        <p:nvSpPr>
          <p:cNvPr id="18" name="Rettangolo 17">
            <a:extLst>
              <a:ext uri="{FF2B5EF4-FFF2-40B4-BE49-F238E27FC236}">
                <a16:creationId xmlns:a16="http://schemas.microsoft.com/office/drawing/2014/main" id="{77611C6C-126C-490B-8FFB-2004E5871B70}"/>
              </a:ext>
            </a:extLst>
          </p:cNvPr>
          <p:cNvSpPr>
            <a:spLocks noGrp="1"/>
          </p:cNvSpPr>
          <p:nvPr/>
        </p:nvSpPr>
        <p:spPr>
          <a:xfrm>
            <a:off x="1504950" y="3429000"/>
            <a:ext cx="9182100" cy="800100"/>
          </a:xfrm>
          <a:prstGeom prst="rect">
            <a:avLst/>
          </a:prstGeom>
          <a:noFill/>
          <a:ln w="0">
            <a:noFill/>
            <a:prstDash val="solid"/>
          </a:ln>
        </p:spPr>
        <p:txBody>
          <a:bodyPr wrap="square" lIns="0" tIns="0" rIns="0" bIns="0" anchor="ctr">
            <a:noAutofit/>
          </a:bodyPr>
          <a:lstStyle/>
          <a:p>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a:ext uri="{FF2B5EF4-FFF2-40B4-BE49-F238E27FC236}">
                <a16:creationId xmlns:a16="http://schemas.microsoft.com/office/drawing/2014/main" id="{DDA7D3C5-CB47-4C4D-BA38-0571EC45CEF8}"/>
              </a:ext>
            </a:extLst>
          </p:cNvPr>
          <p:cNvSpPr>
            <a:spLocks noGrp="1"/>
          </p:cNvSpPr>
          <p:nvPr/>
        </p:nvSpPr>
        <p:spPr>
          <a:xfrm>
            <a:off x="876300" y="4857750"/>
            <a:ext cx="9982200" cy="476250"/>
          </a:xfrm>
          <a:prstGeom prst="rect">
            <a:avLst/>
          </a:prstGeom>
          <a:noFill/>
          <a:ln w="0">
            <a:noFill/>
            <a:prstDash val="solid"/>
          </a:ln>
        </p:spPr>
        <p:txBody>
          <a:bodyPr wrap="square" lIns="0" tIns="0" rIns="0" bIns="0" anchor="ctr">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a:ext uri="{FF2B5EF4-FFF2-40B4-BE49-F238E27FC236}">
                <a16:creationId xmlns:a16="http://schemas.microsoft.com/office/drawing/2014/main" id="{59855B48-B64C-42AD-8C97-0C65B6AAAAF3}"/>
              </a:ext>
            </a:extLst>
          </p:cNvPr>
          <p:cNvSpPr>
            <a:spLocks noGrp="1"/>
          </p:cNvSpPr>
          <p:nvPr/>
        </p:nvSpPr>
        <p:spPr>
          <a:xfrm>
            <a:off x="2000250" y="5600700"/>
            <a:ext cx="8191500" cy="514350"/>
          </a:xfrm>
          <a:prstGeom prst="roundRect">
            <a:avLst>
              <a:gd name="adj" fmla="val 25926"/>
            </a:avLst>
          </a:prstGeom>
          <a:solidFill>
            <a:srgbClr val="E7F8F0"/>
          </a:solidFill>
          <a:ln w="0">
            <a:noFill/>
            <a:prstDash val="solid"/>
          </a:ln>
        </p:spPr>
        <p:txBody>
          <a:bodyPr/>
          <a:lstStyle/>
          <a:p>
            <a:endParaRPr/>
          </a:p>
        </p:txBody>
      </p:sp>
      <p:sp>
        <p:nvSpPr>
          <p:cNvPr id="21" name="Rettangolo 20">
            <a:extLst>
              <a:ext uri="{FF2B5EF4-FFF2-40B4-BE49-F238E27FC236}">
                <a16:creationId xmlns:a16="http://schemas.microsoft.com/office/drawing/2014/main" id="{C5A6713C-2452-4272-91E6-86D11A7F5573}"/>
              </a:ext>
            </a:extLst>
          </p:cNvPr>
          <p:cNvSpPr>
            <a:spLocks noGrp="1"/>
          </p:cNvSpPr>
          <p:nvPr/>
        </p:nvSpPr>
        <p:spPr>
          <a:xfrm>
            <a:off x="2266950" y="5743575"/>
            <a:ext cx="7658100" cy="2476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710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2" name="Rettangolo 31">
            <a:extLst>
              <a:ext uri="{FF2B5EF4-FFF2-40B4-BE49-F238E27FC236}">
                <a16:creationId xmlns:a16="http://schemas.microsoft.com/office/drawing/2014/main" id="{6C0B1A53-D25B-4A63-AC3D-8F73AF1B454A}"/>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BB695DD-AE95-440C-B8F5-952448E18C0F}"/>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a:ext uri="{FF2B5EF4-FFF2-40B4-BE49-F238E27FC236}">
                <a16:creationId xmlns:a16="http://schemas.microsoft.com/office/drawing/2014/main" id="{043FF31C-DB46-4E33-817A-CBBE738643F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D319FC2A-5C48-4679-98E3-D8A119AEE97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B214099-1E39-4983-88F2-9CF7A1ED250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03</a:t>
            </a:r>
          </a:p>
        </p:txBody>
      </p:sp>
      <p:sp>
        <p:nvSpPr>
          <p:cNvPr id="6" name="Rettangolo con angoli arrotondati 5">
            <a:extLst>
              <a:ext uri="{FF2B5EF4-FFF2-40B4-BE49-F238E27FC236}">
                <a16:creationId xmlns:a16="http://schemas.microsoft.com/office/drawing/2014/main" id="{F91845BA-A49A-4FC8-8C94-20F23A40393D}"/>
              </a:ext>
            </a:extLst>
          </p:cNvPr>
          <p:cNvSpPr>
            <a:spLocks noGrp="1"/>
          </p:cNvSpPr>
          <p:nvPr/>
        </p:nvSpPr>
        <p:spPr>
          <a:xfrm>
            <a:off x="685800" y="152400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4B2F791D-898D-4C09-88CD-BCF8DAF22C9B}"/>
              </a:ext>
            </a:extLst>
          </p:cNvPr>
          <p:cNvSpPr>
            <a:spLocks noGrp="1"/>
          </p:cNvSpPr>
          <p:nvPr/>
        </p:nvSpPr>
        <p:spPr>
          <a:xfrm>
            <a:off x="8763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a:ext uri="{FF2B5EF4-FFF2-40B4-BE49-F238E27FC236}">
                <a16:creationId xmlns:a16="http://schemas.microsoft.com/office/drawing/2014/main" id="{DD23DB3C-604D-4EEA-A4FA-3C66E44C8E4F}"/>
              </a:ext>
            </a:extLst>
          </p:cNvPr>
          <p:cNvSpPr>
            <a:spLocks noGrp="1"/>
          </p:cNvSpPr>
          <p:nvPr/>
        </p:nvSpPr>
        <p:spPr>
          <a:xfrm>
            <a:off x="8763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a:ext uri="{FF2B5EF4-FFF2-40B4-BE49-F238E27FC236}">
                <a16:creationId xmlns:a16="http://schemas.microsoft.com/office/drawing/2014/main" id="{99A661A2-1646-46C8-B23D-CEAE1DEB18C1}"/>
              </a:ext>
            </a:extLst>
          </p:cNvPr>
          <p:cNvSpPr>
            <a:spLocks noGrp="1"/>
          </p:cNvSpPr>
          <p:nvPr/>
        </p:nvSpPr>
        <p:spPr>
          <a:xfrm>
            <a:off x="4343400" y="152400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10" name="Rettangolo 9">
            <a:extLst>
              <a:ext uri="{FF2B5EF4-FFF2-40B4-BE49-F238E27FC236}">
                <a16:creationId xmlns:a16="http://schemas.microsoft.com/office/drawing/2014/main" id="{AFED12D9-FF88-4E60-BD67-EFEB869BA78A}"/>
              </a:ext>
            </a:extLst>
          </p:cNvPr>
          <p:cNvSpPr>
            <a:spLocks noGrp="1"/>
          </p:cNvSpPr>
          <p:nvPr/>
        </p:nvSpPr>
        <p:spPr>
          <a:xfrm>
            <a:off x="45339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a:ext uri="{FF2B5EF4-FFF2-40B4-BE49-F238E27FC236}">
                <a16:creationId xmlns:a16="http://schemas.microsoft.com/office/drawing/2014/main" id="{3160162F-71B4-4503-94D0-C14C526A20C3}"/>
              </a:ext>
            </a:extLst>
          </p:cNvPr>
          <p:cNvSpPr>
            <a:spLocks noGrp="1"/>
          </p:cNvSpPr>
          <p:nvPr/>
        </p:nvSpPr>
        <p:spPr>
          <a:xfrm>
            <a:off x="45339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a:ext uri="{FF2B5EF4-FFF2-40B4-BE49-F238E27FC236}">
                <a16:creationId xmlns:a16="http://schemas.microsoft.com/office/drawing/2014/main" id="{4441295A-C9D9-4A2C-BE6D-DA5D40668718}"/>
              </a:ext>
            </a:extLst>
          </p:cNvPr>
          <p:cNvSpPr>
            <a:spLocks noGrp="1"/>
          </p:cNvSpPr>
          <p:nvPr/>
        </p:nvSpPr>
        <p:spPr>
          <a:xfrm>
            <a:off x="8001000" y="1524000"/>
            <a:ext cx="3048000" cy="1200150"/>
          </a:xfrm>
          <a:prstGeom prst="roundRect">
            <a:avLst>
              <a:gd name="adj" fmla="val 1269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338253A6-A215-4512-91B2-D613B8843D99}"/>
              </a:ext>
            </a:extLst>
          </p:cNvPr>
          <p:cNvSpPr>
            <a:spLocks noGrp="1"/>
          </p:cNvSpPr>
          <p:nvPr/>
        </p:nvSpPr>
        <p:spPr>
          <a:xfrm>
            <a:off x="81915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a:ext uri="{FF2B5EF4-FFF2-40B4-BE49-F238E27FC236}">
                <a16:creationId xmlns:a16="http://schemas.microsoft.com/office/drawing/2014/main" id="{2E74B2CF-06EF-494C-B330-0AB6D414FA74}"/>
              </a:ext>
            </a:extLst>
          </p:cNvPr>
          <p:cNvSpPr>
            <a:spLocks noGrp="1"/>
          </p:cNvSpPr>
          <p:nvPr/>
        </p:nvSpPr>
        <p:spPr>
          <a:xfrm>
            <a:off x="81915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a:ext uri="{FF2B5EF4-FFF2-40B4-BE49-F238E27FC236}">
                <a16:creationId xmlns:a16="http://schemas.microsoft.com/office/drawing/2014/main" id="{D680E11F-9529-4EA7-B8B2-3E7934F1DACD}"/>
              </a:ext>
            </a:extLst>
          </p:cNvPr>
          <p:cNvSpPr>
            <a:spLocks noGrp="1"/>
          </p:cNvSpPr>
          <p:nvPr/>
        </p:nvSpPr>
        <p:spPr>
          <a:xfrm>
            <a:off x="8001000" y="3409950"/>
            <a:ext cx="3048000" cy="1200150"/>
          </a:xfrm>
          <a:prstGeom prst="roundRect">
            <a:avLst>
              <a:gd name="adj" fmla="val 12698"/>
            </a:avLst>
          </a:prstGeom>
          <a:solidFill>
            <a:srgbClr val="FFF4CD"/>
          </a:solidFill>
          <a:ln w="9525">
            <a:solidFill>
              <a:srgbClr val="FFF4CD"/>
            </a:solidFill>
            <a:prstDash val="solid"/>
          </a:ln>
        </p:spPr>
        <p:txBody>
          <a:bodyPr/>
          <a:lstStyle/>
          <a:p>
            <a:endParaRPr/>
          </a:p>
        </p:txBody>
      </p:sp>
      <p:sp>
        <p:nvSpPr>
          <p:cNvPr id="16" name="Rettangolo 15">
            <a:extLst>
              <a:ext uri="{FF2B5EF4-FFF2-40B4-BE49-F238E27FC236}">
                <a16:creationId xmlns:a16="http://schemas.microsoft.com/office/drawing/2014/main" id="{2EEF2A37-33E3-4CAF-8CCD-8C45ED364321}"/>
              </a:ext>
            </a:extLst>
          </p:cNvPr>
          <p:cNvSpPr>
            <a:spLocks noGrp="1"/>
          </p:cNvSpPr>
          <p:nvPr/>
        </p:nvSpPr>
        <p:spPr>
          <a:xfrm>
            <a:off x="81915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a:ext uri="{FF2B5EF4-FFF2-40B4-BE49-F238E27FC236}">
                <a16:creationId xmlns:a16="http://schemas.microsoft.com/office/drawing/2014/main" id="{BE58FD48-63A5-43A4-AE2D-68109E9A97B5}"/>
              </a:ext>
            </a:extLst>
          </p:cNvPr>
          <p:cNvSpPr>
            <a:spLocks noGrp="1"/>
          </p:cNvSpPr>
          <p:nvPr/>
        </p:nvSpPr>
        <p:spPr>
          <a:xfrm>
            <a:off x="81915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a:ext uri="{FF2B5EF4-FFF2-40B4-BE49-F238E27FC236}">
                <a16:creationId xmlns:a16="http://schemas.microsoft.com/office/drawing/2014/main" id="{6D80ED9B-D274-464D-8DFA-5D4EB141CE12}"/>
              </a:ext>
            </a:extLst>
          </p:cNvPr>
          <p:cNvSpPr>
            <a:spLocks noGrp="1"/>
          </p:cNvSpPr>
          <p:nvPr/>
        </p:nvSpPr>
        <p:spPr>
          <a:xfrm>
            <a:off x="4343400" y="340995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19" name="Rettangolo 18">
            <a:extLst>
              <a:ext uri="{FF2B5EF4-FFF2-40B4-BE49-F238E27FC236}">
                <a16:creationId xmlns:a16="http://schemas.microsoft.com/office/drawing/2014/main" id="{8C00595D-2E4C-4798-9AFA-918EB03D6CE1}"/>
              </a:ext>
            </a:extLst>
          </p:cNvPr>
          <p:cNvSpPr>
            <a:spLocks noGrp="1"/>
          </p:cNvSpPr>
          <p:nvPr/>
        </p:nvSpPr>
        <p:spPr>
          <a:xfrm>
            <a:off x="45339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a:ext uri="{FF2B5EF4-FFF2-40B4-BE49-F238E27FC236}">
                <a16:creationId xmlns:a16="http://schemas.microsoft.com/office/drawing/2014/main" id="{25CC8402-52F3-415B-8334-9D28329B23A7}"/>
              </a:ext>
            </a:extLst>
          </p:cNvPr>
          <p:cNvSpPr>
            <a:spLocks noGrp="1"/>
          </p:cNvSpPr>
          <p:nvPr/>
        </p:nvSpPr>
        <p:spPr>
          <a:xfrm>
            <a:off x="45339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a:ext uri="{FF2B5EF4-FFF2-40B4-BE49-F238E27FC236}">
                <a16:creationId xmlns:a16="http://schemas.microsoft.com/office/drawing/2014/main" id="{F96800EB-DDFB-441A-ACC4-724820F4F532}"/>
              </a:ext>
            </a:extLst>
          </p:cNvPr>
          <p:cNvSpPr>
            <a:spLocks noGrp="1"/>
          </p:cNvSpPr>
          <p:nvPr/>
        </p:nvSpPr>
        <p:spPr>
          <a:xfrm>
            <a:off x="685800" y="340995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22" name="Rettangolo 21">
            <a:extLst>
              <a:ext uri="{FF2B5EF4-FFF2-40B4-BE49-F238E27FC236}">
                <a16:creationId xmlns:a16="http://schemas.microsoft.com/office/drawing/2014/main" id="{445E9920-1B66-4358-8F69-F6C653EC3630}"/>
              </a:ext>
            </a:extLst>
          </p:cNvPr>
          <p:cNvSpPr>
            <a:spLocks noGrp="1"/>
          </p:cNvSpPr>
          <p:nvPr/>
        </p:nvSpPr>
        <p:spPr>
          <a:xfrm>
            <a:off x="8763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a:ext uri="{FF2B5EF4-FFF2-40B4-BE49-F238E27FC236}">
                <a16:creationId xmlns:a16="http://schemas.microsoft.com/office/drawing/2014/main" id="{80975C52-4A62-447C-ADE4-34216CFBF10A}"/>
              </a:ext>
            </a:extLst>
          </p:cNvPr>
          <p:cNvSpPr>
            <a:spLocks noGrp="1"/>
          </p:cNvSpPr>
          <p:nvPr/>
        </p:nvSpPr>
        <p:spPr>
          <a:xfrm>
            <a:off x="8763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a:ext uri="{FF2B5EF4-FFF2-40B4-BE49-F238E27FC236}">
                <a16:creationId xmlns:a16="http://schemas.microsoft.com/office/drawing/2014/main" id="{38172E1D-A294-4F18-8D9E-59C9800F9A07}"/>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a:ext uri="{FF2B5EF4-FFF2-40B4-BE49-F238E27FC236}">
                <a16:creationId xmlns:a16="http://schemas.microsoft.com/office/drawing/2014/main" id="{B0C79570-604F-4B83-988C-6FFC8922885B}"/>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a:ext uri="{FF2B5EF4-FFF2-40B4-BE49-F238E27FC236}">
                <a16:creationId xmlns:a16="http://schemas.microsoft.com/office/drawing/2014/main" id="{F96F2BBD-EA80-4DB4-86CA-2A3F56F711DE}"/>
              </a:ext>
            </a:extLst>
          </p:cNvPr>
          <p:cNvSpPr>
            <a:spLocks noGrp="1"/>
          </p:cNvSpPr>
          <p:nvPr/>
        </p:nvSpPr>
        <p:spPr>
          <a:xfrm>
            <a:off x="9239250" y="28194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a:ext uri="{FF2B5EF4-FFF2-40B4-BE49-F238E27FC236}">
                <a16:creationId xmlns:a16="http://schemas.microsoft.com/office/drawing/2014/main" id="{44084EFE-410F-44E2-89FE-E361686FEAB1}"/>
              </a:ext>
            </a:extLst>
          </p:cNvPr>
          <p:cNvSpPr>
            <a:spLocks noGrp="1"/>
          </p:cNvSpPr>
          <p:nvPr/>
        </p:nvSpPr>
        <p:spPr>
          <a:xfrm>
            <a:off x="74104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a:ext uri="{FF2B5EF4-FFF2-40B4-BE49-F238E27FC236}">
                <a16:creationId xmlns:a16="http://schemas.microsoft.com/office/drawing/2014/main" id="{28D85B2B-3959-47A8-B720-64C081695514}"/>
              </a:ext>
            </a:extLst>
          </p:cNvPr>
          <p:cNvSpPr>
            <a:spLocks noGrp="1"/>
          </p:cNvSpPr>
          <p:nvPr/>
        </p:nvSpPr>
        <p:spPr>
          <a:xfrm>
            <a:off x="37528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a:ext uri="{FF2B5EF4-FFF2-40B4-BE49-F238E27FC236}">
                <a16:creationId xmlns:a16="http://schemas.microsoft.com/office/drawing/2014/main" id="{2A76AEB6-1FF2-487B-8819-3E7FBEC77FE1}"/>
              </a:ext>
            </a:extLst>
          </p:cNvPr>
          <p:cNvSpPr>
            <a:spLocks noGrp="1"/>
          </p:cNvSpPr>
          <p:nvPr/>
        </p:nvSpPr>
        <p:spPr>
          <a:xfrm>
            <a:off x="1123950" y="5181600"/>
            <a:ext cx="9944100" cy="895350"/>
          </a:xfrm>
          <a:prstGeom prst="roundRect">
            <a:avLst>
              <a:gd name="adj" fmla="val 17021"/>
            </a:avLst>
          </a:prstGeom>
          <a:solidFill>
            <a:srgbClr val="233A70"/>
          </a:solidFill>
          <a:ln w="0">
            <a:noFill/>
            <a:prstDash val="solid"/>
          </a:ln>
        </p:spPr>
        <p:txBody>
          <a:bodyPr/>
          <a:lstStyle/>
          <a:p>
            <a:endParaRPr/>
          </a:p>
        </p:txBody>
      </p:sp>
      <p:sp>
        <p:nvSpPr>
          <p:cNvPr id="30" name="Rettangolo 29">
            <a:extLst>
              <a:ext uri="{FF2B5EF4-FFF2-40B4-BE49-F238E27FC236}">
                <a16:creationId xmlns:a16="http://schemas.microsoft.com/office/drawing/2014/main" id="{E50CBE53-BF18-4A80-A29D-95B884CE3AAD}"/>
              </a:ext>
            </a:extLst>
          </p:cNvPr>
          <p:cNvSpPr>
            <a:spLocks noGrp="1"/>
          </p:cNvSpPr>
          <p:nvPr/>
        </p:nvSpPr>
        <p:spPr>
          <a:xfrm>
            <a:off x="1524000" y="5314950"/>
            <a:ext cx="9144000" cy="2286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a:ext uri="{FF2B5EF4-FFF2-40B4-BE49-F238E27FC236}">
                <a16:creationId xmlns:a16="http://schemas.microsoft.com/office/drawing/2014/main" id="{3A3D9C14-794F-4016-9A53-92CC5AA4F5CE}"/>
              </a:ext>
            </a:extLst>
          </p:cNvPr>
          <p:cNvSpPr>
            <a:spLocks noGrp="1"/>
          </p:cNvSpPr>
          <p:nvPr/>
        </p:nvSpPr>
        <p:spPr>
          <a:xfrm>
            <a:off x="1381125" y="5676900"/>
            <a:ext cx="9429750" cy="228600"/>
          </a:xfrm>
          <a:prstGeom prst="rect">
            <a:avLst/>
          </a:prstGeom>
          <a:noFill/>
          <a:ln w="0">
            <a:noFill/>
            <a:prstDash val="solid"/>
          </a:ln>
        </p:spPr>
        <p:txBody>
          <a:bodyPr wrap="square" lIns="0" tIns="0" rIns="0" bIns="0" anchor="t">
            <a:noAutofit/>
          </a:bodyPr>
          <a:lstStyle/>
          <a:p>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485154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F233B7B-EA32-4CE0-BCAD-4A6722324753}"/>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9E34FA-C1B9-47A3-8BA3-61812BD51E7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a:ext uri="{FF2B5EF4-FFF2-40B4-BE49-F238E27FC236}">
                <a16:creationId xmlns:a16="http://schemas.microsoft.com/office/drawing/2014/main" id="{0D8F709E-76E6-4E38-8E82-5BE12BAB121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C66E610D-CF25-46AB-B840-2131076D741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51A81E0D-402E-4998-85C6-567245A7304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04</a:t>
            </a:r>
          </a:p>
        </p:txBody>
      </p:sp>
      <p:sp>
        <p:nvSpPr>
          <p:cNvPr id="6" name="Rettangolo 5">
            <a:extLst>
              <a:ext uri="{FF2B5EF4-FFF2-40B4-BE49-F238E27FC236}">
                <a16:creationId xmlns:a16="http://schemas.microsoft.com/office/drawing/2014/main" id="{52FE96BF-C5D8-4EBB-ADFA-45DAE60C8A98}"/>
              </a:ext>
            </a:extLst>
          </p:cNvPr>
          <p:cNvSpPr>
            <a:spLocks noGrp="1"/>
          </p:cNvSpPr>
          <p:nvPr/>
        </p:nvSpPr>
        <p:spPr>
          <a:xfrm>
            <a:off x="685800" y="1390650"/>
            <a:ext cx="10820400" cy="533400"/>
          </a:xfrm>
          <a:prstGeom prst="rect">
            <a:avLst/>
          </a:prstGeom>
          <a:noFill/>
          <a:ln w="0">
            <a:noFill/>
            <a:prstDash val="solid"/>
          </a:ln>
        </p:spPr>
        <p:txBody>
          <a:bodyPr wrap="square" lIns="0" tIns="0" rIns="0" bIns="0" anchor="t">
            <a:noAutofit/>
          </a:bodyPr>
          <a:lstStyle/>
          <a:p>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a:ext uri="{FF2B5EF4-FFF2-40B4-BE49-F238E27FC236}">
                <a16:creationId xmlns:a16="http://schemas.microsoft.com/office/drawing/2014/main" id="{A8148055-D97E-4B5A-9B6A-F238DC4DBA1C}"/>
              </a:ext>
            </a:extLst>
          </p:cNvPr>
          <p:cNvSpPr>
            <a:spLocks noGrp="1"/>
          </p:cNvSpPr>
          <p:nvPr/>
        </p:nvSpPr>
        <p:spPr>
          <a:xfrm>
            <a:off x="685800" y="2114550"/>
            <a:ext cx="3048000" cy="1181100"/>
          </a:xfrm>
          <a:prstGeom prst="roundRect">
            <a:avLst>
              <a:gd name="adj" fmla="val 12903"/>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67CF2057-B56B-4EF8-B891-1D8A8FB5D789}"/>
              </a:ext>
            </a:extLst>
          </p:cNvPr>
          <p:cNvSpPr>
            <a:spLocks noGrp="1"/>
          </p:cNvSpPr>
          <p:nvPr/>
        </p:nvSpPr>
        <p:spPr>
          <a:xfrm>
            <a:off x="8763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a:ext uri="{FF2B5EF4-FFF2-40B4-BE49-F238E27FC236}">
                <a16:creationId xmlns:a16="http://schemas.microsoft.com/office/drawing/2014/main" id="{C91F0788-58B8-4BE5-B7B6-9DA31BD87AB9}"/>
              </a:ext>
            </a:extLst>
          </p:cNvPr>
          <p:cNvSpPr>
            <a:spLocks noGrp="1"/>
          </p:cNvSpPr>
          <p:nvPr/>
        </p:nvSpPr>
        <p:spPr>
          <a:xfrm>
            <a:off x="8763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a:ext uri="{FF2B5EF4-FFF2-40B4-BE49-F238E27FC236}">
                <a16:creationId xmlns:a16="http://schemas.microsoft.com/office/drawing/2014/main" id="{DAD1981F-B9B3-4955-8E93-2C4366243B80}"/>
              </a:ext>
            </a:extLst>
          </p:cNvPr>
          <p:cNvSpPr>
            <a:spLocks noGrp="1"/>
          </p:cNvSpPr>
          <p:nvPr/>
        </p:nvSpPr>
        <p:spPr>
          <a:xfrm>
            <a:off x="4343400" y="2114550"/>
            <a:ext cx="3048000" cy="1181100"/>
          </a:xfrm>
          <a:prstGeom prst="roundRect">
            <a:avLst>
              <a:gd name="adj" fmla="val 12903"/>
            </a:avLst>
          </a:prstGeom>
          <a:solidFill>
            <a:srgbClr val="E7F8F0"/>
          </a:solidFill>
          <a:ln w="0">
            <a:noFill/>
            <a:prstDash val="solid"/>
          </a:ln>
        </p:spPr>
        <p:txBody>
          <a:bodyPr/>
          <a:lstStyle/>
          <a:p>
            <a:endParaRPr/>
          </a:p>
        </p:txBody>
      </p:sp>
      <p:sp>
        <p:nvSpPr>
          <p:cNvPr id="11" name="Rettangolo 10">
            <a:extLst>
              <a:ext uri="{FF2B5EF4-FFF2-40B4-BE49-F238E27FC236}">
                <a16:creationId xmlns:a16="http://schemas.microsoft.com/office/drawing/2014/main" id="{F51DE534-5451-426F-8C55-A3847300037B}"/>
              </a:ext>
            </a:extLst>
          </p:cNvPr>
          <p:cNvSpPr>
            <a:spLocks noGrp="1"/>
          </p:cNvSpPr>
          <p:nvPr/>
        </p:nvSpPr>
        <p:spPr>
          <a:xfrm>
            <a:off x="45339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a:ext uri="{FF2B5EF4-FFF2-40B4-BE49-F238E27FC236}">
                <a16:creationId xmlns:a16="http://schemas.microsoft.com/office/drawing/2014/main" id="{B95C25BE-E0AC-4211-88DD-AF36BE27D58C}"/>
              </a:ext>
            </a:extLst>
          </p:cNvPr>
          <p:cNvSpPr>
            <a:spLocks noGrp="1"/>
          </p:cNvSpPr>
          <p:nvPr/>
        </p:nvSpPr>
        <p:spPr>
          <a:xfrm>
            <a:off x="45339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a:ext uri="{FF2B5EF4-FFF2-40B4-BE49-F238E27FC236}">
                <a16:creationId xmlns:a16="http://schemas.microsoft.com/office/drawing/2014/main" id="{AA057755-0908-41EF-9861-B5B3136090A8}"/>
              </a:ext>
            </a:extLst>
          </p:cNvPr>
          <p:cNvSpPr>
            <a:spLocks noGrp="1"/>
          </p:cNvSpPr>
          <p:nvPr/>
        </p:nvSpPr>
        <p:spPr>
          <a:xfrm>
            <a:off x="8001000" y="2114550"/>
            <a:ext cx="3048000" cy="1181100"/>
          </a:xfrm>
          <a:prstGeom prst="roundRect">
            <a:avLst>
              <a:gd name="adj" fmla="val 12903"/>
            </a:avLst>
          </a:prstGeom>
          <a:solidFill>
            <a:srgbClr val="FFF4CD"/>
          </a:solidFill>
          <a:ln w="0">
            <a:noFill/>
            <a:prstDash val="solid"/>
          </a:ln>
        </p:spPr>
        <p:txBody>
          <a:bodyPr/>
          <a:lstStyle/>
          <a:p>
            <a:endParaRPr/>
          </a:p>
        </p:txBody>
      </p:sp>
      <p:sp>
        <p:nvSpPr>
          <p:cNvPr id="14" name="Rettangolo 13">
            <a:extLst>
              <a:ext uri="{FF2B5EF4-FFF2-40B4-BE49-F238E27FC236}">
                <a16:creationId xmlns:a16="http://schemas.microsoft.com/office/drawing/2014/main" id="{FBF595D1-D2F2-4609-90AA-9836312F8BEA}"/>
              </a:ext>
            </a:extLst>
          </p:cNvPr>
          <p:cNvSpPr>
            <a:spLocks noGrp="1"/>
          </p:cNvSpPr>
          <p:nvPr/>
        </p:nvSpPr>
        <p:spPr>
          <a:xfrm>
            <a:off x="81915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a:ext uri="{FF2B5EF4-FFF2-40B4-BE49-F238E27FC236}">
                <a16:creationId xmlns:a16="http://schemas.microsoft.com/office/drawing/2014/main" id="{CA31140D-6563-486C-A3B6-00812F0790B5}"/>
              </a:ext>
            </a:extLst>
          </p:cNvPr>
          <p:cNvSpPr>
            <a:spLocks noGrp="1"/>
          </p:cNvSpPr>
          <p:nvPr/>
        </p:nvSpPr>
        <p:spPr>
          <a:xfrm>
            <a:off x="81915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a:ext uri="{FF2B5EF4-FFF2-40B4-BE49-F238E27FC236}">
                <a16:creationId xmlns:a16="http://schemas.microsoft.com/office/drawing/2014/main" id="{E8AE0E5F-D588-4518-BA59-676FC615A528}"/>
              </a:ext>
            </a:extLst>
          </p:cNvPr>
          <p:cNvSpPr>
            <a:spLocks noGrp="1"/>
          </p:cNvSpPr>
          <p:nvPr/>
        </p:nvSpPr>
        <p:spPr>
          <a:xfrm>
            <a:off x="685800" y="3714750"/>
            <a:ext cx="6667500" cy="1352550"/>
          </a:xfrm>
          <a:prstGeom prst="roundRect">
            <a:avLst>
              <a:gd name="adj" fmla="val 12676"/>
            </a:avLst>
          </a:prstGeom>
          <a:solidFill>
            <a:srgbClr val="E9EEF8"/>
          </a:solidFill>
          <a:ln w="0">
            <a:noFill/>
            <a:prstDash val="solid"/>
          </a:ln>
        </p:spPr>
        <p:txBody>
          <a:bodyPr/>
          <a:lstStyle/>
          <a:p>
            <a:endParaRPr/>
          </a:p>
        </p:txBody>
      </p:sp>
      <p:sp>
        <p:nvSpPr>
          <p:cNvPr id="17" name="Rettangolo 16">
            <a:extLst>
              <a:ext uri="{FF2B5EF4-FFF2-40B4-BE49-F238E27FC236}">
                <a16:creationId xmlns:a16="http://schemas.microsoft.com/office/drawing/2014/main" id="{86E49BA0-1207-489F-96D4-25FAF47B2880}"/>
              </a:ext>
            </a:extLst>
          </p:cNvPr>
          <p:cNvSpPr>
            <a:spLocks noGrp="1"/>
          </p:cNvSpPr>
          <p:nvPr/>
        </p:nvSpPr>
        <p:spPr>
          <a:xfrm>
            <a:off x="952500" y="3962400"/>
            <a:ext cx="61341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a:ext uri="{FF2B5EF4-FFF2-40B4-BE49-F238E27FC236}">
                <a16:creationId xmlns:a16="http://schemas.microsoft.com/office/drawing/2014/main" id="{2E908EB8-C4F4-4547-90E0-2C16671F8D2D}"/>
              </a:ext>
            </a:extLst>
          </p:cNvPr>
          <p:cNvSpPr>
            <a:spLocks noGrp="1"/>
          </p:cNvSpPr>
          <p:nvPr/>
        </p:nvSpPr>
        <p:spPr>
          <a:xfrm>
            <a:off x="952500" y="4572000"/>
            <a:ext cx="6134100" cy="266700"/>
          </a:xfrm>
          <a:prstGeom prst="rect">
            <a:avLst/>
          </a:prstGeom>
          <a:noFill/>
          <a:ln w="0">
            <a:noFill/>
            <a:prstDash val="solid"/>
          </a:ln>
        </p:spPr>
        <p:txBody>
          <a:bodyPr wrap="square" lIns="0" tIns="0" rIns="0" bIns="0" anchor="t">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a:ext uri="{FF2B5EF4-FFF2-40B4-BE49-F238E27FC236}">
                <a16:creationId xmlns:a16="http://schemas.microsoft.com/office/drawing/2014/main" id="{493E70C3-409B-43B7-A636-07BDD643C977}"/>
              </a:ext>
            </a:extLst>
          </p:cNvPr>
          <p:cNvSpPr>
            <a:spLocks noGrp="1"/>
          </p:cNvSpPr>
          <p:nvPr/>
        </p:nvSpPr>
        <p:spPr>
          <a:xfrm>
            <a:off x="7734300" y="3714750"/>
            <a:ext cx="3771900" cy="1352550"/>
          </a:xfrm>
          <a:prstGeom prst="roundRect">
            <a:avLst>
              <a:gd name="adj" fmla="val 12676"/>
            </a:avLst>
          </a:prstGeom>
          <a:solidFill>
            <a:srgbClr val="233A70"/>
          </a:solidFill>
          <a:ln w="0">
            <a:noFill/>
            <a:prstDash val="solid"/>
          </a:ln>
        </p:spPr>
        <p:txBody>
          <a:bodyPr/>
          <a:lstStyle/>
          <a:p>
            <a:endParaRPr/>
          </a:p>
        </p:txBody>
      </p:sp>
      <p:sp>
        <p:nvSpPr>
          <p:cNvPr id="20" name="Rettangolo 19">
            <a:extLst>
              <a:ext uri="{FF2B5EF4-FFF2-40B4-BE49-F238E27FC236}">
                <a16:creationId xmlns:a16="http://schemas.microsoft.com/office/drawing/2014/main" id="{CFA7B9EC-C8CD-4FB2-B247-F8C9592B3AAE}"/>
              </a:ext>
            </a:extLst>
          </p:cNvPr>
          <p:cNvSpPr>
            <a:spLocks noGrp="1"/>
          </p:cNvSpPr>
          <p:nvPr/>
        </p:nvSpPr>
        <p:spPr>
          <a:xfrm>
            <a:off x="8001000" y="3924300"/>
            <a:ext cx="3238500" cy="514350"/>
          </a:xfrm>
          <a:prstGeom prst="rect">
            <a:avLst/>
          </a:prstGeom>
          <a:noFill/>
          <a:ln w="0">
            <a:noFill/>
            <a:prstDash val="solid"/>
          </a:ln>
        </p:spPr>
        <p:txBody>
          <a:bodyPr wrap="square" lIns="0" tIns="0" rIns="0" bIns="0" anchor="t">
            <a:noAutofit/>
          </a:bodyPr>
          <a:lstStyle/>
          <a:p>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a:ext uri="{FF2B5EF4-FFF2-40B4-BE49-F238E27FC236}">
                <a16:creationId xmlns:a16="http://schemas.microsoft.com/office/drawing/2014/main" id="{C59CA103-07C3-4D93-ABAE-B985C7F5307B}"/>
              </a:ext>
            </a:extLst>
          </p:cNvPr>
          <p:cNvSpPr>
            <a:spLocks noGrp="1"/>
          </p:cNvSpPr>
          <p:nvPr/>
        </p:nvSpPr>
        <p:spPr>
          <a:xfrm>
            <a:off x="8001000" y="4572000"/>
            <a:ext cx="3238500" cy="266700"/>
          </a:xfrm>
          <a:prstGeom prst="rect">
            <a:avLst/>
          </a:prstGeom>
          <a:noFill/>
          <a:ln w="0">
            <a:noFill/>
            <a:prstDash val="solid"/>
          </a:ln>
        </p:spPr>
        <p:txBody>
          <a:bodyPr wrap="square" lIns="0" tIns="0" rIns="0" bIns="0" anchor="t">
            <a:noAutofit/>
          </a:bodyPr>
          <a:lstStyle/>
          <a:p>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a:ext uri="{FF2B5EF4-FFF2-40B4-BE49-F238E27FC236}">
                <a16:creationId xmlns:a16="http://schemas.microsoft.com/office/drawing/2014/main" id="{97064189-DD4E-40F9-A7D8-F52355D532F4}"/>
              </a:ext>
            </a:extLst>
          </p:cNvPr>
          <p:cNvSpPr>
            <a:spLocks noGrp="1"/>
          </p:cNvSpPr>
          <p:nvPr/>
        </p:nvSpPr>
        <p:spPr>
          <a:xfrm>
            <a:off x="1428750" y="5448300"/>
            <a:ext cx="9334500" cy="304800"/>
          </a:xfrm>
          <a:prstGeom prst="rect">
            <a:avLst/>
          </a:prstGeom>
          <a:noFill/>
          <a:ln w="0">
            <a:noFill/>
            <a:prstDash val="solid"/>
          </a:ln>
        </p:spPr>
        <p:txBody>
          <a:bodyPr wrap="square" lIns="0" tIns="0" rIns="0" bIns="0" anchor="t">
            <a:noAutofit/>
          </a:bodyPr>
          <a:lstStyle/>
          <a:p>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a:ext uri="{FF2B5EF4-FFF2-40B4-BE49-F238E27FC236}">
                <a16:creationId xmlns:a16="http://schemas.microsoft.com/office/drawing/2014/main" id="{54B01487-7E01-457B-8FE5-D55CB28A858C}"/>
              </a:ext>
            </a:extLst>
          </p:cNvPr>
          <p:cNvSpPr>
            <a:spLocks noGrp="1"/>
          </p:cNvSpPr>
          <p:nvPr/>
        </p:nvSpPr>
        <p:spPr>
          <a:xfrm>
            <a:off x="1714500" y="5829300"/>
            <a:ext cx="87630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7145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4300"/>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457200"/>
            <a:ext cx="10789920" cy="566928"/>
          </a:xfrm>
          <a:prstGeom prst="rect">
            <a:avLst/>
          </a:prstGeom>
          <a:noFill/>
        </p:spPr>
        <p:txBody>
          <a:bodyPr wrap="square" anchor="t">
            <a:spAutoFit/>
          </a:bodyPr>
          <a:lstStyle/>
          <a:p>
            <a:pPr algn="l"/>
            <a:r>
              <a:rPr sz="3550" b="1">
                <a:solidFill>
                  <a:srgbClr val="233A70"/>
                </a:solidFill>
                <a:latin typeface="Arial"/>
              </a:rPr>
              <a:t>Weapon, non-weapon and OOD: distinct roles</a:t>
            </a:r>
          </a:p>
        </p:txBody>
      </p:sp>
      <p:sp>
        <p:nvSpPr>
          <p:cNvPr id="4" name="Rectangle 3"/>
          <p:cNvSpPr/>
          <p:nvPr/>
        </p:nvSpPr>
        <p:spPr>
          <a:xfrm>
            <a:off x="694944" y="1078992"/>
            <a:ext cx="10826496" cy="18288"/>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94944" y="1481328"/>
            <a:ext cx="3273552" cy="3886200"/>
          </a:xfrm>
          <a:prstGeom prst="roundRect">
            <a:avLst/>
          </a:prstGeom>
          <a:solidFill>
            <a:srgbClr val="FBEAEA"/>
          </a:solidFill>
          <a:ln>
            <a:solidFill>
              <a:srgbClr val="FBE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136391" y="1636776"/>
            <a:ext cx="621792" cy="3657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36391" y="1645920"/>
            <a:ext cx="621792" cy="320040"/>
          </a:xfrm>
          <a:prstGeom prst="rect">
            <a:avLst/>
          </a:prstGeom>
          <a:noFill/>
        </p:spPr>
        <p:txBody>
          <a:bodyPr wrap="square" anchor="ctr">
            <a:spAutoFit/>
          </a:bodyPr>
          <a:lstStyle/>
          <a:p>
            <a:pPr algn="ctr"/>
            <a:r>
              <a:rPr sz="1300" b="1">
                <a:solidFill>
                  <a:srgbClr val="C43D38"/>
                </a:solidFill>
                <a:latin typeface="Arial"/>
              </a:rPr>
              <a:t>500</a:t>
            </a:r>
          </a:p>
        </p:txBody>
      </p:sp>
      <p:sp>
        <p:nvSpPr>
          <p:cNvPr id="9" name="TextBox 8"/>
          <p:cNvSpPr txBox="1"/>
          <p:nvPr/>
        </p:nvSpPr>
        <p:spPr>
          <a:xfrm>
            <a:off x="950976" y="2944368"/>
            <a:ext cx="2761488" cy="411480"/>
          </a:xfrm>
          <a:prstGeom prst="rect">
            <a:avLst/>
          </a:prstGeom>
          <a:noFill/>
        </p:spPr>
        <p:txBody>
          <a:bodyPr wrap="square" anchor="t">
            <a:spAutoFit/>
          </a:bodyPr>
          <a:lstStyle/>
          <a:p>
            <a:pPr algn="ctr"/>
            <a:r>
              <a:rPr sz="2050" b="1">
                <a:solidFill>
                  <a:srgbClr val="C43D38"/>
                </a:solidFill>
                <a:latin typeface="Arial"/>
              </a:rPr>
              <a:t>WEAPON</a:t>
            </a:r>
          </a:p>
        </p:txBody>
      </p:sp>
      <p:sp>
        <p:nvSpPr>
          <p:cNvPr id="10" name="TextBox 9"/>
          <p:cNvSpPr txBox="1"/>
          <p:nvPr/>
        </p:nvSpPr>
        <p:spPr>
          <a:xfrm>
            <a:off x="950976" y="3383280"/>
            <a:ext cx="2761488" cy="347472"/>
          </a:xfrm>
          <a:prstGeom prst="rect">
            <a:avLst/>
          </a:prstGeom>
          <a:noFill/>
        </p:spPr>
        <p:txBody>
          <a:bodyPr wrap="square" anchor="t">
            <a:spAutoFit/>
          </a:bodyPr>
          <a:lstStyle/>
          <a:p>
            <a:pPr algn="ctr"/>
            <a:r>
              <a:rPr sz="1250" b="1">
                <a:solidFill>
                  <a:srgbClr val="233A70"/>
                </a:solidFill>
                <a:latin typeface="Arial"/>
              </a:rPr>
              <a:t>IN-DISTRIBUTION POSITIVE</a:t>
            </a:r>
          </a:p>
        </p:txBody>
      </p:sp>
      <p:sp>
        <p:nvSpPr>
          <p:cNvPr id="11" name="Rectangle 10"/>
          <p:cNvSpPr/>
          <p:nvPr/>
        </p:nvSpPr>
        <p:spPr>
          <a:xfrm>
            <a:off x="1106424" y="3822191"/>
            <a:ext cx="2450592" cy="13716"/>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4983" y="4005072"/>
            <a:ext cx="2633472" cy="1024128"/>
          </a:xfrm>
          <a:prstGeom prst="rect">
            <a:avLst/>
          </a:prstGeom>
          <a:noFill/>
        </p:spPr>
        <p:txBody>
          <a:bodyPr wrap="square" anchor="t">
            <a:spAutoFit/>
          </a:bodyPr>
          <a:lstStyle/>
          <a:p>
            <a:pPr algn="ctr"/>
            <a:r>
              <a:rPr sz="1240" b="0">
                <a:solidFill>
                  <a:srgbClr val="5D6A7F"/>
                </a:solidFill>
                <a:latin typeface="Arial"/>
              </a:rPr>
              <a:t>Real firearm or firearm-like object, sufficiently visible and relevant to the binary triage task.</a:t>
            </a:r>
          </a:p>
        </p:txBody>
      </p:sp>
      <p:sp>
        <p:nvSpPr>
          <p:cNvPr id="13" name="Rounded Rectangle 12"/>
          <p:cNvSpPr/>
          <p:nvPr/>
        </p:nvSpPr>
        <p:spPr>
          <a:xfrm>
            <a:off x="4462272" y="1481328"/>
            <a:ext cx="3273552" cy="3886200"/>
          </a:xfrm>
          <a:prstGeom prst="roundRect">
            <a:avLst/>
          </a:prstGeom>
          <a:solidFill>
            <a:srgbClr val="E7F8F0"/>
          </a:solidFill>
          <a:ln>
            <a:solidFill>
              <a:srgbClr val="E7F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a:t>Non_Arma.jpg</a:t>
            </a:r>
            <a:endParaRPr/>
          </a:p>
        </p:txBody>
      </p:sp>
      <p:sp>
        <p:nvSpPr>
          <p:cNvPr id="14" name="Rounded Rectangle 13"/>
          <p:cNvSpPr/>
          <p:nvPr/>
        </p:nvSpPr>
        <p:spPr>
          <a:xfrm>
            <a:off x="6903720" y="1636776"/>
            <a:ext cx="621792" cy="3657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03720" y="1645920"/>
            <a:ext cx="621792" cy="320040"/>
          </a:xfrm>
          <a:prstGeom prst="rect">
            <a:avLst/>
          </a:prstGeom>
          <a:noFill/>
        </p:spPr>
        <p:txBody>
          <a:bodyPr wrap="square" anchor="ctr">
            <a:spAutoFit/>
          </a:bodyPr>
          <a:lstStyle/>
          <a:p>
            <a:pPr algn="ctr"/>
            <a:r>
              <a:rPr sz="1300" b="1">
                <a:solidFill>
                  <a:srgbClr val="007F5C"/>
                </a:solidFill>
                <a:latin typeface="Arial"/>
              </a:rPr>
              <a:t>500</a:t>
            </a:r>
          </a:p>
        </p:txBody>
      </p:sp>
      <p:sp>
        <p:nvSpPr>
          <p:cNvPr id="17" name="TextBox 16"/>
          <p:cNvSpPr txBox="1"/>
          <p:nvPr/>
        </p:nvSpPr>
        <p:spPr>
          <a:xfrm>
            <a:off x="4718304" y="2944368"/>
            <a:ext cx="2761488" cy="411480"/>
          </a:xfrm>
          <a:prstGeom prst="rect">
            <a:avLst/>
          </a:prstGeom>
          <a:noFill/>
        </p:spPr>
        <p:txBody>
          <a:bodyPr wrap="square" anchor="t">
            <a:spAutoFit/>
          </a:bodyPr>
          <a:lstStyle/>
          <a:p>
            <a:pPr algn="ctr"/>
            <a:r>
              <a:rPr sz="2050" b="1">
                <a:solidFill>
                  <a:srgbClr val="007F5C"/>
                </a:solidFill>
                <a:latin typeface="Arial"/>
              </a:rPr>
              <a:t>NON-WEAPON</a:t>
            </a:r>
          </a:p>
        </p:txBody>
      </p:sp>
      <p:sp>
        <p:nvSpPr>
          <p:cNvPr id="18" name="TextBox 17"/>
          <p:cNvSpPr txBox="1"/>
          <p:nvPr/>
        </p:nvSpPr>
        <p:spPr>
          <a:xfrm>
            <a:off x="4718304" y="3383280"/>
            <a:ext cx="2761488" cy="347472"/>
          </a:xfrm>
          <a:prstGeom prst="rect">
            <a:avLst/>
          </a:prstGeom>
          <a:noFill/>
        </p:spPr>
        <p:txBody>
          <a:bodyPr wrap="square" anchor="t">
            <a:spAutoFit/>
          </a:bodyPr>
          <a:lstStyle/>
          <a:p>
            <a:pPr algn="ctr"/>
            <a:r>
              <a:rPr sz="1250" b="1">
                <a:solidFill>
                  <a:srgbClr val="233A70"/>
                </a:solidFill>
                <a:latin typeface="Arial"/>
              </a:rPr>
              <a:t>IN-DISTRIBUTION NEGATIVE</a:t>
            </a:r>
          </a:p>
        </p:txBody>
      </p:sp>
      <p:sp>
        <p:nvSpPr>
          <p:cNvPr id="19" name="Rectangle 18"/>
          <p:cNvSpPr/>
          <p:nvPr/>
        </p:nvSpPr>
        <p:spPr>
          <a:xfrm>
            <a:off x="4873752" y="3822191"/>
            <a:ext cx="2450592" cy="13716"/>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82312" y="4005072"/>
            <a:ext cx="2633472" cy="1024128"/>
          </a:xfrm>
          <a:prstGeom prst="rect">
            <a:avLst/>
          </a:prstGeom>
          <a:noFill/>
        </p:spPr>
        <p:txBody>
          <a:bodyPr wrap="square" anchor="t">
            <a:spAutoFit/>
          </a:bodyPr>
          <a:lstStyle/>
          <a:p>
            <a:pPr algn="ctr"/>
            <a:r>
              <a:rPr sz="1240" b="0">
                <a:solidFill>
                  <a:srgbClr val="5D6A7F"/>
                </a:solidFill>
                <a:latin typeface="Arial"/>
              </a:rPr>
              <a:t>Realistic image with no firearm, still compatible with the visual domain of the binary task.</a:t>
            </a:r>
          </a:p>
        </p:txBody>
      </p:sp>
      <p:sp>
        <p:nvSpPr>
          <p:cNvPr id="21" name="Rounded Rectangle 20"/>
          <p:cNvSpPr/>
          <p:nvPr/>
        </p:nvSpPr>
        <p:spPr>
          <a:xfrm>
            <a:off x="8229600" y="1481328"/>
            <a:ext cx="3273552" cy="3886200"/>
          </a:xfrm>
          <a:prstGeom prst="roundRect">
            <a:avLst/>
          </a:prstGeom>
          <a:solidFill>
            <a:srgbClr val="FFF4CD"/>
          </a:solidFill>
          <a:ln>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671048" y="1636776"/>
            <a:ext cx="621792" cy="3657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71048" y="1645920"/>
            <a:ext cx="621792" cy="320040"/>
          </a:xfrm>
          <a:prstGeom prst="rect">
            <a:avLst/>
          </a:prstGeom>
          <a:noFill/>
        </p:spPr>
        <p:txBody>
          <a:bodyPr wrap="square" anchor="ctr">
            <a:spAutoFit/>
          </a:bodyPr>
          <a:lstStyle/>
          <a:p>
            <a:pPr algn="ctr"/>
            <a:r>
              <a:rPr sz="1300" b="1">
                <a:solidFill>
                  <a:srgbClr val="C99500"/>
                </a:solidFill>
                <a:latin typeface="Arial"/>
              </a:rPr>
              <a:t>500</a:t>
            </a:r>
          </a:p>
        </p:txBody>
      </p:sp>
      <p:sp>
        <p:nvSpPr>
          <p:cNvPr id="27" name="TextBox 26"/>
          <p:cNvSpPr txBox="1"/>
          <p:nvPr/>
        </p:nvSpPr>
        <p:spPr>
          <a:xfrm>
            <a:off x="8485632" y="2944368"/>
            <a:ext cx="2761488" cy="411480"/>
          </a:xfrm>
          <a:prstGeom prst="rect">
            <a:avLst/>
          </a:prstGeom>
          <a:noFill/>
        </p:spPr>
        <p:txBody>
          <a:bodyPr wrap="square" anchor="t">
            <a:spAutoFit/>
          </a:bodyPr>
          <a:lstStyle/>
          <a:p>
            <a:pPr algn="ctr"/>
            <a:r>
              <a:rPr sz="2050" b="1">
                <a:solidFill>
                  <a:srgbClr val="C99500"/>
                </a:solidFill>
                <a:latin typeface="Arial"/>
              </a:rPr>
              <a:t>OOD</a:t>
            </a:r>
          </a:p>
        </p:txBody>
      </p:sp>
      <p:sp>
        <p:nvSpPr>
          <p:cNvPr id="28" name="TextBox 27"/>
          <p:cNvSpPr txBox="1"/>
          <p:nvPr/>
        </p:nvSpPr>
        <p:spPr>
          <a:xfrm>
            <a:off x="8485632" y="3383280"/>
            <a:ext cx="2761488" cy="347472"/>
          </a:xfrm>
          <a:prstGeom prst="rect">
            <a:avLst/>
          </a:prstGeom>
          <a:noFill/>
        </p:spPr>
        <p:txBody>
          <a:bodyPr wrap="square" anchor="t">
            <a:spAutoFit/>
          </a:bodyPr>
          <a:lstStyle/>
          <a:p>
            <a:pPr algn="ctr"/>
            <a:r>
              <a:rPr sz="1250" b="1">
                <a:solidFill>
                  <a:srgbClr val="233A70"/>
                </a:solidFill>
                <a:latin typeface="Arial"/>
              </a:rPr>
              <a:t>SEPARATE ROBUSTNESS BRANCH</a:t>
            </a:r>
          </a:p>
        </p:txBody>
      </p:sp>
      <p:sp>
        <p:nvSpPr>
          <p:cNvPr id="29" name="Rectangle 28"/>
          <p:cNvSpPr/>
          <p:nvPr/>
        </p:nvSpPr>
        <p:spPr>
          <a:xfrm>
            <a:off x="8641080" y="3822191"/>
            <a:ext cx="2450592" cy="13716"/>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49640" y="4005072"/>
            <a:ext cx="2633472" cy="1024128"/>
          </a:xfrm>
          <a:prstGeom prst="rect">
            <a:avLst/>
          </a:prstGeom>
          <a:noFill/>
        </p:spPr>
        <p:txBody>
          <a:bodyPr wrap="square" anchor="t">
            <a:spAutoFit/>
          </a:bodyPr>
          <a:lstStyle/>
          <a:p>
            <a:pPr algn="ctr"/>
            <a:r>
              <a:rPr sz="1240" b="0">
                <a:solidFill>
                  <a:srgbClr val="5D6A7F"/>
                </a:solidFill>
                <a:latin typeface="Arial"/>
              </a:rPr>
              <a:t>Borderline, synthetic, degraded, ambiguous or semantically external inputs: e.g., toys/replicas, CGI/cartoon, non-firearm weapons or war imagery.</a:t>
            </a:r>
          </a:p>
        </p:txBody>
      </p:sp>
      <p:sp>
        <p:nvSpPr>
          <p:cNvPr id="31" name="Rounded Rectangle 30"/>
          <p:cNvSpPr/>
          <p:nvPr/>
        </p:nvSpPr>
        <p:spPr>
          <a:xfrm>
            <a:off x="694944" y="5577840"/>
            <a:ext cx="10808208" cy="658368"/>
          </a:xfrm>
          <a:prstGeom prst="roundRect">
            <a:avLst/>
          </a:prstGeom>
          <a:solidFill>
            <a:srgbClr val="E9EEF8"/>
          </a:solidFill>
          <a:ln>
            <a:solidFill>
              <a:srgbClr val="E9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687568"/>
            <a:ext cx="10378440" cy="329184"/>
          </a:xfrm>
          <a:prstGeom prst="rect">
            <a:avLst/>
          </a:prstGeom>
          <a:noFill/>
        </p:spPr>
        <p:txBody>
          <a:bodyPr wrap="square" anchor="ctr">
            <a:spAutoFit/>
          </a:bodyPr>
          <a:lstStyle/>
          <a:p>
            <a:pPr algn="ctr"/>
            <a:r>
              <a:rPr sz="1420" b="1">
                <a:solidFill>
                  <a:srgbClr val="233A70"/>
                </a:solidFill>
                <a:latin typeface="Arial"/>
              </a:rPr>
              <a:t>Binary task = weapon vs non_weapon   |   OOD is not a third supervised class and is evaluated separately.</a:t>
            </a:r>
          </a:p>
        </p:txBody>
      </p:sp>
      <p:sp>
        <p:nvSpPr>
          <p:cNvPr id="34" name="TextBox 33"/>
          <p:cNvSpPr txBox="1"/>
          <p:nvPr/>
        </p:nvSpPr>
        <p:spPr>
          <a:xfrm>
            <a:off x="694944" y="6620256"/>
            <a:ext cx="3657600" cy="201168"/>
          </a:xfrm>
          <a:prstGeom prst="rect">
            <a:avLst/>
          </a:prstGeom>
          <a:noFill/>
        </p:spPr>
        <p:txBody>
          <a:bodyPr wrap="square" anchor="t">
            <a:spAutoFit/>
          </a:bodyPr>
          <a:lstStyle/>
          <a:p>
            <a:pPr algn="l"/>
            <a:r>
              <a:rPr sz="1050" b="0">
                <a:solidFill>
                  <a:srgbClr val="5D6A7F"/>
                </a:solidFill>
                <a:latin typeface="Arial"/>
              </a:rPr>
              <a:t>Lello Molinario  |  MSc Thesis Defense</a:t>
            </a:r>
          </a:p>
        </p:txBody>
      </p:sp>
      <p:sp>
        <p:nvSpPr>
          <p:cNvPr id="35" name="TextBox 34"/>
          <p:cNvSpPr txBox="1"/>
          <p:nvPr/>
        </p:nvSpPr>
        <p:spPr>
          <a:xfrm>
            <a:off x="10991088" y="6528816"/>
            <a:ext cx="566928" cy="256032"/>
          </a:xfrm>
          <a:prstGeom prst="rect">
            <a:avLst/>
          </a:prstGeom>
          <a:noFill/>
        </p:spPr>
        <p:txBody>
          <a:bodyPr wrap="square" anchor="t">
            <a:spAutoFit/>
          </a:bodyPr>
          <a:lstStyle/>
          <a:p>
            <a:pPr algn="ctr"/>
            <a:r>
              <a:rPr sz="1500">
                <a:solidFill>
                  <a:srgbClr val="182235"/>
                </a:solidFill>
                <a:latin typeface="Arial"/>
              </a:rPr>
              <a:t>05</a:t>
            </a:r>
          </a:p>
        </p:txBody>
      </p:sp>
      <p:pic>
        <p:nvPicPr>
          <p:cNvPr id="37" name="Immagine 36">
            <a:extLst>
              <a:ext uri="{FF2B5EF4-FFF2-40B4-BE49-F238E27FC236}">
                <a16:creationId xmlns:a16="http://schemas.microsoft.com/office/drawing/2014/main" id="{AB6F7B67-DDBF-BFF3-62B0-AF679963AF3E}"/>
              </a:ext>
            </a:extLst>
          </p:cNvPr>
          <p:cNvPicPr>
            <a:picLocks noChangeAspect="1"/>
          </p:cNvPicPr>
          <p:nvPr/>
        </p:nvPicPr>
        <p:blipFill>
          <a:blip r:embed="rId3"/>
          <a:stretch>
            <a:fillRect/>
          </a:stretch>
        </p:blipFill>
        <p:spPr>
          <a:xfrm>
            <a:off x="1509903" y="1538481"/>
            <a:ext cx="1570479" cy="1570479"/>
          </a:xfrm>
          <a:prstGeom prst="rect">
            <a:avLst/>
          </a:prstGeom>
        </p:spPr>
      </p:pic>
      <p:pic>
        <p:nvPicPr>
          <p:cNvPr id="39" name="Immagine 38">
            <a:extLst>
              <a:ext uri="{FF2B5EF4-FFF2-40B4-BE49-F238E27FC236}">
                <a16:creationId xmlns:a16="http://schemas.microsoft.com/office/drawing/2014/main" id="{5F1A15A7-4535-38E1-30F2-949C72E73223}"/>
              </a:ext>
            </a:extLst>
          </p:cNvPr>
          <p:cNvPicPr>
            <a:picLocks noChangeAspect="1"/>
          </p:cNvPicPr>
          <p:nvPr/>
        </p:nvPicPr>
        <p:blipFill>
          <a:blip r:embed="rId4">
            <a:extLst>
              <a:ext uri="{28A0092B-C50C-407E-A947-70E740481C1C}">
                <a14:useLocalDpi xmlns:a14="http://schemas.microsoft.com/office/drawing/2010/main" val="0"/>
              </a:ext>
            </a:extLst>
          </a:blip>
          <a:srcRect l="25797" r="26068"/>
          <a:stretch>
            <a:fillRect/>
          </a:stretch>
        </p:blipFill>
        <p:spPr>
          <a:xfrm>
            <a:off x="5521830" y="1660199"/>
            <a:ext cx="1125858" cy="1315668"/>
          </a:xfrm>
          <a:prstGeom prst="rect">
            <a:avLst/>
          </a:prstGeom>
        </p:spPr>
      </p:pic>
      <p:pic>
        <p:nvPicPr>
          <p:cNvPr id="41" name="Immagine 40">
            <a:extLst>
              <a:ext uri="{FF2B5EF4-FFF2-40B4-BE49-F238E27FC236}">
                <a16:creationId xmlns:a16="http://schemas.microsoft.com/office/drawing/2014/main" id="{18D8F86D-A465-CEA8-24F1-EAB20F6FBF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35532" y="1746504"/>
            <a:ext cx="1559736" cy="11978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A9DF18E-4042-467C-97B9-4589B37E30B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3CC87C-9B72-4C2C-AD30-2FB203B4699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a:ext uri="{FF2B5EF4-FFF2-40B4-BE49-F238E27FC236}">
                <a16:creationId xmlns:a16="http://schemas.microsoft.com/office/drawing/2014/main" id="{BCB0685F-E48D-4052-8734-E6910A0E4C4F}"/>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4F4A7D0-C37E-4471-9B99-5FD96688AE1B}"/>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A482C16-A30B-415B-84DE-F197B421E06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06</a:t>
            </a:r>
          </a:p>
        </p:txBody>
      </p:sp>
      <p:sp>
        <p:nvSpPr>
          <p:cNvPr id="6" name="Rettangolo con angoli arrotondati 5">
            <a:extLst>
              <a:ext uri="{FF2B5EF4-FFF2-40B4-BE49-F238E27FC236}">
                <a16:creationId xmlns:a16="http://schemas.microsoft.com/office/drawing/2014/main" id="{19694DF6-BA12-4007-B98D-CE24074B6695}"/>
              </a:ext>
            </a:extLst>
          </p:cNvPr>
          <p:cNvSpPr>
            <a:spLocks noGrp="1"/>
          </p:cNvSpPr>
          <p:nvPr/>
        </p:nvSpPr>
        <p:spPr>
          <a:xfrm>
            <a:off x="685800" y="1409700"/>
            <a:ext cx="5143500" cy="2705100"/>
          </a:xfrm>
          <a:prstGeom prst="roundRect">
            <a:avLst>
              <a:gd name="adj" fmla="val 6338"/>
            </a:avLst>
          </a:prstGeom>
          <a:solidFill>
            <a:srgbClr val="E9EEF8"/>
          </a:solidFill>
          <a:ln w="0">
            <a:noFill/>
            <a:prstDash val="solid"/>
          </a:ln>
        </p:spPr>
        <p:txBody>
          <a:bodyPr/>
          <a:lstStyle/>
          <a:p>
            <a:endParaRPr/>
          </a:p>
        </p:txBody>
      </p:sp>
      <p:sp>
        <p:nvSpPr>
          <p:cNvPr id="7" name="Rettangolo 6">
            <a:extLst>
              <a:ext uri="{FF2B5EF4-FFF2-40B4-BE49-F238E27FC236}">
                <a16:creationId xmlns:a16="http://schemas.microsoft.com/office/drawing/2014/main" id="{C754D5C3-C7C7-47E3-B4A6-F28E654F1A1F}"/>
              </a:ext>
            </a:extLst>
          </p:cNvPr>
          <p:cNvSpPr>
            <a:spLocks noGrp="1"/>
          </p:cNvSpPr>
          <p:nvPr/>
        </p:nvSpPr>
        <p:spPr>
          <a:xfrm>
            <a:off x="9906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a:ext uri="{FF2B5EF4-FFF2-40B4-BE49-F238E27FC236}">
                <a16:creationId xmlns:a16="http://schemas.microsoft.com/office/drawing/2014/main" id="{DFFB7302-4FE1-4F8C-B8DE-30ECA9608832}"/>
              </a:ext>
            </a:extLst>
          </p:cNvPr>
          <p:cNvSpPr>
            <a:spLocks noGrp="1"/>
          </p:cNvSpPr>
          <p:nvPr/>
        </p:nvSpPr>
        <p:spPr>
          <a:xfrm>
            <a:off x="990600" y="2114550"/>
            <a:ext cx="2857500" cy="1181100"/>
          </a:xfrm>
          <a:prstGeom prst="rect">
            <a:avLst/>
          </a:prstGeom>
          <a:noFill/>
          <a:ln w="0">
            <a:noFill/>
            <a:prstDash val="solid"/>
          </a:ln>
        </p:spPr>
        <p:txBody>
          <a:bodyPr wrap="square" lIns="0" tIns="0" rIns="0" bIns="0" anchor="t">
            <a:noAutofit/>
          </a:bodyPr>
          <a:lstStyle/>
          <a:p>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a:ext uri="{FF2B5EF4-FFF2-40B4-BE49-F238E27FC236}">
                <a16:creationId xmlns:a16="http://schemas.microsoft.com/office/drawing/2014/main" id="{2C5E08B1-D6FC-4045-B482-500474653204}"/>
              </a:ext>
            </a:extLst>
          </p:cNvPr>
          <p:cNvSpPr>
            <a:spLocks noGrp="1"/>
          </p:cNvSpPr>
          <p:nvPr/>
        </p:nvSpPr>
        <p:spPr>
          <a:xfrm>
            <a:off x="990600" y="3524250"/>
            <a:ext cx="4286250" cy="3619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All three white-box-capable · inspectable checkpoints</a:t>
            </a:r>
          </a:p>
        </p:txBody>
      </p:sp>
      <p:sp>
        <p:nvSpPr>
          <p:cNvPr id="10" name="Rettangolo con angoli arrotondati 9">
            <a:extLst>
              <a:ext uri="{FF2B5EF4-FFF2-40B4-BE49-F238E27FC236}">
                <a16:creationId xmlns:a16="http://schemas.microsoft.com/office/drawing/2014/main" id="{98A93300-E588-4524-BF87-E02F18B50A9D}"/>
              </a:ext>
            </a:extLst>
          </p:cNvPr>
          <p:cNvSpPr>
            <a:spLocks noGrp="1"/>
          </p:cNvSpPr>
          <p:nvPr/>
        </p:nvSpPr>
        <p:spPr>
          <a:xfrm>
            <a:off x="6362700" y="1409700"/>
            <a:ext cx="5143500" cy="2705100"/>
          </a:xfrm>
          <a:prstGeom prst="roundRect">
            <a:avLst>
              <a:gd name="adj" fmla="val 6338"/>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56EC00C9-A240-4103-BF94-6EB97877400B}"/>
              </a:ext>
            </a:extLst>
          </p:cNvPr>
          <p:cNvSpPr>
            <a:spLocks noGrp="1"/>
          </p:cNvSpPr>
          <p:nvPr/>
        </p:nvSpPr>
        <p:spPr>
          <a:xfrm>
            <a:off x="66675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a:ext uri="{FF2B5EF4-FFF2-40B4-BE49-F238E27FC236}">
                <a16:creationId xmlns:a16="http://schemas.microsoft.com/office/drawing/2014/main" id="{4EB6323D-5229-4FB7-99FB-3FC21DAEEEBD}"/>
              </a:ext>
            </a:extLst>
          </p:cNvPr>
          <p:cNvSpPr>
            <a:spLocks noGrp="1"/>
          </p:cNvSpPr>
          <p:nvPr/>
        </p:nvSpPr>
        <p:spPr>
          <a:xfrm>
            <a:off x="6667500" y="2114550"/>
            <a:ext cx="4333875" cy="1428750"/>
          </a:xfrm>
          <a:prstGeom prst="rect">
            <a:avLst/>
          </a:prstGeom>
          <a:noFill/>
          <a:ln w="0">
            <a:noFill/>
            <a:prstDash val="solid"/>
          </a:ln>
        </p:spPr>
        <p:txBody>
          <a:bodyPr wrap="square" lIns="0" tIns="0" rIns="0" bIns="0" anchor="t">
            <a:noAutofit/>
          </a:bodyPr>
          <a:lstStyle/>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a:ext uri="{FF2B5EF4-FFF2-40B4-BE49-F238E27FC236}">
                <a16:creationId xmlns:a16="http://schemas.microsoft.com/office/drawing/2014/main" id="{1940F821-DB94-4198-A67D-0F34539A9B01}"/>
              </a:ext>
            </a:extLst>
          </p:cNvPr>
          <p:cNvSpPr>
            <a:spLocks noGrp="1"/>
          </p:cNvSpPr>
          <p:nvPr/>
        </p:nvSpPr>
        <p:spPr>
          <a:xfrm>
            <a:off x="6667500" y="3448050"/>
            <a:ext cx="4286250" cy="3238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dirty="0">
                <a:solidFill>
                  <a:srgbClr val="5B6577"/>
                </a:solidFill>
                <a:latin typeface="Arial"/>
                <a:ea typeface="Arial"/>
                <a:cs typeface="Arial"/>
              </a:rPr>
              <a:t>Observable tags · bookmarks · labels · semantic retrieval</a:t>
            </a:r>
          </a:p>
        </p:txBody>
      </p:sp>
      <p:sp>
        <p:nvSpPr>
          <p:cNvPr id="14" name="Rettangolo 13">
            <a:extLst>
              <a:ext uri="{FF2B5EF4-FFF2-40B4-BE49-F238E27FC236}">
                <a16:creationId xmlns:a16="http://schemas.microsoft.com/office/drawing/2014/main" id="{88C109F7-273D-459C-BB14-90A9205313D4}"/>
              </a:ext>
            </a:extLst>
          </p:cNvPr>
          <p:cNvSpPr>
            <a:spLocks noGrp="1"/>
          </p:cNvSpPr>
          <p:nvPr/>
        </p:nvSpPr>
        <p:spPr>
          <a:xfrm>
            <a:off x="685800" y="4457700"/>
            <a:ext cx="10820400" cy="24765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EVALUATION PATHS</a:t>
            </a:r>
          </a:p>
        </p:txBody>
      </p:sp>
      <p:sp>
        <p:nvSpPr>
          <p:cNvPr id="15" name="Rettangolo con angoli arrotondati 14">
            <a:extLst>
              <a:ext uri="{FF2B5EF4-FFF2-40B4-BE49-F238E27FC236}">
                <a16:creationId xmlns:a16="http://schemas.microsoft.com/office/drawing/2014/main" id="{D0FAD262-96F1-4338-83F7-F0766FE9CDD5}"/>
              </a:ext>
            </a:extLst>
          </p:cNvPr>
          <p:cNvSpPr>
            <a:spLocks noGrp="1"/>
          </p:cNvSpPr>
          <p:nvPr/>
        </p:nvSpPr>
        <p:spPr>
          <a:xfrm>
            <a:off x="685800" y="4857750"/>
            <a:ext cx="3505200" cy="1104900"/>
          </a:xfrm>
          <a:prstGeom prst="roundRect">
            <a:avLst>
              <a:gd name="adj" fmla="val 12069"/>
            </a:avLst>
          </a:prstGeom>
          <a:solidFill>
            <a:srgbClr val="FBEAEA"/>
          </a:solidFill>
          <a:ln w="0">
            <a:noFill/>
            <a:prstDash val="solid"/>
          </a:ln>
        </p:spPr>
        <p:txBody>
          <a:bodyPr/>
          <a:lstStyle/>
          <a:p>
            <a:endParaRPr/>
          </a:p>
        </p:txBody>
      </p:sp>
      <p:sp>
        <p:nvSpPr>
          <p:cNvPr id="16" name="Rettangolo 15">
            <a:extLst>
              <a:ext uri="{FF2B5EF4-FFF2-40B4-BE49-F238E27FC236}">
                <a16:creationId xmlns:a16="http://schemas.microsoft.com/office/drawing/2014/main" id="{A1BC2A9B-3EA3-421B-B9EF-D8552CAA31A6}"/>
              </a:ext>
            </a:extLst>
          </p:cNvPr>
          <p:cNvSpPr>
            <a:spLocks noGrp="1"/>
          </p:cNvSpPr>
          <p:nvPr/>
        </p:nvSpPr>
        <p:spPr>
          <a:xfrm>
            <a:off x="8572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SOURCE MODEL</a:t>
            </a:r>
          </a:p>
        </p:txBody>
      </p:sp>
      <p:sp>
        <p:nvSpPr>
          <p:cNvPr id="17" name="Rettangolo 16">
            <a:extLst>
              <a:ext uri="{FF2B5EF4-FFF2-40B4-BE49-F238E27FC236}">
                <a16:creationId xmlns:a16="http://schemas.microsoft.com/office/drawing/2014/main" id="{F37C7E16-C6EA-40E2-8936-26BD745EF6C6}"/>
              </a:ext>
            </a:extLst>
          </p:cNvPr>
          <p:cNvSpPr>
            <a:spLocks noGrp="1"/>
          </p:cNvSpPr>
          <p:nvPr/>
        </p:nvSpPr>
        <p:spPr>
          <a:xfrm>
            <a:off x="9144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EfficientNet-B0: source-model evaluation</a:t>
            </a:r>
          </a:p>
        </p:txBody>
      </p:sp>
      <p:sp>
        <p:nvSpPr>
          <p:cNvPr id="18" name="Rettangolo con angoli arrotondati 17">
            <a:extLst>
              <a:ext uri="{FF2B5EF4-FFF2-40B4-BE49-F238E27FC236}">
                <a16:creationId xmlns:a16="http://schemas.microsoft.com/office/drawing/2014/main" id="{FC128AEF-92C5-4E35-BDB3-6D38879C6AD4}"/>
              </a:ext>
            </a:extLst>
          </p:cNvPr>
          <p:cNvSpPr>
            <a:spLocks noGrp="1"/>
          </p:cNvSpPr>
          <p:nvPr/>
        </p:nvSpPr>
        <p:spPr>
          <a:xfrm>
            <a:off x="4343400" y="4857750"/>
            <a:ext cx="3505200" cy="1104900"/>
          </a:xfrm>
          <a:prstGeom prst="roundRect">
            <a:avLst>
              <a:gd name="adj" fmla="val 12069"/>
            </a:avLst>
          </a:prstGeom>
          <a:solidFill>
            <a:srgbClr val="FFF4CD"/>
          </a:solidFill>
          <a:ln w="0">
            <a:noFill/>
            <a:prstDash val="solid"/>
          </a:ln>
        </p:spPr>
        <p:txBody>
          <a:bodyPr/>
          <a:lstStyle/>
          <a:p>
            <a:endParaRPr/>
          </a:p>
        </p:txBody>
      </p:sp>
      <p:sp>
        <p:nvSpPr>
          <p:cNvPr id="19" name="Rettangolo 18">
            <a:extLst>
              <a:ext uri="{FF2B5EF4-FFF2-40B4-BE49-F238E27FC236}">
                <a16:creationId xmlns:a16="http://schemas.microsoft.com/office/drawing/2014/main" id="{2CE88DA7-3406-417C-9434-A21622865CD5}"/>
              </a:ext>
            </a:extLst>
          </p:cNvPr>
          <p:cNvSpPr>
            <a:spLocks noGrp="1"/>
          </p:cNvSpPr>
          <p:nvPr/>
        </p:nvSpPr>
        <p:spPr>
          <a:xfrm>
            <a:off x="45148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TRANSFER / RESPONSE</a:t>
            </a:r>
          </a:p>
        </p:txBody>
      </p:sp>
      <p:sp>
        <p:nvSpPr>
          <p:cNvPr id="20" name="Rettangolo 19">
            <a:extLst>
              <a:ext uri="{FF2B5EF4-FFF2-40B4-BE49-F238E27FC236}">
                <a16:creationId xmlns:a16="http://schemas.microsoft.com/office/drawing/2014/main" id="{3B11CD2C-E9E6-4F62-8369-743441D1FC5E}"/>
              </a:ext>
            </a:extLst>
          </p:cNvPr>
          <p:cNvSpPr>
            <a:spLocks noGrp="1"/>
          </p:cNvSpPr>
          <p:nvPr/>
        </p:nvSpPr>
        <p:spPr>
          <a:xfrm>
            <a:off x="45720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Proxy transfer · commercial empirical response</a:t>
            </a:r>
          </a:p>
        </p:txBody>
      </p:sp>
      <p:sp>
        <p:nvSpPr>
          <p:cNvPr id="21" name="Rettangolo con angoli arrotondati 20">
            <a:extLst>
              <a:ext uri="{FF2B5EF4-FFF2-40B4-BE49-F238E27FC236}">
                <a16:creationId xmlns:a16="http://schemas.microsoft.com/office/drawing/2014/main" id="{67DA1114-C657-4C88-BA6D-0A11C4C0C09D}"/>
              </a:ext>
            </a:extLst>
          </p:cNvPr>
          <p:cNvSpPr>
            <a:spLocks noGrp="1"/>
          </p:cNvSpPr>
          <p:nvPr/>
        </p:nvSpPr>
        <p:spPr>
          <a:xfrm>
            <a:off x="8001000" y="4857750"/>
            <a:ext cx="3505200" cy="1104900"/>
          </a:xfrm>
          <a:prstGeom prst="roundRect">
            <a:avLst>
              <a:gd name="adj" fmla="val 12069"/>
            </a:avLst>
          </a:prstGeom>
          <a:solidFill>
            <a:srgbClr val="E7F8F0"/>
          </a:solidFill>
          <a:ln w="0">
            <a:noFill/>
            <a:prstDash val="solid"/>
          </a:ln>
        </p:spPr>
        <p:txBody>
          <a:bodyPr/>
          <a:lstStyle/>
          <a:p>
            <a:endParaRPr/>
          </a:p>
        </p:txBody>
      </p:sp>
      <p:sp>
        <p:nvSpPr>
          <p:cNvPr id="22" name="Rettangolo 21">
            <a:extLst>
              <a:ext uri="{FF2B5EF4-FFF2-40B4-BE49-F238E27FC236}">
                <a16:creationId xmlns:a16="http://schemas.microsoft.com/office/drawing/2014/main" id="{28CECFA8-8A49-4567-8CE6-BD12F2E08422}"/>
              </a:ext>
            </a:extLst>
          </p:cNvPr>
          <p:cNvSpPr>
            <a:spLocks noGrp="1"/>
          </p:cNvSpPr>
          <p:nvPr/>
        </p:nvSpPr>
        <p:spPr>
          <a:xfrm>
            <a:off x="81724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a:ext uri="{FF2B5EF4-FFF2-40B4-BE49-F238E27FC236}">
                <a16:creationId xmlns:a16="http://schemas.microsoft.com/office/drawing/2014/main" id="{C604F757-AFD3-46F8-BFBF-FDE0793FAF4D}"/>
              </a:ext>
            </a:extLst>
          </p:cNvPr>
          <p:cNvSpPr>
            <a:spLocks noGrp="1"/>
          </p:cNvSpPr>
          <p:nvPr/>
        </p:nvSpPr>
        <p:spPr>
          <a:xfrm>
            <a:off x="82296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70016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81E6EA5E-1BA3-4F66-A39C-B36EC754644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030D2A4-C965-47CF-8557-481DDBF7BAD0}"/>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a:ext uri="{FF2B5EF4-FFF2-40B4-BE49-F238E27FC236}">
                <a16:creationId xmlns:a16="http://schemas.microsoft.com/office/drawing/2014/main" id="{574AC689-33AE-4188-BD30-A98CE3C1F13C}"/>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89D44508-8BE4-44DA-A23D-C69ABEFD103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874DB88-CD45-410D-B418-22DA962B98F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07</a:t>
            </a:r>
          </a:p>
        </p:txBody>
      </p:sp>
      <p:sp>
        <p:nvSpPr>
          <p:cNvPr id="6" name="Rettangolo 5">
            <a:extLst>
              <a:ext uri="{FF2B5EF4-FFF2-40B4-BE49-F238E27FC236}">
                <a16:creationId xmlns:a16="http://schemas.microsoft.com/office/drawing/2014/main" id="{C4E232F5-EA03-4FB1-8CD5-60017B2B3666}"/>
              </a:ext>
            </a:extLst>
          </p:cNvPr>
          <p:cNvSpPr>
            <a:spLocks noGrp="1"/>
          </p:cNvSpPr>
          <p:nvPr/>
        </p:nvSpPr>
        <p:spPr>
          <a:xfrm>
            <a:off x="1733550" y="2266950"/>
            <a:ext cx="8724900" cy="57150"/>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A546D0B0-58E3-4310-ABD1-CC65AA1F65B9}"/>
              </a:ext>
            </a:extLst>
          </p:cNvPr>
          <p:cNvSpPr>
            <a:spLocks noGrp="1"/>
          </p:cNvSpPr>
          <p:nvPr/>
        </p:nvSpPr>
        <p:spPr>
          <a:xfrm>
            <a:off x="6858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A81CFEC4-5E35-4C15-A807-197F3453E411}"/>
              </a:ext>
            </a:extLst>
          </p:cNvPr>
          <p:cNvSpPr>
            <a:spLocks noGrp="1"/>
          </p:cNvSpPr>
          <p:nvPr/>
        </p:nvSpPr>
        <p:spPr>
          <a:xfrm>
            <a:off x="8572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a:ext uri="{FF2B5EF4-FFF2-40B4-BE49-F238E27FC236}">
                <a16:creationId xmlns:a16="http://schemas.microsoft.com/office/drawing/2014/main" id="{0C82864D-2992-412D-87C9-C8116242CB92}"/>
              </a:ext>
            </a:extLst>
          </p:cNvPr>
          <p:cNvSpPr>
            <a:spLocks noGrp="1"/>
          </p:cNvSpPr>
          <p:nvPr/>
        </p:nvSpPr>
        <p:spPr>
          <a:xfrm>
            <a:off x="8572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a:ext uri="{FF2B5EF4-FFF2-40B4-BE49-F238E27FC236}">
                <a16:creationId xmlns:a16="http://schemas.microsoft.com/office/drawing/2014/main" id="{52BB320A-88DF-4212-9748-1A81E55A6509}"/>
              </a:ext>
            </a:extLst>
          </p:cNvPr>
          <p:cNvSpPr>
            <a:spLocks noGrp="1"/>
          </p:cNvSpPr>
          <p:nvPr/>
        </p:nvSpPr>
        <p:spPr>
          <a:xfrm>
            <a:off x="4762500" y="1657350"/>
            <a:ext cx="2667000" cy="1257300"/>
          </a:xfrm>
          <a:prstGeom prst="roundRect">
            <a:avLst>
              <a:gd name="adj" fmla="val 12121"/>
            </a:avLst>
          </a:prstGeom>
          <a:solidFill>
            <a:srgbClr val="E9EEF8"/>
          </a:solidFill>
          <a:ln w="9525">
            <a:solidFill>
              <a:srgbClr val="E9EEF8"/>
            </a:solidFill>
            <a:prstDash val="solid"/>
          </a:ln>
        </p:spPr>
        <p:txBody>
          <a:bodyPr/>
          <a:lstStyle/>
          <a:p>
            <a:endParaRPr/>
          </a:p>
        </p:txBody>
      </p:sp>
      <p:sp>
        <p:nvSpPr>
          <p:cNvPr id="11" name="Rettangolo 10">
            <a:extLst>
              <a:ext uri="{FF2B5EF4-FFF2-40B4-BE49-F238E27FC236}">
                <a16:creationId xmlns:a16="http://schemas.microsoft.com/office/drawing/2014/main" id="{FD74F8E5-4D60-416B-B482-9CAE4E4D1E2F}"/>
              </a:ext>
            </a:extLst>
          </p:cNvPr>
          <p:cNvSpPr>
            <a:spLocks noGrp="1"/>
          </p:cNvSpPr>
          <p:nvPr/>
        </p:nvSpPr>
        <p:spPr>
          <a:xfrm>
            <a:off x="49339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a:ext uri="{FF2B5EF4-FFF2-40B4-BE49-F238E27FC236}">
                <a16:creationId xmlns:a16="http://schemas.microsoft.com/office/drawing/2014/main" id="{6EB043F8-9E47-4F79-A3FB-61719463254C}"/>
              </a:ext>
            </a:extLst>
          </p:cNvPr>
          <p:cNvSpPr>
            <a:spLocks noGrp="1"/>
          </p:cNvSpPr>
          <p:nvPr/>
        </p:nvSpPr>
        <p:spPr>
          <a:xfrm>
            <a:off x="49339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a:ext uri="{FF2B5EF4-FFF2-40B4-BE49-F238E27FC236}">
                <a16:creationId xmlns:a16="http://schemas.microsoft.com/office/drawing/2014/main" id="{3BB1E76B-72A2-4DBC-842E-AEA144C0BA95}"/>
              </a:ext>
            </a:extLst>
          </p:cNvPr>
          <p:cNvSpPr>
            <a:spLocks noGrp="1"/>
          </p:cNvSpPr>
          <p:nvPr/>
        </p:nvSpPr>
        <p:spPr>
          <a:xfrm>
            <a:off x="88392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14" name="Rettangolo 13">
            <a:extLst>
              <a:ext uri="{FF2B5EF4-FFF2-40B4-BE49-F238E27FC236}">
                <a16:creationId xmlns:a16="http://schemas.microsoft.com/office/drawing/2014/main" id="{A556E7B6-FC90-493A-BF1D-397EFBDE7A22}"/>
              </a:ext>
            </a:extLst>
          </p:cNvPr>
          <p:cNvSpPr>
            <a:spLocks noGrp="1"/>
          </p:cNvSpPr>
          <p:nvPr/>
        </p:nvSpPr>
        <p:spPr>
          <a:xfrm>
            <a:off x="90106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a:ext uri="{FF2B5EF4-FFF2-40B4-BE49-F238E27FC236}">
                <a16:creationId xmlns:a16="http://schemas.microsoft.com/office/drawing/2014/main" id="{7D3EA51E-91B9-4C0F-9EBE-F9DF968A206F}"/>
              </a:ext>
            </a:extLst>
          </p:cNvPr>
          <p:cNvSpPr>
            <a:spLocks noGrp="1"/>
          </p:cNvSpPr>
          <p:nvPr/>
        </p:nvSpPr>
        <p:spPr>
          <a:xfrm>
            <a:off x="90106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a:ext uri="{FF2B5EF4-FFF2-40B4-BE49-F238E27FC236}">
                <a16:creationId xmlns:a16="http://schemas.microsoft.com/office/drawing/2014/main" id="{4063CCF0-7B01-49ED-91C7-126039BFBC3F}"/>
              </a:ext>
            </a:extLst>
          </p:cNvPr>
          <p:cNvSpPr>
            <a:spLocks noGrp="1"/>
          </p:cNvSpPr>
          <p:nvPr/>
        </p:nvSpPr>
        <p:spPr>
          <a:xfrm>
            <a:off x="35909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a:ext uri="{FF2B5EF4-FFF2-40B4-BE49-F238E27FC236}">
                <a16:creationId xmlns:a16="http://schemas.microsoft.com/office/drawing/2014/main" id="{2F1F406C-D78B-4AA1-80BA-9D9321429CEC}"/>
              </a:ext>
            </a:extLst>
          </p:cNvPr>
          <p:cNvSpPr>
            <a:spLocks noGrp="1"/>
          </p:cNvSpPr>
          <p:nvPr/>
        </p:nvSpPr>
        <p:spPr>
          <a:xfrm>
            <a:off x="76676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a:ext uri="{FF2B5EF4-FFF2-40B4-BE49-F238E27FC236}">
                <a16:creationId xmlns:a16="http://schemas.microsoft.com/office/drawing/2014/main" id="{91253F60-E8B5-495D-AEBF-8CC9D8FD6960}"/>
              </a:ext>
            </a:extLst>
          </p:cNvPr>
          <p:cNvSpPr>
            <a:spLocks noGrp="1"/>
          </p:cNvSpPr>
          <p:nvPr/>
        </p:nvSpPr>
        <p:spPr>
          <a:xfrm>
            <a:off x="106680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a:ext uri="{FF2B5EF4-FFF2-40B4-BE49-F238E27FC236}">
                <a16:creationId xmlns:a16="http://schemas.microsoft.com/office/drawing/2014/main" id="{BC8311FB-C066-4072-B667-B34AD4D0E420}"/>
              </a:ext>
            </a:extLst>
          </p:cNvPr>
          <p:cNvSpPr>
            <a:spLocks noGrp="1"/>
          </p:cNvSpPr>
          <p:nvPr/>
        </p:nvSpPr>
        <p:spPr>
          <a:xfrm>
            <a:off x="106680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a:ext uri="{FF2B5EF4-FFF2-40B4-BE49-F238E27FC236}">
                <a16:creationId xmlns:a16="http://schemas.microsoft.com/office/drawing/2014/main" id="{97D0AD05-5F40-433E-89C0-32EEE5F2F868}"/>
              </a:ext>
            </a:extLst>
          </p:cNvPr>
          <p:cNvSpPr>
            <a:spLocks noGrp="1"/>
          </p:cNvSpPr>
          <p:nvPr/>
        </p:nvSpPr>
        <p:spPr>
          <a:xfrm>
            <a:off x="106680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a:ext uri="{FF2B5EF4-FFF2-40B4-BE49-F238E27FC236}">
                <a16:creationId xmlns:a16="http://schemas.microsoft.com/office/drawing/2014/main" id="{5E474FE5-9B28-42E6-B688-9EA5D69086EE}"/>
              </a:ext>
            </a:extLst>
          </p:cNvPr>
          <p:cNvSpPr>
            <a:spLocks noGrp="1"/>
          </p:cNvSpPr>
          <p:nvPr/>
        </p:nvSpPr>
        <p:spPr>
          <a:xfrm>
            <a:off x="6076950" y="3390900"/>
            <a:ext cx="28575" cy="1809750"/>
          </a:xfrm>
          <a:prstGeom prst="rect">
            <a:avLst/>
          </a:prstGeom>
          <a:solidFill>
            <a:srgbClr val="D9DEE8"/>
          </a:solidFill>
          <a:ln w="0">
            <a:noFill/>
            <a:prstDash val="solid"/>
          </a:ln>
        </p:spPr>
        <p:txBody>
          <a:bodyPr/>
          <a:lstStyle/>
          <a:p>
            <a:endParaRPr/>
          </a:p>
        </p:txBody>
      </p:sp>
      <p:sp>
        <p:nvSpPr>
          <p:cNvPr id="22" name="Rettangolo 21">
            <a:extLst>
              <a:ext uri="{FF2B5EF4-FFF2-40B4-BE49-F238E27FC236}">
                <a16:creationId xmlns:a16="http://schemas.microsoft.com/office/drawing/2014/main" id="{A074807C-4784-4903-B750-5BECA1BD3546}"/>
              </a:ext>
            </a:extLst>
          </p:cNvPr>
          <p:cNvSpPr>
            <a:spLocks noGrp="1"/>
          </p:cNvSpPr>
          <p:nvPr/>
        </p:nvSpPr>
        <p:spPr>
          <a:xfrm>
            <a:off x="702945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a:ext uri="{FF2B5EF4-FFF2-40B4-BE49-F238E27FC236}">
                <a16:creationId xmlns:a16="http://schemas.microsoft.com/office/drawing/2014/main" id="{5FC9D189-EFC1-4DC8-81D2-005B26D5BFA5}"/>
              </a:ext>
            </a:extLst>
          </p:cNvPr>
          <p:cNvSpPr>
            <a:spLocks noGrp="1"/>
          </p:cNvSpPr>
          <p:nvPr/>
        </p:nvSpPr>
        <p:spPr>
          <a:xfrm>
            <a:off x="702945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a:ext uri="{FF2B5EF4-FFF2-40B4-BE49-F238E27FC236}">
                <a16:creationId xmlns:a16="http://schemas.microsoft.com/office/drawing/2014/main" id="{C1CE03FA-0D68-42C1-89E8-C743E7BB7F52}"/>
              </a:ext>
            </a:extLst>
          </p:cNvPr>
          <p:cNvSpPr>
            <a:spLocks noGrp="1"/>
          </p:cNvSpPr>
          <p:nvPr/>
        </p:nvSpPr>
        <p:spPr>
          <a:xfrm>
            <a:off x="702945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a:ext uri="{FF2B5EF4-FFF2-40B4-BE49-F238E27FC236}">
                <a16:creationId xmlns:a16="http://schemas.microsoft.com/office/drawing/2014/main" id="{679C6CA1-E422-4B3D-A1C4-68A1B04782DB}"/>
              </a:ext>
            </a:extLst>
          </p:cNvPr>
          <p:cNvSpPr>
            <a:spLocks noGrp="1"/>
          </p:cNvSpPr>
          <p:nvPr/>
        </p:nvSpPr>
        <p:spPr>
          <a:xfrm>
            <a:off x="1790700" y="5429250"/>
            <a:ext cx="8610600" cy="552450"/>
          </a:xfrm>
          <a:prstGeom prst="roundRect">
            <a:avLst>
              <a:gd name="adj" fmla="val 24138"/>
            </a:avLst>
          </a:prstGeom>
          <a:solidFill>
            <a:srgbClr val="E7F8F0"/>
          </a:solidFill>
          <a:ln w="0">
            <a:noFill/>
            <a:prstDash val="solid"/>
          </a:ln>
        </p:spPr>
        <p:txBody>
          <a:bodyPr/>
          <a:lstStyle/>
          <a:p>
            <a:endParaRPr/>
          </a:p>
        </p:txBody>
      </p:sp>
      <p:sp>
        <p:nvSpPr>
          <p:cNvPr id="26" name="Rettangolo 25">
            <a:extLst>
              <a:ext uri="{FF2B5EF4-FFF2-40B4-BE49-F238E27FC236}">
                <a16:creationId xmlns:a16="http://schemas.microsoft.com/office/drawing/2014/main" id="{9AC02F13-9E37-4088-8708-E1F14BE825A7}"/>
              </a:ext>
            </a:extLst>
          </p:cNvPr>
          <p:cNvSpPr>
            <a:spLocks noGrp="1"/>
          </p:cNvSpPr>
          <p:nvPr/>
        </p:nvSpPr>
        <p:spPr>
          <a:xfrm>
            <a:off x="2038350" y="5581650"/>
            <a:ext cx="8115300" cy="2476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1623973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5" name="Rettangolo 34">
            <a:extLst>
              <a:ext uri="{FF2B5EF4-FFF2-40B4-BE49-F238E27FC236}">
                <a16:creationId xmlns:a16="http://schemas.microsoft.com/office/drawing/2014/main" id="{B682DB6E-8EFB-4DA0-800D-68D826B1831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C2FB14A-91A6-468C-9FBC-56EB8791369E}"/>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Source-model collapse did not transfer uniformly</a:t>
            </a:r>
          </a:p>
        </p:txBody>
      </p:sp>
      <p:sp>
        <p:nvSpPr>
          <p:cNvPr id="3" name="Rettangolo 2">
            <a:extLst>
              <a:ext uri="{FF2B5EF4-FFF2-40B4-BE49-F238E27FC236}">
                <a16:creationId xmlns:a16="http://schemas.microsoft.com/office/drawing/2014/main" id="{C191ECC7-CDAF-4D9F-AF0A-FC4F6D1F8648}"/>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4E86AFB-EC30-4BB1-A97A-884CD498C0D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1BC9993-142B-4F39-8B3D-F8FBFA60361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08</a:t>
            </a:r>
          </a:p>
        </p:txBody>
      </p:sp>
      <p:sp>
        <p:nvSpPr>
          <p:cNvPr id="6" name="Rettangolo 5">
            <a:extLst>
              <a:ext uri="{FF2B5EF4-FFF2-40B4-BE49-F238E27FC236}">
                <a16:creationId xmlns:a16="http://schemas.microsoft.com/office/drawing/2014/main" id="{16658F52-9BE9-415C-BF14-A5CB15AB43AB}"/>
              </a:ext>
            </a:extLst>
          </p:cNvPr>
          <p:cNvSpPr>
            <a:spLocks noGrp="1"/>
          </p:cNvSpPr>
          <p:nvPr/>
        </p:nvSpPr>
        <p:spPr>
          <a:xfrm>
            <a:off x="685800" y="1257300"/>
            <a:ext cx="108204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a:ext uri="{FF2B5EF4-FFF2-40B4-BE49-F238E27FC236}">
                <a16:creationId xmlns:a16="http://schemas.microsoft.com/office/drawing/2014/main" id="{56AE85E9-0E8F-4E95-8EC0-7B131EEDAC00}"/>
              </a:ext>
            </a:extLst>
          </p:cNvPr>
          <p:cNvSpPr>
            <a:spLocks noGrp="1"/>
          </p:cNvSpPr>
          <p:nvPr/>
        </p:nvSpPr>
        <p:spPr>
          <a:xfrm>
            <a:off x="68580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9577C2D9-78D1-4F27-ABC7-FD9633E30F4D}"/>
              </a:ext>
            </a:extLst>
          </p:cNvPr>
          <p:cNvSpPr>
            <a:spLocks noGrp="1"/>
          </p:cNvSpPr>
          <p:nvPr/>
        </p:nvSpPr>
        <p:spPr>
          <a:xfrm>
            <a:off x="87630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a:ext uri="{FF2B5EF4-FFF2-40B4-BE49-F238E27FC236}">
                <a16:creationId xmlns:a16="http://schemas.microsoft.com/office/drawing/2014/main" id="{2E82C4FA-E336-46EA-9A84-371A09CA3AEA}"/>
              </a:ext>
            </a:extLst>
          </p:cNvPr>
          <p:cNvSpPr>
            <a:spLocks noGrp="1"/>
          </p:cNvSpPr>
          <p:nvPr/>
        </p:nvSpPr>
        <p:spPr>
          <a:xfrm>
            <a:off x="87630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a:ext uri="{FF2B5EF4-FFF2-40B4-BE49-F238E27FC236}">
                <a16:creationId xmlns:a16="http://schemas.microsoft.com/office/drawing/2014/main" id="{70F2D2A0-02D8-4A6B-9903-BE856DE2D296}"/>
              </a:ext>
            </a:extLst>
          </p:cNvPr>
          <p:cNvSpPr>
            <a:spLocks noGrp="1"/>
          </p:cNvSpPr>
          <p:nvPr/>
        </p:nvSpPr>
        <p:spPr>
          <a:xfrm>
            <a:off x="87630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a:ext uri="{FF2B5EF4-FFF2-40B4-BE49-F238E27FC236}">
                <a16:creationId xmlns:a16="http://schemas.microsoft.com/office/drawing/2014/main" id="{49D9FAB2-354F-4D6E-AEB6-D07E9821938A}"/>
              </a:ext>
            </a:extLst>
          </p:cNvPr>
          <p:cNvSpPr>
            <a:spLocks noGrp="1"/>
          </p:cNvSpPr>
          <p:nvPr/>
        </p:nvSpPr>
        <p:spPr>
          <a:xfrm>
            <a:off x="190500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a:ext uri="{FF2B5EF4-FFF2-40B4-BE49-F238E27FC236}">
                <a16:creationId xmlns:a16="http://schemas.microsoft.com/office/drawing/2014/main" id="{F996CD3D-5C3A-40B2-A13D-7A62926E9BE4}"/>
              </a:ext>
            </a:extLst>
          </p:cNvPr>
          <p:cNvSpPr>
            <a:spLocks noGrp="1"/>
          </p:cNvSpPr>
          <p:nvPr/>
        </p:nvSpPr>
        <p:spPr>
          <a:xfrm>
            <a:off x="276225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a:ext uri="{FF2B5EF4-FFF2-40B4-BE49-F238E27FC236}">
                <a16:creationId xmlns:a16="http://schemas.microsoft.com/office/drawing/2014/main" id="{A0E55963-0CB1-4969-8E2A-F4EB81ADF8D4}"/>
              </a:ext>
            </a:extLst>
          </p:cNvPr>
          <p:cNvSpPr>
            <a:spLocks noGrp="1"/>
          </p:cNvSpPr>
          <p:nvPr/>
        </p:nvSpPr>
        <p:spPr>
          <a:xfrm>
            <a:off x="87630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a:ext uri="{FF2B5EF4-FFF2-40B4-BE49-F238E27FC236}">
                <a16:creationId xmlns:a16="http://schemas.microsoft.com/office/drawing/2014/main" id="{BF5BB6F7-3575-4024-AC7F-C44206587777}"/>
              </a:ext>
            </a:extLst>
          </p:cNvPr>
          <p:cNvSpPr>
            <a:spLocks noGrp="1"/>
          </p:cNvSpPr>
          <p:nvPr/>
        </p:nvSpPr>
        <p:spPr>
          <a:xfrm>
            <a:off x="1019175" y="4514850"/>
            <a:ext cx="2667000" cy="552450"/>
          </a:xfrm>
          <a:prstGeom prst="roundRect">
            <a:avLst>
              <a:gd name="adj" fmla="val 20690"/>
            </a:avLst>
          </a:prstGeom>
          <a:solidFill>
            <a:srgbClr val="FBEAEA"/>
          </a:solidFill>
          <a:ln w="0">
            <a:noFill/>
            <a:prstDash val="solid"/>
          </a:ln>
        </p:spPr>
        <p:txBody>
          <a:bodyPr/>
          <a:lstStyle/>
          <a:p>
            <a:endParaRPr/>
          </a:p>
        </p:txBody>
      </p:sp>
      <p:sp>
        <p:nvSpPr>
          <p:cNvPr id="15" name="Rettangolo 14">
            <a:extLst>
              <a:ext uri="{FF2B5EF4-FFF2-40B4-BE49-F238E27FC236}">
                <a16:creationId xmlns:a16="http://schemas.microsoft.com/office/drawing/2014/main" id="{AE6018B9-C8AD-41A8-89CA-38D39F49C678}"/>
              </a:ext>
            </a:extLst>
          </p:cNvPr>
          <p:cNvSpPr>
            <a:spLocks noGrp="1"/>
          </p:cNvSpPr>
          <p:nvPr/>
        </p:nvSpPr>
        <p:spPr>
          <a:xfrm>
            <a:off x="119062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source</a:t>
            </a:r>
          </a:p>
        </p:txBody>
      </p:sp>
      <p:sp>
        <p:nvSpPr>
          <p:cNvPr id="16" name="Rettangolo con angoli arrotondati 15">
            <a:extLst>
              <a:ext uri="{FF2B5EF4-FFF2-40B4-BE49-F238E27FC236}">
                <a16:creationId xmlns:a16="http://schemas.microsoft.com/office/drawing/2014/main" id="{9E2BCEBA-C7B6-438A-99BD-F49CB0486D2F}"/>
              </a:ext>
            </a:extLst>
          </p:cNvPr>
          <p:cNvSpPr>
            <a:spLocks noGrp="1"/>
          </p:cNvSpPr>
          <p:nvPr/>
        </p:nvSpPr>
        <p:spPr>
          <a:xfrm>
            <a:off x="4429125"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394FB914-142B-4176-B281-5AF8EAC4DD42}"/>
              </a:ext>
            </a:extLst>
          </p:cNvPr>
          <p:cNvSpPr>
            <a:spLocks noGrp="1"/>
          </p:cNvSpPr>
          <p:nvPr/>
        </p:nvSpPr>
        <p:spPr>
          <a:xfrm>
            <a:off x="4619625"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a:ext uri="{FF2B5EF4-FFF2-40B4-BE49-F238E27FC236}">
                <a16:creationId xmlns:a16="http://schemas.microsoft.com/office/drawing/2014/main" id="{90C27F24-DDCD-4476-BEE6-9730E13D6F09}"/>
              </a:ext>
            </a:extLst>
          </p:cNvPr>
          <p:cNvSpPr>
            <a:spLocks noGrp="1"/>
          </p:cNvSpPr>
          <p:nvPr/>
        </p:nvSpPr>
        <p:spPr>
          <a:xfrm>
            <a:off x="4619625"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a:ext uri="{FF2B5EF4-FFF2-40B4-BE49-F238E27FC236}">
                <a16:creationId xmlns:a16="http://schemas.microsoft.com/office/drawing/2014/main" id="{D2EDF698-9BB1-43E3-85CA-2599EF772F95}"/>
              </a:ext>
            </a:extLst>
          </p:cNvPr>
          <p:cNvSpPr>
            <a:spLocks noGrp="1"/>
          </p:cNvSpPr>
          <p:nvPr/>
        </p:nvSpPr>
        <p:spPr>
          <a:xfrm>
            <a:off x="4619625"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a:ext uri="{FF2B5EF4-FFF2-40B4-BE49-F238E27FC236}">
                <a16:creationId xmlns:a16="http://schemas.microsoft.com/office/drawing/2014/main" id="{D1C64AAB-74DE-49AE-9C87-6178540E0BD2}"/>
              </a:ext>
            </a:extLst>
          </p:cNvPr>
          <p:cNvSpPr>
            <a:spLocks noGrp="1"/>
          </p:cNvSpPr>
          <p:nvPr/>
        </p:nvSpPr>
        <p:spPr>
          <a:xfrm>
            <a:off x="5648325"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a:ext uri="{FF2B5EF4-FFF2-40B4-BE49-F238E27FC236}">
                <a16:creationId xmlns:a16="http://schemas.microsoft.com/office/drawing/2014/main" id="{2DF9C9FD-68A9-4B40-AB58-34AD20B34583}"/>
              </a:ext>
            </a:extLst>
          </p:cNvPr>
          <p:cNvSpPr>
            <a:spLocks noGrp="1"/>
          </p:cNvSpPr>
          <p:nvPr/>
        </p:nvSpPr>
        <p:spPr>
          <a:xfrm>
            <a:off x="6505575"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a:ext uri="{FF2B5EF4-FFF2-40B4-BE49-F238E27FC236}">
                <a16:creationId xmlns:a16="http://schemas.microsoft.com/office/drawing/2014/main" id="{492EA1CA-E94D-4529-9473-680D6960283D}"/>
              </a:ext>
            </a:extLst>
          </p:cNvPr>
          <p:cNvSpPr>
            <a:spLocks noGrp="1"/>
          </p:cNvSpPr>
          <p:nvPr/>
        </p:nvSpPr>
        <p:spPr>
          <a:xfrm>
            <a:off x="4619625"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a:ext uri="{FF2B5EF4-FFF2-40B4-BE49-F238E27FC236}">
                <a16:creationId xmlns:a16="http://schemas.microsoft.com/office/drawing/2014/main" id="{96FF0273-DED0-4DE2-8AA8-75586A24899D}"/>
              </a:ext>
            </a:extLst>
          </p:cNvPr>
          <p:cNvSpPr>
            <a:spLocks noGrp="1"/>
          </p:cNvSpPr>
          <p:nvPr/>
        </p:nvSpPr>
        <p:spPr>
          <a:xfrm>
            <a:off x="4762500" y="4514850"/>
            <a:ext cx="2667000" cy="552450"/>
          </a:xfrm>
          <a:prstGeom prst="roundRect">
            <a:avLst>
              <a:gd name="adj" fmla="val 20690"/>
            </a:avLst>
          </a:prstGeom>
          <a:solidFill>
            <a:srgbClr val="FFF4CD"/>
          </a:solidFill>
          <a:ln w="0">
            <a:noFill/>
            <a:prstDash val="solid"/>
          </a:ln>
        </p:spPr>
        <p:txBody>
          <a:bodyPr/>
          <a:lstStyle/>
          <a:p>
            <a:endParaRPr/>
          </a:p>
        </p:txBody>
      </p:sp>
      <p:sp>
        <p:nvSpPr>
          <p:cNvPr id="24" name="Rettangolo 23">
            <a:extLst>
              <a:ext uri="{FF2B5EF4-FFF2-40B4-BE49-F238E27FC236}">
                <a16:creationId xmlns:a16="http://schemas.microsoft.com/office/drawing/2014/main" id="{7F13BBE7-F396-45EB-8CD4-E163172E1B3A}"/>
              </a:ext>
            </a:extLst>
          </p:cNvPr>
          <p:cNvSpPr>
            <a:spLocks noGrp="1"/>
          </p:cNvSpPr>
          <p:nvPr/>
        </p:nvSpPr>
        <p:spPr>
          <a:xfrm>
            <a:off x="4933950"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a:ext uri="{FF2B5EF4-FFF2-40B4-BE49-F238E27FC236}">
                <a16:creationId xmlns:a16="http://schemas.microsoft.com/office/drawing/2014/main" id="{C70A0BA2-8F3B-41DC-9592-4F623D651E86}"/>
              </a:ext>
            </a:extLst>
          </p:cNvPr>
          <p:cNvSpPr>
            <a:spLocks noGrp="1"/>
          </p:cNvSpPr>
          <p:nvPr/>
        </p:nvSpPr>
        <p:spPr>
          <a:xfrm>
            <a:off x="817245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26" name="Rettangolo 25">
            <a:extLst>
              <a:ext uri="{FF2B5EF4-FFF2-40B4-BE49-F238E27FC236}">
                <a16:creationId xmlns:a16="http://schemas.microsoft.com/office/drawing/2014/main" id="{A98C1D30-9BE6-4F8C-9D4A-F416452798D5}"/>
              </a:ext>
            </a:extLst>
          </p:cNvPr>
          <p:cNvSpPr>
            <a:spLocks noGrp="1"/>
          </p:cNvSpPr>
          <p:nvPr/>
        </p:nvSpPr>
        <p:spPr>
          <a:xfrm>
            <a:off x="836295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a:ext uri="{FF2B5EF4-FFF2-40B4-BE49-F238E27FC236}">
                <a16:creationId xmlns:a16="http://schemas.microsoft.com/office/drawing/2014/main" id="{FA9C149E-EE01-4E65-8446-3CDAC9015D72}"/>
              </a:ext>
            </a:extLst>
          </p:cNvPr>
          <p:cNvSpPr>
            <a:spLocks noGrp="1"/>
          </p:cNvSpPr>
          <p:nvPr/>
        </p:nvSpPr>
        <p:spPr>
          <a:xfrm>
            <a:off x="836295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a:ext uri="{FF2B5EF4-FFF2-40B4-BE49-F238E27FC236}">
                <a16:creationId xmlns:a16="http://schemas.microsoft.com/office/drawing/2014/main" id="{980272C0-9E9C-4040-9C6C-D012524091C6}"/>
              </a:ext>
            </a:extLst>
          </p:cNvPr>
          <p:cNvSpPr>
            <a:spLocks noGrp="1"/>
          </p:cNvSpPr>
          <p:nvPr/>
        </p:nvSpPr>
        <p:spPr>
          <a:xfrm>
            <a:off x="836295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a:ext uri="{FF2B5EF4-FFF2-40B4-BE49-F238E27FC236}">
                <a16:creationId xmlns:a16="http://schemas.microsoft.com/office/drawing/2014/main" id="{B0237A4F-5EE2-4F91-A719-5C9D999C0C17}"/>
              </a:ext>
            </a:extLst>
          </p:cNvPr>
          <p:cNvSpPr>
            <a:spLocks noGrp="1"/>
          </p:cNvSpPr>
          <p:nvPr/>
        </p:nvSpPr>
        <p:spPr>
          <a:xfrm>
            <a:off x="939165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a:ext uri="{FF2B5EF4-FFF2-40B4-BE49-F238E27FC236}">
                <a16:creationId xmlns:a16="http://schemas.microsoft.com/office/drawing/2014/main" id="{E068C5AC-6F4C-4F36-A557-12E2AE1E13C0}"/>
              </a:ext>
            </a:extLst>
          </p:cNvPr>
          <p:cNvSpPr>
            <a:spLocks noGrp="1"/>
          </p:cNvSpPr>
          <p:nvPr/>
        </p:nvSpPr>
        <p:spPr>
          <a:xfrm>
            <a:off x="1024890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a:ext uri="{FF2B5EF4-FFF2-40B4-BE49-F238E27FC236}">
                <a16:creationId xmlns:a16="http://schemas.microsoft.com/office/drawing/2014/main" id="{B7F6DC36-2570-45E5-AFD1-8D49B963DBCB}"/>
              </a:ext>
            </a:extLst>
          </p:cNvPr>
          <p:cNvSpPr>
            <a:spLocks noGrp="1"/>
          </p:cNvSpPr>
          <p:nvPr/>
        </p:nvSpPr>
        <p:spPr>
          <a:xfrm>
            <a:off x="836295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a:ext uri="{FF2B5EF4-FFF2-40B4-BE49-F238E27FC236}">
                <a16:creationId xmlns:a16="http://schemas.microsoft.com/office/drawing/2014/main" id="{E0EF1A65-1CB2-42B0-B44F-2F0165D59CB8}"/>
              </a:ext>
            </a:extLst>
          </p:cNvPr>
          <p:cNvSpPr>
            <a:spLocks noGrp="1"/>
          </p:cNvSpPr>
          <p:nvPr/>
        </p:nvSpPr>
        <p:spPr>
          <a:xfrm>
            <a:off x="8505825" y="4514850"/>
            <a:ext cx="2667000" cy="552450"/>
          </a:xfrm>
          <a:prstGeom prst="roundRect">
            <a:avLst>
              <a:gd name="adj" fmla="val 20690"/>
            </a:avLst>
          </a:prstGeom>
          <a:solidFill>
            <a:srgbClr val="FFF4CD"/>
          </a:solidFill>
          <a:ln w="0">
            <a:noFill/>
            <a:prstDash val="solid"/>
          </a:ln>
        </p:spPr>
        <p:txBody>
          <a:bodyPr/>
          <a:lstStyle/>
          <a:p>
            <a:endParaRPr/>
          </a:p>
        </p:txBody>
      </p:sp>
      <p:sp>
        <p:nvSpPr>
          <p:cNvPr id="33" name="Rettangolo 32">
            <a:extLst>
              <a:ext uri="{FF2B5EF4-FFF2-40B4-BE49-F238E27FC236}">
                <a16:creationId xmlns:a16="http://schemas.microsoft.com/office/drawing/2014/main" id="{C72A86F9-3076-4133-A78E-82EB41F3A1D6}"/>
              </a:ext>
            </a:extLst>
          </p:cNvPr>
          <p:cNvSpPr>
            <a:spLocks noGrp="1"/>
          </p:cNvSpPr>
          <p:nvPr/>
        </p:nvSpPr>
        <p:spPr>
          <a:xfrm>
            <a:off x="867727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a:ext uri="{FF2B5EF4-FFF2-40B4-BE49-F238E27FC236}">
                <a16:creationId xmlns:a16="http://schemas.microsoft.com/office/drawing/2014/main" id="{83A62D01-9A99-4444-A378-62E9EAECF82E}"/>
              </a:ext>
            </a:extLst>
          </p:cNvPr>
          <p:cNvSpPr>
            <a:spLocks noGrp="1"/>
          </p:cNvSpPr>
          <p:nvPr/>
        </p:nvSpPr>
        <p:spPr>
          <a:xfrm>
            <a:off x="1428750" y="5753100"/>
            <a:ext cx="9334500" cy="26670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602715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ttangolo 9">
            <a:extLst>
              <a:ext uri="{FF2B5EF4-FFF2-40B4-BE49-F238E27FC236}">
                <a16:creationId xmlns:a16="http://schemas.microsoft.com/office/drawing/2014/main" id="{CBFBE0B0-4196-49D2-816F-6775E02BA4B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31AF1709-E0A2-40EF-88E7-6DDA26F6CFFD}"/>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responses depended on configuration</a:t>
            </a:r>
          </a:p>
        </p:txBody>
      </p:sp>
      <p:sp>
        <p:nvSpPr>
          <p:cNvPr id="3" name="Rettangolo 2">
            <a:extLst>
              <a:ext uri="{FF2B5EF4-FFF2-40B4-BE49-F238E27FC236}">
                <a16:creationId xmlns:a16="http://schemas.microsoft.com/office/drawing/2014/main" id="{3291F0CF-6083-4E3B-9AC2-0305E98F368E}"/>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565A18C7-FE67-4009-89BB-E8C6FE7C319D}"/>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C8DA42D-E2E5-4441-9FF6-841AA3906BA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09</a:t>
            </a:r>
          </a:p>
        </p:txBody>
      </p:sp>
      <p:pic>
        <p:nvPicPr>
          <p:cNvPr id="17" name="Picture 10"/>
          <p:cNvPicPr>
            <a:picLocks noChangeAspect="1"/>
          </p:cNvPicPr>
          <p:nvPr/>
        </p:nvPicPr>
        <p:blipFill>
          <a:blip r:embed="rId3"/>
          <a:srcRect/>
          <a:stretch>
            <a:fillRect/>
          </a:stretch>
        </p:blipFill>
        <p:spPr>
          <a:xfrm>
            <a:off x="944113" y="1257300"/>
            <a:ext cx="10303774" cy="4095750"/>
          </a:xfrm>
          <a:prstGeom prst="rect">
            <a:avLst/>
          </a:prstGeom>
        </p:spPr>
      </p:pic>
      <p:sp>
        <p:nvSpPr>
          <p:cNvPr id="7" name="Rettangolo con angoli arrotondati 6">
            <a:extLst>
              <a:ext uri="{FF2B5EF4-FFF2-40B4-BE49-F238E27FC236}">
                <a16:creationId xmlns:a16="http://schemas.microsoft.com/office/drawing/2014/main" id="{AF37DDE1-913C-46CF-A2F3-12C536DDA446}"/>
              </a:ext>
            </a:extLst>
          </p:cNvPr>
          <p:cNvSpPr>
            <a:spLocks noGrp="1"/>
          </p:cNvSpPr>
          <p:nvPr/>
        </p:nvSpPr>
        <p:spPr>
          <a:xfrm>
            <a:off x="1123950" y="5467350"/>
            <a:ext cx="9944100" cy="590550"/>
          </a:xfrm>
          <a:prstGeom prst="roundRect">
            <a:avLst>
              <a:gd name="adj" fmla="val 22581"/>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30C38F54-5C1E-4ADD-809B-B0B819F1C798}"/>
              </a:ext>
            </a:extLst>
          </p:cNvPr>
          <p:cNvSpPr>
            <a:spLocks noGrp="1"/>
          </p:cNvSpPr>
          <p:nvPr/>
        </p:nvSpPr>
        <p:spPr>
          <a:xfrm>
            <a:off x="1409700" y="5619750"/>
            <a:ext cx="9372600" cy="266700"/>
          </a:xfrm>
          <a:prstGeom prst="rect">
            <a:avLst/>
          </a:prstGeom>
          <a:noFill/>
          <a:ln w="0">
            <a:noFill/>
            <a:prstDash val="solid"/>
          </a:ln>
        </p:spPr>
        <p:txBody>
          <a:bodyPr wrap="square" lIns="0" tIns="0" rIns="0" bIns="0" anchor="t">
            <a:noAutofit/>
          </a:bodyPr>
          <a:lstStyle/>
          <a:p>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observed changes: Sigma Zero · Excire D50 −20.2 pp · D80 −25.8 pp</a:t>
            </a:r>
          </a:p>
        </p:txBody>
      </p:sp>
      <p:sp>
        <p:nvSpPr>
          <p:cNvPr id="9" name="Rettangolo 8">
            <a:extLst>
              <a:ext uri="{FF2B5EF4-FFF2-40B4-BE49-F238E27FC236}">
                <a16:creationId xmlns:a16="http://schemas.microsoft.com/office/drawing/2014/main" id="{25396EEC-0BD8-400F-A539-2C244EEA8DC5}"/>
              </a:ext>
            </a:extLst>
          </p:cNvPr>
          <p:cNvSpPr>
            <a:spLocks noGrp="1"/>
          </p:cNvSpPr>
          <p:nvPr/>
        </p:nvSpPr>
        <p:spPr>
          <a:xfrm>
            <a:off x="1524000" y="6115050"/>
            <a:ext cx="91440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EfficientNet-B0 artifacts · no matched clean representation control</a:t>
            </a:r>
          </a:p>
        </p:txBody>
      </p:sp>
    </p:spTree>
    <p:extLst>
      <p:ext uri="{BB962C8B-B14F-4D97-AF65-F5344CB8AC3E}">
        <p14:creationId xmlns:p14="http://schemas.microsoft.com/office/powerpoint/2010/main" val="1506196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99C5F556-E43B-4D5C-87AA-60CC7C8B790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2E59AA1-F424-40FD-9085-E34E23AA9D98}"/>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a:ext uri="{FF2B5EF4-FFF2-40B4-BE49-F238E27FC236}">
                <a16:creationId xmlns:a16="http://schemas.microsoft.com/office/drawing/2014/main" id="{36849F68-D7D6-4111-82DC-6F4B34B72431}"/>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336AF14B-E51D-40CF-BE63-CFC5A20414B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BEF75CF-FB0D-4A83-BC3D-ED743ECD537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10</a:t>
            </a:r>
          </a:p>
        </p:txBody>
      </p:sp>
      <p:sp>
        <p:nvSpPr>
          <p:cNvPr id="6" name="Rettangolo 5">
            <a:extLst>
              <a:ext uri="{FF2B5EF4-FFF2-40B4-BE49-F238E27FC236}">
                <a16:creationId xmlns:a16="http://schemas.microsoft.com/office/drawing/2014/main" id="{F4EDF8AC-4E92-461B-895C-53D1DB7355BF}"/>
              </a:ext>
            </a:extLst>
          </p:cNvPr>
          <p:cNvSpPr>
            <a:spLocks noGrp="1"/>
          </p:cNvSpPr>
          <p:nvPr/>
        </p:nvSpPr>
        <p:spPr>
          <a:xfrm>
            <a:off x="685800" y="1257300"/>
            <a:ext cx="752475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533400" y="1504950"/>
          <a:ext cx="7810500" cy="44005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B32211CA-359B-48C3-B5B4-E09B47E32F88}"/>
              </a:ext>
            </a:extLst>
          </p:cNvPr>
          <p:cNvSpPr>
            <a:spLocks noGrp="1"/>
          </p:cNvSpPr>
          <p:nvPr/>
        </p:nvSpPr>
        <p:spPr>
          <a:xfrm>
            <a:off x="8648700" y="1524000"/>
            <a:ext cx="2857500" cy="3829050"/>
          </a:xfrm>
          <a:prstGeom prst="roundRect">
            <a:avLst>
              <a:gd name="adj" fmla="val 6000"/>
            </a:avLst>
          </a:prstGeom>
          <a:solidFill>
            <a:srgbClr val="233A70"/>
          </a:solidFill>
          <a:ln w="0">
            <a:noFill/>
            <a:prstDash val="solid"/>
          </a:ln>
        </p:spPr>
        <p:txBody>
          <a:bodyPr/>
          <a:lstStyle/>
          <a:p>
            <a:endParaRPr/>
          </a:p>
        </p:txBody>
      </p:sp>
      <p:sp>
        <p:nvSpPr>
          <p:cNvPr id="9" name="Rettangolo 8">
            <a:extLst>
              <a:ext uri="{FF2B5EF4-FFF2-40B4-BE49-F238E27FC236}">
                <a16:creationId xmlns:a16="http://schemas.microsoft.com/office/drawing/2014/main" id="{AA5CA415-7615-47D2-9D36-55A55C537A04}"/>
              </a:ext>
            </a:extLst>
          </p:cNvPr>
          <p:cNvSpPr>
            <a:spLocks noGrp="1"/>
          </p:cNvSpPr>
          <p:nvPr/>
        </p:nvSpPr>
        <p:spPr>
          <a:xfrm>
            <a:off x="8877300" y="1809750"/>
            <a:ext cx="2400300" cy="2667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a:ext uri="{FF2B5EF4-FFF2-40B4-BE49-F238E27FC236}">
                <a16:creationId xmlns:a16="http://schemas.microsoft.com/office/drawing/2014/main" id="{650148F9-8ED3-4F66-9B1A-1A6CE4A7D735}"/>
              </a:ext>
            </a:extLst>
          </p:cNvPr>
          <p:cNvSpPr>
            <a:spLocks noGrp="1"/>
          </p:cNvSpPr>
          <p:nvPr/>
        </p:nvSpPr>
        <p:spPr>
          <a:xfrm>
            <a:off x="8877300" y="23622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a:ext uri="{FF2B5EF4-FFF2-40B4-BE49-F238E27FC236}">
                <a16:creationId xmlns:a16="http://schemas.microsoft.com/office/drawing/2014/main" id="{8A701E2C-D64D-4975-A8E0-8B4746B56A04}"/>
              </a:ext>
            </a:extLst>
          </p:cNvPr>
          <p:cNvSpPr>
            <a:spLocks noGrp="1"/>
          </p:cNvSpPr>
          <p:nvPr/>
        </p:nvSpPr>
        <p:spPr>
          <a:xfrm>
            <a:off x="8877300" y="27813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a:ext uri="{FF2B5EF4-FFF2-40B4-BE49-F238E27FC236}">
                <a16:creationId xmlns:a16="http://schemas.microsoft.com/office/drawing/2014/main" id="{005DAFCB-DAF8-45AC-A897-4BF08C50F272}"/>
              </a:ext>
            </a:extLst>
          </p:cNvPr>
          <p:cNvSpPr>
            <a:spLocks noGrp="1"/>
          </p:cNvSpPr>
          <p:nvPr/>
        </p:nvSpPr>
        <p:spPr>
          <a:xfrm>
            <a:off x="9163050" y="3219450"/>
            <a:ext cx="1828800" cy="19050"/>
          </a:xfrm>
          <a:prstGeom prst="rect">
            <a:avLst/>
          </a:prstGeom>
          <a:solidFill>
            <a:srgbClr val="536A9B"/>
          </a:solidFill>
          <a:ln w="0">
            <a:noFill/>
            <a:prstDash val="solid"/>
          </a:ln>
        </p:spPr>
        <p:txBody>
          <a:bodyPr/>
          <a:lstStyle/>
          <a:p>
            <a:endParaRPr/>
          </a:p>
        </p:txBody>
      </p:sp>
      <p:sp>
        <p:nvSpPr>
          <p:cNvPr id="13" name="Rettangolo 12">
            <a:extLst>
              <a:ext uri="{FF2B5EF4-FFF2-40B4-BE49-F238E27FC236}">
                <a16:creationId xmlns:a16="http://schemas.microsoft.com/office/drawing/2014/main" id="{16BAF519-5148-4A1A-B484-7B42D432C6F0}"/>
              </a:ext>
            </a:extLst>
          </p:cNvPr>
          <p:cNvSpPr>
            <a:spLocks noGrp="1"/>
          </p:cNvSpPr>
          <p:nvPr/>
        </p:nvSpPr>
        <p:spPr>
          <a:xfrm>
            <a:off x="8877300" y="344805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a:ext uri="{FF2B5EF4-FFF2-40B4-BE49-F238E27FC236}">
                <a16:creationId xmlns:a16="http://schemas.microsoft.com/office/drawing/2014/main" id="{F911A9A3-7270-4526-9632-3EC112625EF3}"/>
              </a:ext>
            </a:extLst>
          </p:cNvPr>
          <p:cNvSpPr>
            <a:spLocks noGrp="1"/>
          </p:cNvSpPr>
          <p:nvPr/>
        </p:nvSpPr>
        <p:spPr>
          <a:xfrm>
            <a:off x="8877300" y="386715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a:ext uri="{FF2B5EF4-FFF2-40B4-BE49-F238E27FC236}">
                <a16:creationId xmlns:a16="http://schemas.microsoft.com/office/drawing/2014/main" id="{39F04AF7-B86E-4DE5-B20C-93E90631CB11}"/>
              </a:ext>
            </a:extLst>
          </p:cNvPr>
          <p:cNvSpPr>
            <a:spLocks noGrp="1"/>
          </p:cNvSpPr>
          <p:nvPr/>
        </p:nvSpPr>
        <p:spPr>
          <a:xfrm>
            <a:off x="9163050" y="4305300"/>
            <a:ext cx="1828800" cy="19050"/>
          </a:xfrm>
          <a:prstGeom prst="rect">
            <a:avLst/>
          </a:prstGeom>
          <a:solidFill>
            <a:srgbClr val="536A9B"/>
          </a:solidFill>
          <a:ln w="0">
            <a:noFill/>
            <a:prstDash val="solid"/>
          </a:ln>
        </p:spPr>
        <p:txBody>
          <a:bodyPr/>
          <a:lstStyle/>
          <a:p>
            <a:endParaRPr/>
          </a:p>
        </p:txBody>
      </p:sp>
      <p:sp>
        <p:nvSpPr>
          <p:cNvPr id="16" name="Rettangolo 15">
            <a:extLst>
              <a:ext uri="{FF2B5EF4-FFF2-40B4-BE49-F238E27FC236}">
                <a16:creationId xmlns:a16="http://schemas.microsoft.com/office/drawing/2014/main" id="{EAAD1828-F238-4BA2-BD2C-60615842DC5B}"/>
              </a:ext>
            </a:extLst>
          </p:cNvPr>
          <p:cNvSpPr>
            <a:spLocks noGrp="1"/>
          </p:cNvSpPr>
          <p:nvPr/>
        </p:nvSpPr>
        <p:spPr>
          <a:xfrm>
            <a:off x="8877300" y="45339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a:ext uri="{FF2B5EF4-FFF2-40B4-BE49-F238E27FC236}">
                <a16:creationId xmlns:a16="http://schemas.microsoft.com/office/drawing/2014/main" id="{ABC4CE77-AF49-48BF-981A-8A6598910C9D}"/>
              </a:ext>
            </a:extLst>
          </p:cNvPr>
          <p:cNvSpPr>
            <a:spLocks noGrp="1"/>
          </p:cNvSpPr>
          <p:nvPr/>
        </p:nvSpPr>
        <p:spPr>
          <a:xfrm>
            <a:off x="8877300" y="49530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a:ext uri="{FF2B5EF4-FFF2-40B4-BE49-F238E27FC236}">
                <a16:creationId xmlns:a16="http://schemas.microsoft.com/office/drawing/2014/main" id="{AA7ACF6B-58A7-4567-977D-A10198E44E94}"/>
              </a:ext>
            </a:extLst>
          </p:cNvPr>
          <p:cNvSpPr>
            <a:spLocks noGrp="1"/>
          </p:cNvSpPr>
          <p:nvPr/>
        </p:nvSpPr>
        <p:spPr>
          <a:xfrm>
            <a:off x="1333500" y="6076950"/>
            <a:ext cx="9525000" cy="28575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18034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DED6D724-FE30-49AE-997C-C1887C78417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5EA681E0-927A-45B2-8337-239E5FF9E12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a:ext uri="{FF2B5EF4-FFF2-40B4-BE49-F238E27FC236}">
                <a16:creationId xmlns:a16="http://schemas.microsoft.com/office/drawing/2014/main" id="{02E27C31-8D1E-4BD3-8929-482DDDC7B9E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B23CCABE-2638-4044-8CC3-F8BDA96C8E5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2AC8A4D-2588-4B15-8350-592248936756}"/>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11</a:t>
            </a:r>
          </a:p>
        </p:txBody>
      </p:sp>
      <p:sp>
        <p:nvSpPr>
          <p:cNvPr id="6" name="Rettangolo 5">
            <a:extLst>
              <a:ext uri="{FF2B5EF4-FFF2-40B4-BE49-F238E27FC236}">
                <a16:creationId xmlns:a16="http://schemas.microsoft.com/office/drawing/2014/main" id="{C8C57C77-6DBD-44DA-9192-A78EE4E2B07D}"/>
              </a:ext>
            </a:extLst>
          </p:cNvPr>
          <p:cNvSpPr>
            <a:spLocks noGrp="1"/>
          </p:cNvSpPr>
          <p:nvPr/>
        </p:nvSpPr>
        <p:spPr>
          <a:xfrm>
            <a:off x="685800" y="1257300"/>
            <a:ext cx="78105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533400" y="1466850"/>
          <a:ext cx="80010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162DD1E9-B02D-4444-9572-E8249CCCA93D}"/>
              </a:ext>
            </a:extLst>
          </p:cNvPr>
          <p:cNvSpPr>
            <a:spLocks noGrp="1"/>
          </p:cNvSpPr>
          <p:nvPr/>
        </p:nvSpPr>
        <p:spPr>
          <a:xfrm>
            <a:off x="8858250" y="1619250"/>
            <a:ext cx="2647950" cy="1428750"/>
          </a:xfrm>
          <a:prstGeom prst="roundRect">
            <a:avLst>
              <a:gd name="adj" fmla="val 12000"/>
            </a:avLst>
          </a:prstGeom>
          <a:solidFill>
            <a:srgbClr val="FBEAEA"/>
          </a:solidFill>
          <a:ln w="0">
            <a:noFill/>
            <a:prstDash val="solid"/>
          </a:ln>
        </p:spPr>
        <p:txBody>
          <a:bodyPr/>
          <a:lstStyle/>
          <a:p>
            <a:endParaRPr/>
          </a:p>
        </p:txBody>
      </p:sp>
      <p:sp>
        <p:nvSpPr>
          <p:cNvPr id="9" name="Rettangolo 8">
            <a:extLst>
              <a:ext uri="{FF2B5EF4-FFF2-40B4-BE49-F238E27FC236}">
                <a16:creationId xmlns:a16="http://schemas.microsoft.com/office/drawing/2014/main" id="{C66F82BF-F8CF-4914-8747-DF7B49329C5C}"/>
              </a:ext>
            </a:extLst>
          </p:cNvPr>
          <p:cNvSpPr>
            <a:spLocks noGrp="1"/>
          </p:cNvSpPr>
          <p:nvPr/>
        </p:nvSpPr>
        <p:spPr>
          <a:xfrm>
            <a:off x="9048750" y="1943100"/>
            <a:ext cx="2266950" cy="571500"/>
          </a:xfrm>
          <a:prstGeom prst="rect">
            <a:avLst/>
          </a:prstGeom>
          <a:noFill/>
          <a:ln w="0">
            <a:noFill/>
            <a:prstDash val="solid"/>
          </a:ln>
        </p:spPr>
        <p:txBody>
          <a:bodyPr wrap="square" lIns="0" tIns="0" rIns="0" bIns="0" anchor="t">
            <a:noAutofit/>
          </a:bodyPr>
          <a:lstStyle/>
          <a:p>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a:ext uri="{FF2B5EF4-FFF2-40B4-BE49-F238E27FC236}">
                <a16:creationId xmlns:a16="http://schemas.microsoft.com/office/drawing/2014/main" id="{FB8121E6-B232-4F7B-975D-38945AFE3309}"/>
              </a:ext>
            </a:extLst>
          </p:cNvPr>
          <p:cNvSpPr>
            <a:spLocks noGrp="1"/>
          </p:cNvSpPr>
          <p:nvPr/>
        </p:nvSpPr>
        <p:spPr>
          <a:xfrm>
            <a:off x="9048750" y="259080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a:ext uri="{FF2B5EF4-FFF2-40B4-BE49-F238E27FC236}">
                <a16:creationId xmlns:a16="http://schemas.microsoft.com/office/drawing/2014/main" id="{C227376D-1F4B-4368-B470-3C3C554720A1}"/>
              </a:ext>
            </a:extLst>
          </p:cNvPr>
          <p:cNvSpPr>
            <a:spLocks noGrp="1"/>
          </p:cNvSpPr>
          <p:nvPr/>
        </p:nvSpPr>
        <p:spPr>
          <a:xfrm>
            <a:off x="8858250" y="3314700"/>
            <a:ext cx="2647950" cy="1428750"/>
          </a:xfrm>
          <a:prstGeom prst="roundRect">
            <a:avLst>
              <a:gd name="adj" fmla="val 12000"/>
            </a:avLst>
          </a:prstGeom>
          <a:solidFill>
            <a:srgbClr val="FFF4CD"/>
          </a:solidFill>
          <a:ln w="0">
            <a:noFill/>
            <a:prstDash val="solid"/>
          </a:ln>
        </p:spPr>
        <p:txBody>
          <a:bodyPr/>
          <a:lstStyle/>
          <a:p>
            <a:endParaRPr/>
          </a:p>
        </p:txBody>
      </p:sp>
      <p:sp>
        <p:nvSpPr>
          <p:cNvPr id="12" name="Rettangolo 11">
            <a:extLst>
              <a:ext uri="{FF2B5EF4-FFF2-40B4-BE49-F238E27FC236}">
                <a16:creationId xmlns:a16="http://schemas.microsoft.com/office/drawing/2014/main" id="{F2B5D134-0109-4C0B-83F0-6B3FC048A3AC}"/>
              </a:ext>
            </a:extLst>
          </p:cNvPr>
          <p:cNvSpPr>
            <a:spLocks noGrp="1"/>
          </p:cNvSpPr>
          <p:nvPr/>
        </p:nvSpPr>
        <p:spPr>
          <a:xfrm>
            <a:off x="9048750" y="3638550"/>
            <a:ext cx="2266950" cy="571500"/>
          </a:xfrm>
          <a:prstGeom prst="rect">
            <a:avLst/>
          </a:prstGeom>
          <a:noFill/>
          <a:ln w="0">
            <a:noFill/>
            <a:prstDash val="solid"/>
          </a:ln>
        </p:spPr>
        <p:txBody>
          <a:bodyPr wrap="square" lIns="0" tIns="0" rIns="0" bIns="0" anchor="t">
            <a:noAutofit/>
          </a:bodyPr>
          <a:lstStyle/>
          <a:p>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a:ext uri="{FF2B5EF4-FFF2-40B4-BE49-F238E27FC236}">
                <a16:creationId xmlns:a16="http://schemas.microsoft.com/office/drawing/2014/main" id="{6C367E04-4539-48B7-95FD-25BE3AFE42D3}"/>
              </a:ext>
            </a:extLst>
          </p:cNvPr>
          <p:cNvSpPr>
            <a:spLocks noGrp="1"/>
          </p:cNvSpPr>
          <p:nvPr/>
        </p:nvSpPr>
        <p:spPr>
          <a:xfrm>
            <a:off x="9048750" y="428625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a:ext uri="{FF2B5EF4-FFF2-40B4-BE49-F238E27FC236}">
                <a16:creationId xmlns:a16="http://schemas.microsoft.com/office/drawing/2014/main" id="{ED55BAD6-5F50-4762-AA30-51DEBFC8C1C5}"/>
              </a:ext>
            </a:extLst>
          </p:cNvPr>
          <p:cNvSpPr>
            <a:spLocks noGrp="1"/>
          </p:cNvSpPr>
          <p:nvPr/>
        </p:nvSpPr>
        <p:spPr>
          <a:xfrm>
            <a:off x="8820150" y="5143500"/>
            <a:ext cx="2724150" cy="647700"/>
          </a:xfrm>
          <a:prstGeom prst="rect">
            <a:avLst/>
          </a:prstGeom>
          <a:noFill/>
          <a:ln w="0">
            <a:noFill/>
            <a:prstDash val="solid"/>
          </a:ln>
        </p:spPr>
        <p:txBody>
          <a:bodyPr wrap="square" lIns="0" tIns="0" rIns="0" bIns="0" anchor="ctr">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937685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Rettangolo 25">
            <a:extLst>
              <a:ext uri="{FF2B5EF4-FFF2-40B4-BE49-F238E27FC236}">
                <a16:creationId xmlns:a16="http://schemas.microsoft.com/office/drawing/2014/main" id="{5645DA4D-5BF9-4953-8433-9A7E419FF06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E4F3758C-2532-486E-A04E-E3D13E2CDF8A}"/>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a:ext uri="{FF2B5EF4-FFF2-40B4-BE49-F238E27FC236}">
                <a16:creationId xmlns:a16="http://schemas.microsoft.com/office/drawing/2014/main" id="{CA526874-FE39-4860-AE76-8FB19350DF74}"/>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A090AA1-0FBA-403D-B515-3D72E084FF70}"/>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E694E014-2838-430B-BED6-5AAAE1012DA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12</a:t>
            </a:r>
          </a:p>
        </p:txBody>
      </p:sp>
      <p:pic>
        <p:nvPicPr>
          <p:cNvPr id="35" name="Picture 26"/>
          <p:cNvPicPr>
            <a:picLocks noChangeAspect="1"/>
          </p:cNvPicPr>
          <p:nvPr/>
        </p:nvPicPr>
        <p:blipFill>
          <a:blip r:embed="rId3"/>
          <a:srcRect/>
          <a:stretch>
            <a:fillRect/>
          </a:stretch>
        </p:blipFill>
        <p:spPr>
          <a:xfrm>
            <a:off x="685800" y="1638300"/>
            <a:ext cx="2000250" cy="2000250"/>
          </a:xfrm>
          <a:prstGeom prst="rect">
            <a:avLst/>
          </a:prstGeom>
        </p:spPr>
      </p:pic>
      <p:sp>
        <p:nvSpPr>
          <p:cNvPr id="7" name="Rettangolo 6">
            <a:extLst>
              <a:ext uri="{FF2B5EF4-FFF2-40B4-BE49-F238E27FC236}">
                <a16:creationId xmlns:a16="http://schemas.microsoft.com/office/drawing/2014/main" id="{F435B978-2CD2-4500-A3CA-AAC78EA22718}"/>
              </a:ext>
            </a:extLst>
          </p:cNvPr>
          <p:cNvSpPr>
            <a:spLocks noGrp="1"/>
          </p:cNvSpPr>
          <p:nvPr/>
        </p:nvSpPr>
        <p:spPr>
          <a:xfrm>
            <a:off x="6858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a:ext uri="{FF2B5EF4-FFF2-40B4-BE49-F238E27FC236}">
                <a16:creationId xmlns:a16="http://schemas.microsoft.com/office/drawing/2014/main" id="{B1989978-C8F3-45F2-99A5-CA65821A908A}"/>
              </a:ext>
            </a:extLst>
          </p:cNvPr>
          <p:cNvSpPr>
            <a:spLocks noGrp="1"/>
          </p:cNvSpPr>
          <p:nvPr/>
        </p:nvSpPr>
        <p:spPr>
          <a:xfrm>
            <a:off x="6858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Picture 27"/>
          <p:cNvPicPr>
            <a:picLocks noChangeAspect="1"/>
          </p:cNvPicPr>
          <p:nvPr/>
        </p:nvPicPr>
        <p:blipFill>
          <a:blip r:embed="rId4"/>
          <a:srcRect/>
          <a:stretch>
            <a:fillRect/>
          </a:stretch>
        </p:blipFill>
        <p:spPr>
          <a:xfrm>
            <a:off x="2990850" y="1638300"/>
            <a:ext cx="2000250" cy="2000250"/>
          </a:xfrm>
          <a:prstGeom prst="rect">
            <a:avLst/>
          </a:prstGeom>
        </p:spPr>
      </p:pic>
      <p:sp>
        <p:nvSpPr>
          <p:cNvPr id="10" name="Rettangolo 9">
            <a:extLst>
              <a:ext uri="{FF2B5EF4-FFF2-40B4-BE49-F238E27FC236}">
                <a16:creationId xmlns:a16="http://schemas.microsoft.com/office/drawing/2014/main" id="{E91D850F-EA38-4FEE-BE99-2BC2EB72ECB5}"/>
              </a:ext>
            </a:extLst>
          </p:cNvPr>
          <p:cNvSpPr>
            <a:spLocks noGrp="1"/>
          </p:cNvSpPr>
          <p:nvPr/>
        </p:nvSpPr>
        <p:spPr>
          <a:xfrm>
            <a:off x="299085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a:ext uri="{FF2B5EF4-FFF2-40B4-BE49-F238E27FC236}">
                <a16:creationId xmlns:a16="http://schemas.microsoft.com/office/drawing/2014/main" id="{8491799F-BA10-4AA0-9BE0-C7F292FCB7FE}"/>
              </a:ext>
            </a:extLst>
          </p:cNvPr>
          <p:cNvSpPr>
            <a:spLocks noGrp="1"/>
          </p:cNvSpPr>
          <p:nvPr/>
        </p:nvSpPr>
        <p:spPr>
          <a:xfrm>
            <a:off x="299085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Picture 28"/>
          <p:cNvPicPr>
            <a:picLocks noChangeAspect="1"/>
          </p:cNvPicPr>
          <p:nvPr/>
        </p:nvPicPr>
        <p:blipFill>
          <a:blip r:embed="rId5"/>
          <a:srcRect/>
          <a:stretch>
            <a:fillRect/>
          </a:stretch>
        </p:blipFill>
        <p:spPr>
          <a:xfrm>
            <a:off x="5295900" y="1638300"/>
            <a:ext cx="2000250" cy="2000250"/>
          </a:xfrm>
          <a:prstGeom prst="rect">
            <a:avLst/>
          </a:prstGeom>
        </p:spPr>
      </p:pic>
      <p:sp>
        <p:nvSpPr>
          <p:cNvPr id="13" name="Rettangolo 12">
            <a:extLst>
              <a:ext uri="{FF2B5EF4-FFF2-40B4-BE49-F238E27FC236}">
                <a16:creationId xmlns:a16="http://schemas.microsoft.com/office/drawing/2014/main" id="{BD18B2E2-966E-4B84-B33C-A64D6FBBD8E2}"/>
              </a:ext>
            </a:extLst>
          </p:cNvPr>
          <p:cNvSpPr>
            <a:spLocks noGrp="1"/>
          </p:cNvSpPr>
          <p:nvPr/>
        </p:nvSpPr>
        <p:spPr>
          <a:xfrm>
            <a:off x="52959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a:ext uri="{FF2B5EF4-FFF2-40B4-BE49-F238E27FC236}">
                <a16:creationId xmlns:a16="http://schemas.microsoft.com/office/drawing/2014/main" id="{F42CFE87-0CE4-4FBF-BED1-B5868165BBDA}"/>
              </a:ext>
            </a:extLst>
          </p:cNvPr>
          <p:cNvSpPr>
            <a:spLocks noGrp="1"/>
          </p:cNvSpPr>
          <p:nvPr/>
        </p:nvSpPr>
        <p:spPr>
          <a:xfrm>
            <a:off x="52959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a:ext uri="{FF2B5EF4-FFF2-40B4-BE49-F238E27FC236}">
                <a16:creationId xmlns:a16="http://schemas.microsoft.com/office/drawing/2014/main" id="{FA069229-F17B-4C8B-BB46-930BCC99CC7F}"/>
              </a:ext>
            </a:extLst>
          </p:cNvPr>
          <p:cNvSpPr>
            <a:spLocks noGrp="1"/>
          </p:cNvSpPr>
          <p:nvPr/>
        </p:nvSpPr>
        <p:spPr>
          <a:xfrm>
            <a:off x="7810500" y="1562100"/>
            <a:ext cx="3695700" cy="2857500"/>
          </a:xfrm>
          <a:prstGeom prst="roundRect">
            <a:avLst>
              <a:gd name="adj" fmla="val 6667"/>
            </a:avLst>
          </a:prstGeom>
          <a:solidFill>
            <a:srgbClr val="233A70"/>
          </a:solidFill>
          <a:ln w="0">
            <a:noFill/>
            <a:prstDash val="solid"/>
          </a:ln>
        </p:spPr>
        <p:txBody>
          <a:bodyPr/>
          <a:lstStyle/>
          <a:p>
            <a:endParaRPr/>
          </a:p>
        </p:txBody>
      </p:sp>
      <p:sp>
        <p:nvSpPr>
          <p:cNvPr id="16" name="Rettangolo 15">
            <a:extLst>
              <a:ext uri="{FF2B5EF4-FFF2-40B4-BE49-F238E27FC236}">
                <a16:creationId xmlns:a16="http://schemas.microsoft.com/office/drawing/2014/main" id="{7D25BA6B-1106-4A33-832D-36A979EC83DB}"/>
              </a:ext>
            </a:extLst>
          </p:cNvPr>
          <p:cNvSpPr>
            <a:spLocks noGrp="1"/>
          </p:cNvSpPr>
          <p:nvPr/>
        </p:nvSpPr>
        <p:spPr>
          <a:xfrm>
            <a:off x="8096250" y="1828800"/>
            <a:ext cx="3124200" cy="228600"/>
          </a:xfrm>
          <a:prstGeom prst="rect">
            <a:avLst/>
          </a:prstGeom>
          <a:noFill/>
          <a:ln w="0">
            <a:noFill/>
            <a:prstDash val="solid"/>
          </a:ln>
        </p:spPr>
        <p:txBody>
          <a:bodyPr wrap="square" lIns="0" tIns="0" rIns="0" bIns="0" anchor="t">
            <a:noAutofit/>
          </a:bodyPr>
          <a:lstStyle/>
          <a:p>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a:ext uri="{FF2B5EF4-FFF2-40B4-BE49-F238E27FC236}">
                <a16:creationId xmlns:a16="http://schemas.microsoft.com/office/drawing/2014/main" id="{3EAB3D39-A4EA-43CB-9D21-A6855C38A875}"/>
              </a:ext>
            </a:extLst>
          </p:cNvPr>
          <p:cNvSpPr>
            <a:spLocks noGrp="1"/>
          </p:cNvSpPr>
          <p:nvPr/>
        </p:nvSpPr>
        <p:spPr>
          <a:xfrm>
            <a:off x="80962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a:ext uri="{FF2B5EF4-FFF2-40B4-BE49-F238E27FC236}">
                <a16:creationId xmlns:a16="http://schemas.microsoft.com/office/drawing/2014/main" id="{C1C5FAD1-3F30-4059-A516-5B8394AAE46E}"/>
              </a:ext>
            </a:extLst>
          </p:cNvPr>
          <p:cNvSpPr>
            <a:spLocks noGrp="1"/>
          </p:cNvSpPr>
          <p:nvPr/>
        </p:nvSpPr>
        <p:spPr>
          <a:xfrm>
            <a:off x="80962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a:ext uri="{FF2B5EF4-FFF2-40B4-BE49-F238E27FC236}">
                <a16:creationId xmlns:a16="http://schemas.microsoft.com/office/drawing/2014/main" id="{535795A5-21C9-4CC4-AF05-3AA3207A1EC2}"/>
              </a:ext>
            </a:extLst>
          </p:cNvPr>
          <p:cNvSpPr>
            <a:spLocks noGrp="1"/>
          </p:cNvSpPr>
          <p:nvPr/>
        </p:nvSpPr>
        <p:spPr>
          <a:xfrm>
            <a:off x="98869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a:ext uri="{FF2B5EF4-FFF2-40B4-BE49-F238E27FC236}">
                <a16:creationId xmlns:a16="http://schemas.microsoft.com/office/drawing/2014/main" id="{9864EAE4-9F0E-4EF8-8279-3D124BC4010B}"/>
              </a:ext>
            </a:extLst>
          </p:cNvPr>
          <p:cNvSpPr>
            <a:spLocks noGrp="1"/>
          </p:cNvSpPr>
          <p:nvPr/>
        </p:nvSpPr>
        <p:spPr>
          <a:xfrm>
            <a:off x="98869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a:ext uri="{FF2B5EF4-FFF2-40B4-BE49-F238E27FC236}">
                <a16:creationId xmlns:a16="http://schemas.microsoft.com/office/drawing/2014/main" id="{471C4D3D-721D-4498-8EFA-1BF90F405B30}"/>
              </a:ext>
            </a:extLst>
          </p:cNvPr>
          <p:cNvSpPr>
            <a:spLocks noGrp="1"/>
          </p:cNvSpPr>
          <p:nvPr/>
        </p:nvSpPr>
        <p:spPr>
          <a:xfrm>
            <a:off x="8172450" y="3124200"/>
            <a:ext cx="2971800" cy="19050"/>
          </a:xfrm>
          <a:prstGeom prst="rect">
            <a:avLst/>
          </a:prstGeom>
          <a:solidFill>
            <a:srgbClr val="536A9B"/>
          </a:solidFill>
          <a:ln w="0">
            <a:noFill/>
            <a:prstDash val="solid"/>
          </a:ln>
        </p:spPr>
        <p:txBody>
          <a:bodyPr/>
          <a:lstStyle/>
          <a:p>
            <a:endParaRPr/>
          </a:p>
        </p:txBody>
      </p:sp>
      <p:sp>
        <p:nvSpPr>
          <p:cNvPr id="22" name="Rettangolo 21">
            <a:extLst>
              <a:ext uri="{FF2B5EF4-FFF2-40B4-BE49-F238E27FC236}">
                <a16:creationId xmlns:a16="http://schemas.microsoft.com/office/drawing/2014/main" id="{A2E0B2CD-9A4A-41BF-8D83-9380D61CA4D4}"/>
              </a:ext>
            </a:extLst>
          </p:cNvPr>
          <p:cNvSpPr>
            <a:spLocks noGrp="1"/>
          </p:cNvSpPr>
          <p:nvPr/>
        </p:nvSpPr>
        <p:spPr>
          <a:xfrm>
            <a:off x="8096250" y="3371850"/>
            <a:ext cx="3124200" cy="209550"/>
          </a:xfrm>
          <a:prstGeom prst="rect">
            <a:avLst/>
          </a:prstGeom>
          <a:noFill/>
          <a:ln w="0">
            <a:noFill/>
            <a:prstDash val="solid"/>
          </a:ln>
        </p:spPr>
        <p:txBody>
          <a:bodyPr wrap="square" lIns="0" tIns="0" rIns="0" bIns="0" anchor="t">
            <a:noAutofit/>
          </a:bodyPr>
          <a:lstStyle/>
          <a:p>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a:ext uri="{FF2B5EF4-FFF2-40B4-BE49-F238E27FC236}">
                <a16:creationId xmlns:a16="http://schemas.microsoft.com/office/drawing/2014/main" id="{09EB84B4-E40A-4FB5-A6A0-847175A7A7AD}"/>
              </a:ext>
            </a:extLst>
          </p:cNvPr>
          <p:cNvSpPr>
            <a:spLocks noGrp="1"/>
          </p:cNvSpPr>
          <p:nvPr/>
        </p:nvSpPr>
        <p:spPr>
          <a:xfrm>
            <a:off x="8096250" y="3638550"/>
            <a:ext cx="3124200" cy="514350"/>
          </a:xfrm>
          <a:prstGeom prst="rect">
            <a:avLst/>
          </a:prstGeom>
          <a:noFill/>
          <a:ln w="0">
            <a:noFill/>
            <a:prstDash val="solid"/>
          </a:ln>
        </p:spPr>
        <p:txBody>
          <a:bodyPr wrap="square" lIns="0" tIns="0" rIns="0" bIns="0" anchor="t">
            <a:noAutofit/>
          </a:bodyPr>
          <a:lstStyle/>
          <a:p>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a:ext uri="{FF2B5EF4-FFF2-40B4-BE49-F238E27FC236}">
                <a16:creationId xmlns:a16="http://schemas.microsoft.com/office/drawing/2014/main" id="{18A2F9C9-4D34-4737-8B90-8118C124B94E}"/>
              </a:ext>
            </a:extLst>
          </p:cNvPr>
          <p:cNvSpPr>
            <a:spLocks noGrp="1"/>
          </p:cNvSpPr>
          <p:nvPr/>
        </p:nvSpPr>
        <p:spPr>
          <a:xfrm>
            <a:off x="1123950" y="4762500"/>
            <a:ext cx="9944100" cy="1104900"/>
          </a:xfrm>
          <a:prstGeom prst="roundRect">
            <a:avLst>
              <a:gd name="adj" fmla="val 15517"/>
            </a:avLst>
          </a:prstGeom>
          <a:solidFill>
            <a:srgbClr val="E7F8F0"/>
          </a:solidFill>
          <a:ln w="0">
            <a:noFill/>
            <a:prstDash val="solid"/>
          </a:ln>
        </p:spPr>
        <p:txBody>
          <a:bodyPr/>
          <a:lstStyle/>
          <a:p>
            <a:endParaRPr/>
          </a:p>
        </p:txBody>
      </p:sp>
      <p:sp>
        <p:nvSpPr>
          <p:cNvPr id="25" name="Rettangolo 24">
            <a:extLst>
              <a:ext uri="{FF2B5EF4-FFF2-40B4-BE49-F238E27FC236}">
                <a16:creationId xmlns:a16="http://schemas.microsoft.com/office/drawing/2014/main" id="{F063FFD0-1294-4279-B46B-EF1D1D3EB627}"/>
              </a:ext>
            </a:extLst>
          </p:cNvPr>
          <p:cNvSpPr>
            <a:spLocks noGrp="1"/>
          </p:cNvSpPr>
          <p:nvPr/>
        </p:nvSpPr>
        <p:spPr>
          <a:xfrm>
            <a:off x="1466850" y="5010150"/>
            <a:ext cx="9258300" cy="647700"/>
          </a:xfrm>
          <a:prstGeom prst="rect">
            <a:avLst/>
          </a:prstGeom>
          <a:noFill/>
          <a:ln w="0">
            <a:noFill/>
            <a:prstDash val="solid"/>
          </a:ln>
        </p:spPr>
        <p:txBody>
          <a:bodyPr wrap="square" lIns="0" tIns="0" rIns="0" bIns="0" anchor="ctr">
            <a:noAutofit/>
          </a:bodyPr>
          <a:lstStyle/>
          <a:p>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816023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3" name="Rettangolo 32">
            <a:extLst>
              <a:ext uri="{FF2B5EF4-FFF2-40B4-BE49-F238E27FC236}">
                <a16:creationId xmlns:a16="http://schemas.microsoft.com/office/drawing/2014/main" id="{AFCF59B5-683B-474F-989A-FBD69F45330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84007D6-2081-4930-A389-03D64A1A238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Human review remains the final decision gate</a:t>
            </a:r>
          </a:p>
        </p:txBody>
      </p:sp>
      <p:sp>
        <p:nvSpPr>
          <p:cNvPr id="3" name="Rettangolo 2">
            <a:extLst>
              <a:ext uri="{FF2B5EF4-FFF2-40B4-BE49-F238E27FC236}">
                <a16:creationId xmlns:a16="http://schemas.microsoft.com/office/drawing/2014/main" id="{68493C46-8133-4462-86DB-466B3708A87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20FCC7E3-0B4D-4701-98B4-D33EB2D8663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FCFAFCCB-405C-47A7-B90B-CEB46F98CC33}"/>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13</a:t>
            </a:r>
          </a:p>
        </p:txBody>
      </p:sp>
      <p:sp>
        <p:nvSpPr>
          <p:cNvPr id="6" name="Rettangolo 5">
            <a:extLst>
              <a:ext uri="{FF2B5EF4-FFF2-40B4-BE49-F238E27FC236}">
                <a16:creationId xmlns:a16="http://schemas.microsoft.com/office/drawing/2014/main" id="{6E42C77A-5BF7-4B4F-ACB6-2B4A6D08B6F7}"/>
              </a:ext>
            </a:extLst>
          </p:cNvPr>
          <p:cNvSpPr>
            <a:spLocks noGrp="1"/>
          </p:cNvSpPr>
          <p:nvPr/>
        </p:nvSpPr>
        <p:spPr>
          <a:xfrm>
            <a:off x="1695450" y="2800350"/>
            <a:ext cx="8801100" cy="76200"/>
          </a:xfrm>
          <a:prstGeom prst="rect">
            <a:avLst/>
          </a:prstGeom>
          <a:solidFill>
            <a:srgbClr val="D9DEE8"/>
          </a:solidFill>
          <a:ln w="0">
            <a:noFill/>
            <a:prstDash val="solid"/>
          </a:ln>
        </p:spPr>
        <p:txBody>
          <a:bodyPr/>
          <a:lstStyle/>
          <a:p>
            <a:endParaRPr/>
          </a:p>
        </p:txBody>
      </p:sp>
      <p:sp>
        <p:nvSpPr>
          <p:cNvPr id="7" name="Rettangolo 6">
            <a:extLst>
              <a:ext uri="{FF2B5EF4-FFF2-40B4-BE49-F238E27FC236}">
                <a16:creationId xmlns:a16="http://schemas.microsoft.com/office/drawing/2014/main" id="{CC497960-5D6A-401D-938B-E77E37B954DF}"/>
              </a:ext>
            </a:extLst>
          </p:cNvPr>
          <p:cNvSpPr>
            <a:spLocks noGrp="1"/>
          </p:cNvSpPr>
          <p:nvPr/>
        </p:nvSpPr>
        <p:spPr>
          <a:xfrm>
            <a:off x="6858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a:ext uri="{FF2B5EF4-FFF2-40B4-BE49-F238E27FC236}">
                <a16:creationId xmlns:a16="http://schemas.microsoft.com/office/drawing/2014/main" id="{9D4C1FD3-F2E8-481B-B8A3-6FDAC352E8B5}"/>
              </a:ext>
            </a:extLst>
          </p:cNvPr>
          <p:cNvSpPr>
            <a:spLocks noGrp="1"/>
          </p:cNvSpPr>
          <p:nvPr/>
        </p:nvSpPr>
        <p:spPr>
          <a:xfrm>
            <a:off x="6858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9" name="Rettangolo 8">
            <a:extLst>
              <a:ext uri="{FF2B5EF4-FFF2-40B4-BE49-F238E27FC236}">
                <a16:creationId xmlns:a16="http://schemas.microsoft.com/office/drawing/2014/main" id="{A4596393-8F9B-4AB8-B9FA-12DDC5FEB621}"/>
              </a:ext>
            </a:extLst>
          </p:cNvPr>
          <p:cNvSpPr>
            <a:spLocks noGrp="1"/>
          </p:cNvSpPr>
          <p:nvPr/>
        </p:nvSpPr>
        <p:spPr>
          <a:xfrm>
            <a:off x="8572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a:ext uri="{FF2B5EF4-FFF2-40B4-BE49-F238E27FC236}">
                <a16:creationId xmlns:a16="http://schemas.microsoft.com/office/drawing/2014/main" id="{7AA4D259-8252-49D2-AC66-8CEBF46905A6}"/>
              </a:ext>
            </a:extLst>
          </p:cNvPr>
          <p:cNvSpPr>
            <a:spLocks noGrp="1"/>
          </p:cNvSpPr>
          <p:nvPr/>
        </p:nvSpPr>
        <p:spPr>
          <a:xfrm>
            <a:off x="8572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a:ext uri="{FF2B5EF4-FFF2-40B4-BE49-F238E27FC236}">
                <a16:creationId xmlns:a16="http://schemas.microsoft.com/office/drawing/2014/main" id="{B875C228-D2D2-4ED0-AE89-A0F4D270CE44}"/>
              </a:ext>
            </a:extLst>
          </p:cNvPr>
          <p:cNvSpPr>
            <a:spLocks noGrp="1"/>
          </p:cNvSpPr>
          <p:nvPr/>
        </p:nvSpPr>
        <p:spPr>
          <a:xfrm>
            <a:off x="34671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a:ext uri="{FF2B5EF4-FFF2-40B4-BE49-F238E27FC236}">
                <a16:creationId xmlns:a16="http://schemas.microsoft.com/office/drawing/2014/main" id="{F27AA906-E5AF-40DB-9F2E-5E5C26E8C25A}"/>
              </a:ext>
            </a:extLst>
          </p:cNvPr>
          <p:cNvSpPr>
            <a:spLocks noGrp="1"/>
          </p:cNvSpPr>
          <p:nvPr/>
        </p:nvSpPr>
        <p:spPr>
          <a:xfrm>
            <a:off x="3467100" y="2076450"/>
            <a:ext cx="2190750" cy="1466850"/>
          </a:xfrm>
          <a:prstGeom prst="roundRect">
            <a:avLst>
              <a:gd name="adj" fmla="val 1168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10A088F2-59B9-41DB-B22F-C8A142756290}"/>
              </a:ext>
            </a:extLst>
          </p:cNvPr>
          <p:cNvSpPr>
            <a:spLocks noGrp="1"/>
          </p:cNvSpPr>
          <p:nvPr/>
        </p:nvSpPr>
        <p:spPr>
          <a:xfrm>
            <a:off x="36385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a:ext uri="{FF2B5EF4-FFF2-40B4-BE49-F238E27FC236}">
                <a16:creationId xmlns:a16="http://schemas.microsoft.com/office/drawing/2014/main" id="{27D139E3-0991-49D9-9C28-1A63AF4F9EAD}"/>
              </a:ext>
            </a:extLst>
          </p:cNvPr>
          <p:cNvSpPr>
            <a:spLocks noGrp="1"/>
          </p:cNvSpPr>
          <p:nvPr/>
        </p:nvSpPr>
        <p:spPr>
          <a:xfrm>
            <a:off x="36385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a:ext uri="{FF2B5EF4-FFF2-40B4-BE49-F238E27FC236}">
                <a16:creationId xmlns:a16="http://schemas.microsoft.com/office/drawing/2014/main" id="{7F193325-1128-438B-B217-138A67DDF676}"/>
              </a:ext>
            </a:extLst>
          </p:cNvPr>
          <p:cNvSpPr>
            <a:spLocks noGrp="1"/>
          </p:cNvSpPr>
          <p:nvPr/>
        </p:nvSpPr>
        <p:spPr>
          <a:xfrm>
            <a:off x="62484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a:ext uri="{FF2B5EF4-FFF2-40B4-BE49-F238E27FC236}">
                <a16:creationId xmlns:a16="http://schemas.microsoft.com/office/drawing/2014/main" id="{E8C8212D-5123-48C7-8465-CE6674A3EAFA}"/>
              </a:ext>
            </a:extLst>
          </p:cNvPr>
          <p:cNvSpPr>
            <a:spLocks noGrp="1"/>
          </p:cNvSpPr>
          <p:nvPr/>
        </p:nvSpPr>
        <p:spPr>
          <a:xfrm>
            <a:off x="6248400" y="2076450"/>
            <a:ext cx="2190750" cy="1466850"/>
          </a:xfrm>
          <a:prstGeom prst="roundRect">
            <a:avLst>
              <a:gd name="adj" fmla="val 11688"/>
            </a:avLst>
          </a:prstGeom>
          <a:solidFill>
            <a:srgbClr val="E7F8F0"/>
          </a:solidFill>
          <a:ln w="9525">
            <a:solidFill>
              <a:srgbClr val="E7F8F0"/>
            </a:solidFill>
            <a:prstDash val="solid"/>
          </a:ln>
        </p:spPr>
        <p:txBody>
          <a:bodyPr/>
          <a:lstStyle/>
          <a:p>
            <a:endParaRPr/>
          </a:p>
        </p:txBody>
      </p:sp>
      <p:sp>
        <p:nvSpPr>
          <p:cNvPr id="17" name="Rettangolo 16">
            <a:extLst>
              <a:ext uri="{FF2B5EF4-FFF2-40B4-BE49-F238E27FC236}">
                <a16:creationId xmlns:a16="http://schemas.microsoft.com/office/drawing/2014/main" id="{688DB260-266F-461B-B69D-7D7802AF0D5C}"/>
              </a:ext>
            </a:extLst>
          </p:cNvPr>
          <p:cNvSpPr>
            <a:spLocks noGrp="1"/>
          </p:cNvSpPr>
          <p:nvPr/>
        </p:nvSpPr>
        <p:spPr>
          <a:xfrm>
            <a:off x="64198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a:ext uri="{FF2B5EF4-FFF2-40B4-BE49-F238E27FC236}">
                <a16:creationId xmlns:a16="http://schemas.microsoft.com/office/drawing/2014/main" id="{0D32C62D-AD61-47FC-9DF3-3D1D755CC850}"/>
              </a:ext>
            </a:extLst>
          </p:cNvPr>
          <p:cNvSpPr>
            <a:spLocks noGrp="1"/>
          </p:cNvSpPr>
          <p:nvPr/>
        </p:nvSpPr>
        <p:spPr>
          <a:xfrm>
            <a:off x="64198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a:ext uri="{FF2B5EF4-FFF2-40B4-BE49-F238E27FC236}">
                <a16:creationId xmlns:a16="http://schemas.microsoft.com/office/drawing/2014/main" id="{9D03034B-8F88-418E-9635-E3411B5DDEBC}"/>
              </a:ext>
            </a:extLst>
          </p:cNvPr>
          <p:cNvSpPr>
            <a:spLocks noGrp="1"/>
          </p:cNvSpPr>
          <p:nvPr/>
        </p:nvSpPr>
        <p:spPr>
          <a:xfrm>
            <a:off x="90297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a:ext uri="{FF2B5EF4-FFF2-40B4-BE49-F238E27FC236}">
                <a16:creationId xmlns:a16="http://schemas.microsoft.com/office/drawing/2014/main" id="{0A7F9A2F-8B4C-4A62-8D51-C8AC9213FEC9}"/>
              </a:ext>
            </a:extLst>
          </p:cNvPr>
          <p:cNvSpPr>
            <a:spLocks noGrp="1"/>
          </p:cNvSpPr>
          <p:nvPr/>
        </p:nvSpPr>
        <p:spPr>
          <a:xfrm>
            <a:off x="90297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21" name="Rettangolo 20">
            <a:extLst>
              <a:ext uri="{FF2B5EF4-FFF2-40B4-BE49-F238E27FC236}">
                <a16:creationId xmlns:a16="http://schemas.microsoft.com/office/drawing/2014/main" id="{DC68B587-3821-4278-A721-BE8076578B8C}"/>
              </a:ext>
            </a:extLst>
          </p:cNvPr>
          <p:cNvSpPr>
            <a:spLocks noGrp="1"/>
          </p:cNvSpPr>
          <p:nvPr/>
        </p:nvSpPr>
        <p:spPr>
          <a:xfrm>
            <a:off x="92011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a:ext uri="{FF2B5EF4-FFF2-40B4-BE49-F238E27FC236}">
                <a16:creationId xmlns:a16="http://schemas.microsoft.com/office/drawing/2014/main" id="{F2ED8D5E-2422-4B92-867E-DD3CA4ACD7CB}"/>
              </a:ext>
            </a:extLst>
          </p:cNvPr>
          <p:cNvSpPr>
            <a:spLocks noGrp="1"/>
          </p:cNvSpPr>
          <p:nvPr/>
        </p:nvSpPr>
        <p:spPr>
          <a:xfrm>
            <a:off x="92011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a:ext uri="{FF2B5EF4-FFF2-40B4-BE49-F238E27FC236}">
                <a16:creationId xmlns:a16="http://schemas.microsoft.com/office/drawing/2014/main" id="{04339118-F714-4CF4-9531-D2EFDA073425}"/>
              </a:ext>
            </a:extLst>
          </p:cNvPr>
          <p:cNvSpPr>
            <a:spLocks noGrp="1"/>
          </p:cNvSpPr>
          <p:nvPr/>
        </p:nvSpPr>
        <p:spPr>
          <a:xfrm>
            <a:off x="685800" y="4095750"/>
            <a:ext cx="108204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a:ext uri="{FF2B5EF4-FFF2-40B4-BE49-F238E27FC236}">
                <a16:creationId xmlns:a16="http://schemas.microsoft.com/office/drawing/2014/main" id="{6DE606BC-E4EE-43D8-A10A-D6AF9A28A5DE}"/>
              </a:ext>
            </a:extLst>
          </p:cNvPr>
          <p:cNvSpPr>
            <a:spLocks noGrp="1"/>
          </p:cNvSpPr>
          <p:nvPr/>
        </p:nvSpPr>
        <p:spPr>
          <a:xfrm>
            <a:off x="8382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a:ext uri="{FF2B5EF4-FFF2-40B4-BE49-F238E27FC236}">
                <a16:creationId xmlns:a16="http://schemas.microsoft.com/office/drawing/2014/main" id="{E60E196D-BF02-4A60-AA11-C25A1BD1FBCA}"/>
              </a:ext>
            </a:extLst>
          </p:cNvPr>
          <p:cNvSpPr>
            <a:spLocks noGrp="1"/>
          </p:cNvSpPr>
          <p:nvPr/>
        </p:nvSpPr>
        <p:spPr>
          <a:xfrm>
            <a:off x="3333750" y="4533900"/>
            <a:ext cx="19050" cy="400050"/>
          </a:xfrm>
          <a:prstGeom prst="rect">
            <a:avLst/>
          </a:prstGeom>
          <a:solidFill>
            <a:srgbClr val="D9DEE8"/>
          </a:solidFill>
          <a:ln w="0">
            <a:noFill/>
            <a:prstDash val="solid"/>
          </a:ln>
        </p:spPr>
        <p:txBody>
          <a:bodyPr/>
          <a:lstStyle/>
          <a:p>
            <a:endParaRPr/>
          </a:p>
        </p:txBody>
      </p:sp>
      <p:sp>
        <p:nvSpPr>
          <p:cNvPr id="26" name="Rettangolo 25">
            <a:extLst>
              <a:ext uri="{FF2B5EF4-FFF2-40B4-BE49-F238E27FC236}">
                <a16:creationId xmlns:a16="http://schemas.microsoft.com/office/drawing/2014/main" id="{03F90BFD-8FC5-496D-B2BD-090EFE986347}"/>
              </a:ext>
            </a:extLst>
          </p:cNvPr>
          <p:cNvSpPr>
            <a:spLocks noGrp="1"/>
          </p:cNvSpPr>
          <p:nvPr/>
        </p:nvSpPr>
        <p:spPr>
          <a:xfrm>
            <a:off x="35433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a:ext uri="{FF2B5EF4-FFF2-40B4-BE49-F238E27FC236}">
                <a16:creationId xmlns:a16="http://schemas.microsoft.com/office/drawing/2014/main" id="{B2B38D1D-5BC1-489F-8CEC-BF5FD0E6DF1A}"/>
              </a:ext>
            </a:extLst>
          </p:cNvPr>
          <p:cNvSpPr>
            <a:spLocks noGrp="1"/>
          </p:cNvSpPr>
          <p:nvPr/>
        </p:nvSpPr>
        <p:spPr>
          <a:xfrm>
            <a:off x="6038850" y="4533900"/>
            <a:ext cx="19050" cy="400050"/>
          </a:xfrm>
          <a:prstGeom prst="rect">
            <a:avLst/>
          </a:prstGeom>
          <a:solidFill>
            <a:srgbClr val="D9DEE8"/>
          </a:solidFill>
          <a:ln w="0">
            <a:noFill/>
            <a:prstDash val="solid"/>
          </a:ln>
        </p:spPr>
        <p:txBody>
          <a:bodyPr/>
          <a:lstStyle/>
          <a:p>
            <a:endParaRPr/>
          </a:p>
        </p:txBody>
      </p:sp>
      <p:sp>
        <p:nvSpPr>
          <p:cNvPr id="28" name="Rettangolo 27">
            <a:extLst>
              <a:ext uri="{FF2B5EF4-FFF2-40B4-BE49-F238E27FC236}">
                <a16:creationId xmlns:a16="http://schemas.microsoft.com/office/drawing/2014/main" id="{8CBE62AC-4860-455E-BD3B-688579D32233}"/>
              </a:ext>
            </a:extLst>
          </p:cNvPr>
          <p:cNvSpPr>
            <a:spLocks noGrp="1"/>
          </p:cNvSpPr>
          <p:nvPr/>
        </p:nvSpPr>
        <p:spPr>
          <a:xfrm>
            <a:off x="62484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a:ext uri="{FF2B5EF4-FFF2-40B4-BE49-F238E27FC236}">
                <a16:creationId xmlns:a16="http://schemas.microsoft.com/office/drawing/2014/main" id="{DAD0FA6E-44BA-4057-A6E5-205E1EA40B06}"/>
              </a:ext>
            </a:extLst>
          </p:cNvPr>
          <p:cNvSpPr>
            <a:spLocks noGrp="1"/>
          </p:cNvSpPr>
          <p:nvPr/>
        </p:nvSpPr>
        <p:spPr>
          <a:xfrm>
            <a:off x="8743950" y="4533900"/>
            <a:ext cx="19050" cy="400050"/>
          </a:xfrm>
          <a:prstGeom prst="rect">
            <a:avLst/>
          </a:prstGeom>
          <a:solidFill>
            <a:srgbClr val="D9DEE8"/>
          </a:solidFill>
          <a:ln w="0">
            <a:noFill/>
            <a:prstDash val="solid"/>
          </a:ln>
        </p:spPr>
        <p:txBody>
          <a:bodyPr/>
          <a:lstStyle/>
          <a:p>
            <a:endParaRPr/>
          </a:p>
        </p:txBody>
      </p:sp>
      <p:sp>
        <p:nvSpPr>
          <p:cNvPr id="30" name="Rettangolo 29">
            <a:extLst>
              <a:ext uri="{FF2B5EF4-FFF2-40B4-BE49-F238E27FC236}">
                <a16:creationId xmlns:a16="http://schemas.microsoft.com/office/drawing/2014/main" id="{EB7B099E-18FB-4F61-A001-312CD23DFDB3}"/>
              </a:ext>
            </a:extLst>
          </p:cNvPr>
          <p:cNvSpPr>
            <a:spLocks noGrp="1"/>
          </p:cNvSpPr>
          <p:nvPr/>
        </p:nvSpPr>
        <p:spPr>
          <a:xfrm>
            <a:off x="89535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a:ext uri="{FF2B5EF4-FFF2-40B4-BE49-F238E27FC236}">
                <a16:creationId xmlns:a16="http://schemas.microsoft.com/office/drawing/2014/main" id="{61341085-EF38-4412-9246-C812DAAA179E}"/>
              </a:ext>
            </a:extLst>
          </p:cNvPr>
          <p:cNvSpPr>
            <a:spLocks noGrp="1"/>
          </p:cNvSpPr>
          <p:nvPr/>
        </p:nvSpPr>
        <p:spPr>
          <a:xfrm>
            <a:off x="1123950" y="5391150"/>
            <a:ext cx="9944100" cy="723900"/>
          </a:xfrm>
          <a:prstGeom prst="roundRect">
            <a:avLst>
              <a:gd name="adj" fmla="val 21053"/>
            </a:avLst>
          </a:prstGeom>
          <a:solidFill>
            <a:srgbClr val="233A70"/>
          </a:solidFill>
          <a:ln w="0">
            <a:noFill/>
            <a:prstDash val="solid"/>
          </a:ln>
        </p:spPr>
        <p:txBody>
          <a:bodyPr/>
          <a:lstStyle/>
          <a:p>
            <a:endParaRPr/>
          </a:p>
        </p:txBody>
      </p:sp>
      <p:sp>
        <p:nvSpPr>
          <p:cNvPr id="32" name="Rettangolo 31">
            <a:extLst>
              <a:ext uri="{FF2B5EF4-FFF2-40B4-BE49-F238E27FC236}">
                <a16:creationId xmlns:a16="http://schemas.microsoft.com/office/drawing/2014/main" id="{C6444606-31CF-4954-A94E-256FA6870834}"/>
              </a:ext>
            </a:extLst>
          </p:cNvPr>
          <p:cNvSpPr>
            <a:spLocks noGrp="1"/>
          </p:cNvSpPr>
          <p:nvPr/>
        </p:nvSpPr>
        <p:spPr>
          <a:xfrm>
            <a:off x="1466850" y="5581650"/>
            <a:ext cx="9258300" cy="342900"/>
          </a:xfrm>
          <a:prstGeom prst="rect">
            <a:avLst/>
          </a:prstGeom>
          <a:noFill/>
          <a:ln w="0">
            <a:noFill/>
            <a:prstDash val="solid"/>
          </a:ln>
        </p:spPr>
        <p:txBody>
          <a:bodyPr wrap="square" lIns="0" tIns="0" rIns="0" bIns="0" anchor="ctr">
            <a:noAutofit/>
          </a:bodyP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400809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14</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one setting; bounded attack budgets</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Attack source</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source model: EfficientNet-B0</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1308217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33A70"/>
        </a:solidFill>
        <a:effectLst/>
      </p:bgPr>
    </p:bg>
    <p:spTree>
      <p:nvGrpSpPr>
        <p:cNvPr id="1" name=""/>
        <p:cNvGrpSpPr/>
        <p:nvPr/>
      </p:nvGrpSpPr>
      <p:grpSpPr>
        <a:xfrm>
          <a:off x="0" y="0"/>
          <a:ext cx="0" cy="0"/>
          <a:chOff x="0" y="0"/>
          <a:chExt cx="0" cy="0"/>
        </a:xfrm>
      </p:grpSpPr>
      <p:pic>
        <p:nvPicPr>
          <p:cNvPr id="15" name="Picture 1"/>
          <p:cNvPicPr>
            <a:picLocks noChangeAspect="1"/>
          </p:cNvPicPr>
          <p:nvPr/>
        </p:nvPicPr>
        <p:blipFill>
          <a:blip r:embed="rId3"/>
          <a:srcRect/>
          <a:stretch>
            <a:fillRect/>
          </a:stretch>
        </p:blipFill>
        <p:spPr>
          <a:xfrm>
            <a:off x="9812751" y="400050"/>
            <a:ext cx="1424748" cy="1695450"/>
          </a:xfrm>
          <a:prstGeom prst="rect">
            <a:avLst/>
          </a:prstGeom>
        </p:spPr>
      </p:pic>
      <p:sp>
        <p:nvSpPr>
          <p:cNvPr id="2" name="Rettangolo 1">
            <a:extLst>
              <a:ext uri="{FF2B5EF4-FFF2-40B4-BE49-F238E27FC236}">
                <a16:creationId xmlns:a16="http://schemas.microsoft.com/office/drawing/2014/main" id="{96233C98-1682-4713-96AF-301D7793CFAD}"/>
              </a:ext>
            </a:extLst>
          </p:cNvPr>
          <p:cNvSpPr>
            <a:spLocks noGrp="1"/>
          </p:cNvSpPr>
          <p:nvPr/>
        </p:nvSpPr>
        <p:spPr>
          <a:xfrm>
            <a:off x="685800" y="685800"/>
            <a:ext cx="8763000" cy="1524000"/>
          </a:xfrm>
          <a:prstGeom prst="rect">
            <a:avLst/>
          </a:prstGeom>
          <a:noFill/>
          <a:ln w="0">
            <a:noFill/>
            <a:prstDash val="solid"/>
          </a:ln>
        </p:spPr>
        <p:txBody>
          <a:bodyPr wrap="square" lIns="0" tIns="0" rIns="0" bIns="0" anchor="ctr">
            <a:noAutofit/>
          </a:body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a:ext uri="{FF2B5EF4-FFF2-40B4-BE49-F238E27FC236}">
                <a16:creationId xmlns:a16="http://schemas.microsoft.com/office/drawing/2014/main" id="{406CEE45-9954-4129-B4CC-8763B90B9FE7}"/>
              </a:ext>
            </a:extLst>
          </p:cNvPr>
          <p:cNvSpPr>
            <a:spLocks noGrp="1"/>
          </p:cNvSpPr>
          <p:nvPr/>
        </p:nvSpPr>
        <p:spPr>
          <a:xfrm>
            <a:off x="685800" y="2381250"/>
            <a:ext cx="2000250" cy="66675"/>
          </a:xfrm>
          <a:prstGeom prst="rect">
            <a:avLst/>
          </a:prstGeom>
          <a:solidFill>
            <a:srgbClr val="14B978"/>
          </a:solidFill>
          <a:ln w="0">
            <a:noFill/>
            <a:prstDash val="solid"/>
          </a:ln>
        </p:spPr>
        <p:txBody>
          <a:bodyPr/>
          <a:lstStyle/>
          <a:p>
            <a:endParaRPr/>
          </a:p>
        </p:txBody>
      </p:sp>
      <p:sp>
        <p:nvSpPr>
          <p:cNvPr id="4" name="Rettangolo 3">
            <a:extLst>
              <a:ext uri="{FF2B5EF4-FFF2-40B4-BE49-F238E27FC236}">
                <a16:creationId xmlns:a16="http://schemas.microsoft.com/office/drawing/2014/main" id="{A87ACFBC-5913-4A14-A572-7C43C4E614CE}"/>
              </a:ext>
            </a:extLst>
          </p:cNvPr>
          <p:cNvSpPr>
            <a:spLocks noGrp="1"/>
          </p:cNvSpPr>
          <p:nvPr/>
        </p:nvSpPr>
        <p:spPr>
          <a:xfrm>
            <a:off x="685800" y="29718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a:ext uri="{FF2B5EF4-FFF2-40B4-BE49-F238E27FC236}">
                <a16:creationId xmlns:a16="http://schemas.microsoft.com/office/drawing/2014/main" id="{A7447639-7A70-4861-8213-2179225B1DA5}"/>
              </a:ext>
            </a:extLst>
          </p:cNvPr>
          <p:cNvSpPr>
            <a:spLocks noGrp="1"/>
          </p:cNvSpPr>
          <p:nvPr/>
        </p:nvSpPr>
        <p:spPr>
          <a:xfrm>
            <a:off x="1428750" y="28384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a:ext uri="{FF2B5EF4-FFF2-40B4-BE49-F238E27FC236}">
                <a16:creationId xmlns:a16="http://schemas.microsoft.com/office/drawing/2014/main" id="{1450CA5E-FC35-430A-9031-A11896E280CD}"/>
              </a:ext>
            </a:extLst>
          </p:cNvPr>
          <p:cNvSpPr>
            <a:spLocks noGrp="1"/>
          </p:cNvSpPr>
          <p:nvPr/>
        </p:nvSpPr>
        <p:spPr>
          <a:xfrm>
            <a:off x="1428750" y="3524250"/>
            <a:ext cx="8858250" cy="9525"/>
          </a:xfrm>
          <a:prstGeom prst="rect">
            <a:avLst/>
          </a:prstGeom>
          <a:solidFill>
            <a:srgbClr val="536A9B"/>
          </a:solidFill>
          <a:ln w="0">
            <a:noFill/>
            <a:prstDash val="solid"/>
          </a:ln>
        </p:spPr>
        <p:txBody>
          <a:bodyPr/>
          <a:lstStyle/>
          <a:p>
            <a:endParaRPr/>
          </a:p>
        </p:txBody>
      </p:sp>
      <p:sp>
        <p:nvSpPr>
          <p:cNvPr id="7" name="Rettangolo 6">
            <a:extLst>
              <a:ext uri="{FF2B5EF4-FFF2-40B4-BE49-F238E27FC236}">
                <a16:creationId xmlns:a16="http://schemas.microsoft.com/office/drawing/2014/main" id="{84B48416-48C8-47F4-8298-4F17F973B71A}"/>
              </a:ext>
            </a:extLst>
          </p:cNvPr>
          <p:cNvSpPr>
            <a:spLocks noGrp="1"/>
          </p:cNvSpPr>
          <p:nvPr/>
        </p:nvSpPr>
        <p:spPr>
          <a:xfrm>
            <a:off x="685800" y="375285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dirty="0">
                <a:solidFill>
                  <a:srgbClr val="14B978"/>
                </a:solidFill>
                <a:latin typeface="Arial"/>
                <a:ea typeface="Arial"/>
                <a:cs typeface="Arial"/>
              </a:rPr>
              <a:t>02</a:t>
            </a:r>
          </a:p>
        </p:txBody>
      </p:sp>
      <p:sp>
        <p:nvSpPr>
          <p:cNvPr id="8" name="Rettangolo 7">
            <a:extLst>
              <a:ext uri="{FF2B5EF4-FFF2-40B4-BE49-F238E27FC236}">
                <a16:creationId xmlns:a16="http://schemas.microsoft.com/office/drawing/2014/main" id="{988D7614-8FE3-475C-B612-F8C4E0C42486}"/>
              </a:ext>
            </a:extLst>
          </p:cNvPr>
          <p:cNvSpPr>
            <a:spLocks noGrp="1"/>
          </p:cNvSpPr>
          <p:nvPr/>
        </p:nvSpPr>
        <p:spPr>
          <a:xfrm>
            <a:off x="1428750" y="373380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Source evaluation, transfer, OOD and configuration trade-offs remain distinct.</a:t>
            </a:r>
          </a:p>
        </p:txBody>
      </p:sp>
      <p:sp>
        <p:nvSpPr>
          <p:cNvPr id="9" name="Rettangolo 8">
            <a:extLst>
              <a:ext uri="{FF2B5EF4-FFF2-40B4-BE49-F238E27FC236}">
                <a16:creationId xmlns:a16="http://schemas.microsoft.com/office/drawing/2014/main" id="{9FD6AFD3-88FF-4DC9-A60E-DD29C11BBE0F}"/>
              </a:ext>
            </a:extLst>
          </p:cNvPr>
          <p:cNvSpPr>
            <a:spLocks noGrp="1"/>
          </p:cNvSpPr>
          <p:nvPr/>
        </p:nvSpPr>
        <p:spPr>
          <a:xfrm>
            <a:off x="1428750" y="4419600"/>
            <a:ext cx="8858250" cy="9525"/>
          </a:xfrm>
          <a:prstGeom prst="rect">
            <a:avLst/>
          </a:prstGeom>
          <a:solidFill>
            <a:srgbClr val="536A9B"/>
          </a:solidFill>
          <a:ln w="0">
            <a:noFill/>
            <a:prstDash val="solid"/>
          </a:ln>
        </p:spPr>
        <p:txBody>
          <a:bodyPr/>
          <a:lstStyle/>
          <a:p>
            <a:endParaRPr/>
          </a:p>
        </p:txBody>
      </p:sp>
      <p:sp>
        <p:nvSpPr>
          <p:cNvPr id="10" name="Rettangolo 9">
            <a:extLst>
              <a:ext uri="{FF2B5EF4-FFF2-40B4-BE49-F238E27FC236}">
                <a16:creationId xmlns:a16="http://schemas.microsoft.com/office/drawing/2014/main" id="{82DD1464-6B69-4824-9D72-F6913E53C22E}"/>
              </a:ext>
            </a:extLst>
          </p:cNvPr>
          <p:cNvSpPr>
            <a:spLocks noGrp="1"/>
          </p:cNvSpPr>
          <p:nvPr/>
        </p:nvSpPr>
        <p:spPr>
          <a:xfrm>
            <a:off x="685800" y="46482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a:ext uri="{FF2B5EF4-FFF2-40B4-BE49-F238E27FC236}">
                <a16:creationId xmlns:a16="http://schemas.microsoft.com/office/drawing/2014/main" id="{CE069915-8C7F-4D66-A75C-DE9F676A9B58}"/>
              </a:ext>
            </a:extLst>
          </p:cNvPr>
          <p:cNvSpPr>
            <a:spLocks noGrp="1"/>
          </p:cNvSpPr>
          <p:nvPr/>
        </p:nvSpPr>
        <p:spPr>
          <a:xfrm>
            <a:off x="1428750" y="46291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a:ext uri="{FF2B5EF4-FFF2-40B4-BE49-F238E27FC236}">
                <a16:creationId xmlns:a16="http://schemas.microsoft.com/office/drawing/2014/main" id="{C5DB9022-7C6B-4FD6-BD9F-B0933F2FF931}"/>
              </a:ext>
            </a:extLst>
          </p:cNvPr>
          <p:cNvSpPr>
            <a:spLocks noGrp="1"/>
          </p:cNvSpPr>
          <p:nvPr/>
        </p:nvSpPr>
        <p:spPr>
          <a:xfrm>
            <a:off x="685800" y="5962650"/>
            <a:ext cx="2476500" cy="419100"/>
          </a:xfrm>
          <a:prstGeom prst="rect">
            <a:avLst/>
          </a:prstGeom>
          <a:noFill/>
          <a:ln w="0">
            <a:noFill/>
            <a:prstDash val="solid"/>
          </a:ln>
        </p:spPr>
        <p:txBody>
          <a:bodyPr wrap="square" lIns="0" tIns="0" rIns="0" bIns="0" anchor="t">
            <a:noAutofit/>
          </a:bodyPr>
          <a:lstStyle/>
          <a:p>
            <a:endParaRPr/>
          </a:p>
        </p:txBody>
      </p:sp>
      <p:sp>
        <p:nvSpPr>
          <p:cNvPr id="13" name="Rettangolo 12">
            <a:extLst>
              <a:ext uri="{FF2B5EF4-FFF2-40B4-BE49-F238E27FC236}">
                <a16:creationId xmlns:a16="http://schemas.microsoft.com/office/drawing/2014/main" id="{E270C321-849E-4038-B40F-9F6AE5428309}"/>
              </a:ext>
            </a:extLst>
          </p:cNvPr>
          <p:cNvSpPr>
            <a:spLocks noGrp="1"/>
          </p:cNvSpPr>
          <p:nvPr/>
        </p:nvSpPr>
        <p:spPr>
          <a:xfrm>
            <a:off x="8972550" y="6038850"/>
            <a:ext cx="2266950" cy="266700"/>
          </a:xfrm>
          <a:prstGeom prst="rect">
            <a:avLst/>
          </a:prstGeom>
          <a:noFill/>
          <a:ln w="0">
            <a:noFill/>
            <a:prstDash val="solid"/>
          </a:ln>
        </p:spPr>
        <p:txBody>
          <a:bodyPr wrap="square" lIns="0" tIns="0" rIns="0" bIns="0" anchor="t">
            <a:noAutofit/>
          </a:bodyPr>
          <a:lstStyle/>
          <a:p>
            <a:endParaRPr/>
          </a:p>
        </p:txBody>
      </p:sp>
    </p:spTree>
    <p:extLst>
      <p:ext uri="{BB962C8B-B14F-4D97-AF65-F5344CB8AC3E}">
        <p14:creationId xmlns:p14="http://schemas.microsoft.com/office/powerpoint/2010/main" val="1025552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3"/>
          <a:stretch>
            <a:fillRect/>
          </a:stretch>
        </p:blipFill>
        <p:spPr>
          <a:xfrm>
            <a:off x="731477" y="7"/>
            <a:ext cx="1097235" cy="1306092"/>
          </a:xfrm>
          <a:prstGeom prst="rect">
            <a:avLst/>
          </a:prstGeom>
        </p:spPr>
      </p:pic>
      <p:sp>
        <p:nvSpPr>
          <p:cNvPr id="4" name="TextBox 3"/>
          <p:cNvSpPr txBox="1"/>
          <p:nvPr/>
        </p:nvSpPr>
        <p:spPr>
          <a:xfrm>
            <a:off x="946826" y="2001618"/>
            <a:ext cx="10425310"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Evaluating the Robustness of AI-Based</a:t>
            </a:r>
          </a:p>
        </p:txBody>
      </p:sp>
      <p:sp>
        <p:nvSpPr>
          <p:cNvPr id="5" name="TextBox 4"/>
          <p:cNvSpPr txBox="1"/>
          <p:nvPr/>
        </p:nvSpPr>
        <p:spPr>
          <a:xfrm>
            <a:off x="1152955" y="2596456"/>
            <a:ext cx="10015521"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Forensic Tools under Adversarial and</a:t>
            </a:r>
          </a:p>
        </p:txBody>
      </p:sp>
      <p:sp>
        <p:nvSpPr>
          <p:cNvPr id="6" name="TextBox 5"/>
          <p:cNvSpPr txBox="1"/>
          <p:nvPr/>
        </p:nvSpPr>
        <p:spPr>
          <a:xfrm>
            <a:off x="3263624" y="3078525"/>
            <a:ext cx="5794393"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Anti-Forensic Attacks</a:t>
            </a:r>
          </a:p>
        </p:txBody>
      </p:sp>
      <p:sp>
        <p:nvSpPr>
          <p:cNvPr id="7" name="TextBox 6"/>
          <p:cNvSpPr txBox="1"/>
          <p:nvPr/>
        </p:nvSpPr>
        <p:spPr>
          <a:xfrm>
            <a:off x="4259725" y="4161555"/>
            <a:ext cx="3800560"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Thank you for listening!</a:t>
            </a:r>
          </a:p>
        </p:txBody>
      </p:sp>
      <p:sp>
        <p:nvSpPr>
          <p:cNvPr id="8" name="TextBox 7"/>
          <p:cNvSpPr txBox="1"/>
          <p:nvPr/>
        </p:nvSpPr>
        <p:spPr>
          <a:xfrm>
            <a:off x="4924294" y="4643597"/>
            <a:ext cx="2471225"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Any questions?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B1</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proxy responses differ across source-model evaluation, cross-model transfer and model-agnostic Color Shift?</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631516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GKC threat model and perturbation suite</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B2</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 · gradient-based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 · score-based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 · gradient-based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 · gradient-based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Goal: untargeted model-dependent attacks. Knowledge: gradients or scores.</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Capability: constrained image changes at inference time (evasion).</a:t>
            </a:r>
          </a:p>
        </p:txBody>
      </p:sp>
    </p:spTree>
    <p:extLst>
      <p:ext uri="{BB962C8B-B14F-4D97-AF65-F5344CB8AC3E}">
        <p14:creationId xmlns:p14="http://schemas.microsoft.com/office/powerpoint/2010/main" val="98046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132C68E0-F7BB-4D84-B514-2E0F71B3B1B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D20E475-2A5D-459D-8AAB-9F303C543F6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a:ext uri="{FF2B5EF4-FFF2-40B4-BE49-F238E27FC236}">
                <a16:creationId xmlns:a16="http://schemas.microsoft.com/office/drawing/2014/main" id="{5B5396AA-6D1B-4946-9C6D-8D0F818A01C1}"/>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A3F1E25-2383-4EC9-B6D0-9445F682B414}"/>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9F56C24-1E99-42B1-9770-88B2B95F402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B3</a:t>
            </a:r>
          </a:p>
        </p:txBody>
      </p:sp>
      <p:sp>
        <p:nvSpPr>
          <p:cNvPr id="6" name="Rettangolo 5">
            <a:extLst>
              <a:ext uri="{FF2B5EF4-FFF2-40B4-BE49-F238E27FC236}">
                <a16:creationId xmlns:a16="http://schemas.microsoft.com/office/drawing/2014/main" id="{7C39DB82-1F28-4EF9-B5A0-94D0168F6F0D}"/>
              </a:ext>
            </a:extLst>
          </p:cNvPr>
          <p:cNvSpPr>
            <a:spLocks noGrp="1"/>
          </p:cNvSpPr>
          <p:nvPr/>
        </p:nvSpPr>
        <p:spPr>
          <a:xfrm>
            <a:off x="1657350" y="2609850"/>
            <a:ext cx="8877300" cy="66675"/>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DD3F15EF-FC7C-4F92-836B-00742035B3B5}"/>
              </a:ext>
            </a:extLst>
          </p:cNvPr>
          <p:cNvSpPr>
            <a:spLocks noGrp="1"/>
          </p:cNvSpPr>
          <p:nvPr/>
        </p:nvSpPr>
        <p:spPr>
          <a:xfrm>
            <a:off x="685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31A8BB3B-F18E-4303-80A6-E7E762AD1EB3}"/>
              </a:ext>
            </a:extLst>
          </p:cNvPr>
          <p:cNvSpPr>
            <a:spLocks noGrp="1"/>
          </p:cNvSpPr>
          <p:nvPr/>
        </p:nvSpPr>
        <p:spPr>
          <a:xfrm>
            <a:off x="800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a:ext uri="{FF2B5EF4-FFF2-40B4-BE49-F238E27FC236}">
                <a16:creationId xmlns:a16="http://schemas.microsoft.com/office/drawing/2014/main" id="{9DD03EAC-F71C-40B3-80E5-2DA59F31F6F8}"/>
              </a:ext>
            </a:extLst>
          </p:cNvPr>
          <p:cNvSpPr>
            <a:spLocks noGrp="1"/>
          </p:cNvSpPr>
          <p:nvPr/>
        </p:nvSpPr>
        <p:spPr>
          <a:xfrm>
            <a:off x="800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a:ext uri="{FF2B5EF4-FFF2-40B4-BE49-F238E27FC236}">
                <a16:creationId xmlns:a16="http://schemas.microsoft.com/office/drawing/2014/main" id="{2B26A88D-1776-4876-8181-037F2371B042}"/>
              </a:ext>
            </a:extLst>
          </p:cNvPr>
          <p:cNvSpPr>
            <a:spLocks noGrp="1"/>
          </p:cNvSpPr>
          <p:nvPr/>
        </p:nvSpPr>
        <p:spPr>
          <a:xfrm>
            <a:off x="28765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9D87A7A1-41E2-4A42-8309-D39020B20FA2}"/>
              </a:ext>
            </a:extLst>
          </p:cNvPr>
          <p:cNvSpPr>
            <a:spLocks noGrp="1"/>
          </p:cNvSpPr>
          <p:nvPr/>
        </p:nvSpPr>
        <p:spPr>
          <a:xfrm>
            <a:off x="29908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a:ext uri="{FF2B5EF4-FFF2-40B4-BE49-F238E27FC236}">
                <a16:creationId xmlns:a16="http://schemas.microsoft.com/office/drawing/2014/main" id="{7C0978C2-178E-484C-97FD-18E4D03A80D0}"/>
              </a:ext>
            </a:extLst>
          </p:cNvPr>
          <p:cNvSpPr>
            <a:spLocks noGrp="1"/>
          </p:cNvSpPr>
          <p:nvPr/>
        </p:nvSpPr>
        <p:spPr>
          <a:xfrm>
            <a:off x="29908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a:ext uri="{FF2B5EF4-FFF2-40B4-BE49-F238E27FC236}">
                <a16:creationId xmlns:a16="http://schemas.microsoft.com/office/drawing/2014/main" id="{13E5A335-8E9A-4904-877C-CEBA763E0F88}"/>
              </a:ext>
            </a:extLst>
          </p:cNvPr>
          <p:cNvSpPr>
            <a:spLocks noGrp="1"/>
          </p:cNvSpPr>
          <p:nvPr/>
        </p:nvSpPr>
        <p:spPr>
          <a:xfrm>
            <a:off x="5067300" y="1885950"/>
            <a:ext cx="1714500" cy="1428750"/>
          </a:xfrm>
          <a:prstGeom prst="roundRect">
            <a:avLst>
              <a:gd name="adj" fmla="val 10667"/>
            </a:avLst>
          </a:prstGeom>
          <a:solidFill>
            <a:srgbClr val="E7F8F0"/>
          </a:solidFill>
          <a:ln w="9525">
            <a:solidFill>
              <a:srgbClr val="E7F8F0"/>
            </a:solidFill>
            <a:prstDash val="solid"/>
          </a:ln>
        </p:spPr>
        <p:txBody>
          <a:bodyPr/>
          <a:lstStyle/>
          <a:p>
            <a:endParaRPr/>
          </a:p>
        </p:txBody>
      </p:sp>
      <p:sp>
        <p:nvSpPr>
          <p:cNvPr id="14" name="Rettangolo 13">
            <a:extLst>
              <a:ext uri="{FF2B5EF4-FFF2-40B4-BE49-F238E27FC236}">
                <a16:creationId xmlns:a16="http://schemas.microsoft.com/office/drawing/2014/main" id="{6933333C-7762-40B6-A335-488B04D01FE9}"/>
              </a:ext>
            </a:extLst>
          </p:cNvPr>
          <p:cNvSpPr>
            <a:spLocks noGrp="1"/>
          </p:cNvSpPr>
          <p:nvPr/>
        </p:nvSpPr>
        <p:spPr>
          <a:xfrm>
            <a:off x="51816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a:ext uri="{FF2B5EF4-FFF2-40B4-BE49-F238E27FC236}">
                <a16:creationId xmlns:a16="http://schemas.microsoft.com/office/drawing/2014/main" id="{D6C7E621-5366-4ADA-9F42-14FFFBD21670}"/>
              </a:ext>
            </a:extLst>
          </p:cNvPr>
          <p:cNvSpPr>
            <a:spLocks noGrp="1"/>
          </p:cNvSpPr>
          <p:nvPr/>
        </p:nvSpPr>
        <p:spPr>
          <a:xfrm>
            <a:off x="51816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a:ext uri="{FF2B5EF4-FFF2-40B4-BE49-F238E27FC236}">
                <a16:creationId xmlns:a16="http://schemas.microsoft.com/office/drawing/2014/main" id="{00315F4D-4D0F-46DA-8343-DC26FB1BF534}"/>
              </a:ext>
            </a:extLst>
          </p:cNvPr>
          <p:cNvSpPr>
            <a:spLocks noGrp="1"/>
          </p:cNvSpPr>
          <p:nvPr/>
        </p:nvSpPr>
        <p:spPr>
          <a:xfrm>
            <a:off x="72580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0EF42E65-D8F5-4F54-9D14-D8F427D0CFD4}"/>
              </a:ext>
            </a:extLst>
          </p:cNvPr>
          <p:cNvSpPr>
            <a:spLocks noGrp="1"/>
          </p:cNvSpPr>
          <p:nvPr/>
        </p:nvSpPr>
        <p:spPr>
          <a:xfrm>
            <a:off x="73723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a:ext uri="{FF2B5EF4-FFF2-40B4-BE49-F238E27FC236}">
                <a16:creationId xmlns:a16="http://schemas.microsoft.com/office/drawing/2014/main" id="{8C403EC8-1210-44A7-826A-A435B28EDA3E}"/>
              </a:ext>
            </a:extLst>
          </p:cNvPr>
          <p:cNvSpPr>
            <a:spLocks noGrp="1"/>
          </p:cNvSpPr>
          <p:nvPr/>
        </p:nvSpPr>
        <p:spPr>
          <a:xfrm>
            <a:off x="73723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a:ext uri="{FF2B5EF4-FFF2-40B4-BE49-F238E27FC236}">
                <a16:creationId xmlns:a16="http://schemas.microsoft.com/office/drawing/2014/main" id="{44A407A9-0C70-42CE-96D8-4F4090679635}"/>
              </a:ext>
            </a:extLst>
          </p:cNvPr>
          <p:cNvSpPr>
            <a:spLocks noGrp="1"/>
          </p:cNvSpPr>
          <p:nvPr/>
        </p:nvSpPr>
        <p:spPr>
          <a:xfrm>
            <a:off x="9448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20" name="Rettangolo 19">
            <a:extLst>
              <a:ext uri="{FF2B5EF4-FFF2-40B4-BE49-F238E27FC236}">
                <a16:creationId xmlns:a16="http://schemas.microsoft.com/office/drawing/2014/main" id="{F11B0350-76FB-4DB6-9B42-178EBF016A42}"/>
              </a:ext>
            </a:extLst>
          </p:cNvPr>
          <p:cNvSpPr>
            <a:spLocks noGrp="1"/>
          </p:cNvSpPr>
          <p:nvPr/>
        </p:nvSpPr>
        <p:spPr>
          <a:xfrm>
            <a:off x="9563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a:ext uri="{FF2B5EF4-FFF2-40B4-BE49-F238E27FC236}">
                <a16:creationId xmlns:a16="http://schemas.microsoft.com/office/drawing/2014/main" id="{208868E6-4BF0-404D-BA6B-3AACD3C9C49D}"/>
              </a:ext>
            </a:extLst>
          </p:cNvPr>
          <p:cNvSpPr>
            <a:spLocks noGrp="1"/>
          </p:cNvSpPr>
          <p:nvPr/>
        </p:nvSpPr>
        <p:spPr>
          <a:xfrm>
            <a:off x="9563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a:ext uri="{FF2B5EF4-FFF2-40B4-BE49-F238E27FC236}">
                <a16:creationId xmlns:a16="http://schemas.microsoft.com/office/drawing/2014/main" id="{143CDE96-C95C-4603-8D8F-39D3E4C03054}"/>
              </a:ext>
            </a:extLst>
          </p:cNvPr>
          <p:cNvSpPr>
            <a:spLocks noGrp="1"/>
          </p:cNvSpPr>
          <p:nvPr/>
        </p:nvSpPr>
        <p:spPr>
          <a:xfrm>
            <a:off x="685800" y="3905250"/>
            <a:ext cx="108204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a:ext uri="{FF2B5EF4-FFF2-40B4-BE49-F238E27FC236}">
                <a16:creationId xmlns:a16="http://schemas.microsoft.com/office/drawing/2014/main" id="{11FB0154-B506-4357-9ADE-0DC5A01E2B7D}"/>
              </a:ext>
            </a:extLst>
          </p:cNvPr>
          <p:cNvSpPr>
            <a:spLocks noGrp="1"/>
          </p:cNvSpPr>
          <p:nvPr/>
        </p:nvSpPr>
        <p:spPr>
          <a:xfrm>
            <a:off x="1714500" y="4438650"/>
            <a:ext cx="8763000" cy="1562100"/>
          </a:xfrm>
          <a:prstGeom prst="rect">
            <a:avLst/>
          </a:prstGeom>
          <a:noFill/>
          <a:ln w="0">
            <a:noFill/>
            <a:prstDash val="solid"/>
          </a:ln>
        </p:spPr>
        <p:txBody>
          <a:bodyPr wrap="square" lIns="0" tIns="0" rIns="0" bIns="0" anchor="t">
            <a:noAutofit/>
          </a:bodyPr>
          <a:lstStyle/>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2007090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ECFD6A99-8731-4DCC-8B9C-3FAB62ADD79F}"/>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FE25CF9-76BA-4D25-BF65-031D10FFFE1E}"/>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a:ext uri="{FF2B5EF4-FFF2-40B4-BE49-F238E27FC236}">
                <a16:creationId xmlns:a16="http://schemas.microsoft.com/office/drawing/2014/main" id="{03D51E79-6B75-4622-885E-0AED5A11113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EE5EC74C-F846-4BB6-8F06-9C6093748B65}"/>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49061C5-1369-434C-85B4-B0C4550B308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B4</a:t>
            </a:r>
          </a:p>
        </p:txBody>
      </p:sp>
      <p:graphicFrame>
        <p:nvGraphicFramePr>
          <p:cNvPr id="16" name="Tabella 15"/>
          <p:cNvGraphicFramePr/>
          <p:nvPr/>
        </p:nvGraphicFramePr>
        <p:xfrm>
          <a:off x="685800" y="1485900"/>
          <a:ext cx="10820399" cy="3714750"/>
        </p:xfrm>
        <a:graphic>
          <a:graphicData uri="http://schemas.openxmlformats.org/drawingml/2006/table">
            <a:tbl>
              <a:tblPr/>
              <a:tblGrid>
                <a:gridCol w="3216876">
                  <a:extLst>
                    <a:ext uri="{9D8B030D-6E8A-4147-A177-3AD203B41FA5}">
                      <a16:colId xmlns:a16="http://schemas.microsoft.com/office/drawing/2014/main" val="20000"/>
                    </a:ext>
                  </a:extLst>
                </a:gridCol>
                <a:gridCol w="1462216">
                  <a:extLst>
                    <a:ext uri="{9D8B030D-6E8A-4147-A177-3AD203B41FA5}">
                      <a16:colId xmlns:a16="http://schemas.microsoft.com/office/drawing/2014/main" val="20001"/>
                    </a:ext>
                  </a:extLst>
                </a:gridCol>
                <a:gridCol w="1462216">
                  <a:extLst>
                    <a:ext uri="{9D8B030D-6E8A-4147-A177-3AD203B41FA5}">
                      <a16:colId xmlns:a16="http://schemas.microsoft.com/office/drawing/2014/main" val="20002"/>
                    </a:ext>
                  </a:extLst>
                </a:gridCol>
                <a:gridCol w="1462216">
                  <a:extLst>
                    <a:ext uri="{9D8B030D-6E8A-4147-A177-3AD203B41FA5}">
                      <a16:colId xmlns:a16="http://schemas.microsoft.com/office/drawing/2014/main" val="20003"/>
                    </a:ext>
                  </a:extLst>
                </a:gridCol>
                <a:gridCol w="1462216">
                  <a:extLst>
                    <a:ext uri="{9D8B030D-6E8A-4147-A177-3AD203B41FA5}">
                      <a16:colId xmlns:a16="http://schemas.microsoft.com/office/drawing/2014/main" val="20004"/>
                    </a:ext>
                  </a:extLst>
                </a:gridCol>
                <a:gridCol w="1754659">
                  <a:extLst>
                    <a:ext uri="{9D8B030D-6E8A-4147-A177-3AD203B41FA5}">
                      <a16:colId xmlns:a16="http://schemas.microsoft.com/office/drawing/2014/main" val="20005"/>
                    </a:ext>
                  </a:extLst>
                </a:gridCol>
              </a:tblGrid>
              <a:tr h="514350">
                <a:tc>
                  <a:txBody>
                    <a:bodyPr/>
                    <a:lstStyle/>
                    <a:p>
                      <a:pPr algn="l">
                        <a:buNone/>
                      </a:pPr>
                      <a:r>
                        <a:rPr sz="1425" b="1">
                          <a:solidFill>
                            <a:srgbClr val="FFFFFF"/>
                          </a:solidFill>
                        </a:rPr>
                        <a:t>Configuration</a:t>
                      </a:r>
                    </a:p>
                  </a:txBody>
                  <a:tcPr anchor="ctr">
                    <a:solidFill>
                      <a:srgbClr val="233A70"/>
                    </a:solidFill>
                  </a:tcPr>
                </a:tc>
                <a:tc>
                  <a:txBody>
                    <a:bodyPr/>
                    <a:lstStyle/>
                    <a:p>
                      <a:pPr algn="ctr">
                        <a:buNone/>
                      </a:pPr>
                      <a:r>
                        <a:rPr sz="1425" b="1">
                          <a:solidFill>
                            <a:srgbClr val="FFFFFF"/>
                          </a:solidFill>
                        </a:rPr>
                        <a:t>Accuracy</a:t>
                      </a:r>
                    </a:p>
                  </a:txBody>
                  <a:tcPr anchor="ctr">
                    <a:solidFill>
                      <a:srgbClr val="233A70"/>
                    </a:solidFill>
                  </a:tcPr>
                </a:tc>
                <a:tc>
                  <a:txBody>
                    <a:bodyPr/>
                    <a:lstStyle/>
                    <a:p>
                      <a:pPr algn="ctr">
                        <a:buNone/>
                      </a:pPr>
                      <a:r>
                        <a:rPr sz="1425" b="1">
                          <a:solidFill>
                            <a:srgbClr val="FFFFFF"/>
                          </a:solidFill>
                        </a:rPr>
                        <a:t>Recall</a:t>
                      </a:r>
                    </a:p>
                  </a:txBody>
                  <a:tcPr anchor="ctr">
                    <a:solidFill>
                      <a:srgbClr val="233A70"/>
                    </a:solidFill>
                  </a:tcPr>
                </a:tc>
                <a:tc>
                  <a:txBody>
                    <a:bodyPr/>
                    <a:lstStyle/>
                    <a:p>
                      <a:pPr algn="ctr">
                        <a:buNone/>
                      </a:pPr>
                      <a:r>
                        <a:rPr sz="1425" b="1">
                          <a:solidFill>
                            <a:srgbClr val="FFFFFF"/>
                          </a:solidFill>
                        </a:rPr>
                        <a:t>FNR</a:t>
                      </a:r>
                    </a:p>
                  </a:txBody>
                  <a:tcPr anchor="ctr">
                    <a:solidFill>
                      <a:srgbClr val="233A70"/>
                    </a:solidFill>
                  </a:tcPr>
                </a:tc>
                <a:tc>
                  <a:txBody>
                    <a:bodyPr/>
                    <a:lstStyle/>
                    <a:p>
                      <a:pPr algn="ctr">
                        <a:buNone/>
                      </a:pPr>
                      <a:r>
                        <a:rPr sz="1425" b="1">
                          <a:solidFill>
                            <a:srgbClr val="FFFFFF"/>
                          </a:solidFill>
                        </a:rPr>
                        <a:t>FPR</a:t>
                      </a:r>
                    </a:p>
                  </a:txBody>
                  <a:tcPr anchor="ctr">
                    <a:solidFill>
                      <a:srgbClr val="233A70"/>
                    </a:solidFill>
                  </a:tcPr>
                </a:tc>
                <a:tc>
                  <a:txBody>
                    <a:bodyPr/>
                    <a:lstStyle/>
                    <a:p>
                      <a:pPr algn="ctr">
                        <a:buNone/>
                      </a:pPr>
                      <a:r>
                        <a:rPr sz="1425" b="1">
                          <a:solidFill>
                            <a:srgbClr val="FFFFFF"/>
                          </a:solidFill>
                        </a:rPr>
                        <a:t>OOD W-rate</a:t>
                      </a:r>
                    </a:p>
                  </a:txBody>
                  <a:tcPr anchor="ctr">
                    <a:solidFill>
                      <a:srgbClr val="233A70"/>
                    </a:solidFill>
                  </a:tcPr>
                </a:tc>
                <a:extLst>
                  <a:ext uri="{0D108BD9-81ED-4DB2-BD59-A6C34878D82A}">
                    <a16:rowId xmlns:a16="http://schemas.microsoft.com/office/drawing/2014/main" val="10000"/>
                  </a:ext>
                </a:extLst>
              </a:tr>
              <a:tr h="533400">
                <a:tc>
                  <a:txBody>
                    <a:bodyPr/>
                    <a:lstStyle/>
                    <a:p>
                      <a:pPr algn="l">
                        <a:buNone/>
                      </a:pPr>
                      <a:r>
                        <a:rPr sz="1425" b="1">
                          <a:solidFill>
                            <a:srgbClr val="172033"/>
                          </a:solidFill>
                        </a:rPr>
                        <a:t>Magnet.AI</a:t>
                      </a:r>
                    </a:p>
                  </a:txBody>
                  <a:tcPr anchor="ctr">
                    <a:solidFill>
                      <a:srgbClr val="FFFFFF"/>
                    </a:solidFill>
                  </a:tcPr>
                </a:tc>
                <a:tc>
                  <a:txBody>
                    <a:bodyPr/>
                    <a:lstStyle/>
                    <a:p>
                      <a:pPr algn="ctr">
                        <a:buNone/>
                      </a:pPr>
                      <a:r>
                        <a:rPr sz="1425" b="0">
                          <a:solidFill>
                            <a:srgbClr val="172033"/>
                          </a:solidFill>
                        </a:rPr>
                        <a:t>95.0%</a:t>
                      </a:r>
                    </a:p>
                  </a:txBody>
                  <a:tcPr anchor="ctr">
                    <a:solidFill>
                      <a:srgbClr val="FFFFFF"/>
                    </a:solidFill>
                  </a:tcPr>
                </a:tc>
                <a:tc>
                  <a:txBody>
                    <a:bodyPr/>
                    <a:lstStyle/>
                    <a:p>
                      <a:pPr algn="ctr">
                        <a:buNone/>
                      </a:pPr>
                      <a:r>
                        <a:rPr sz="1425" b="0">
                          <a:solidFill>
                            <a:srgbClr val="172033"/>
                          </a:solidFill>
                        </a:rPr>
                        <a:t>93.0%</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3.0%</a:t>
                      </a:r>
                    </a:p>
                  </a:txBody>
                  <a:tcPr anchor="ctr">
                    <a:solidFill>
                      <a:srgbClr val="FFFFFF"/>
                    </a:solidFill>
                  </a:tcPr>
                </a:tc>
                <a:tc>
                  <a:txBody>
                    <a:bodyPr/>
                    <a:lstStyle/>
                    <a:p>
                      <a:pPr algn="ctr">
                        <a:buNone/>
                      </a:pPr>
                      <a:r>
                        <a:rPr sz="1425" b="0">
                          <a:solidFill>
                            <a:srgbClr val="172033"/>
                          </a:solidFill>
                        </a:rPr>
                        <a:t>36.0%</a:t>
                      </a: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1425" b="1">
                          <a:solidFill>
                            <a:srgbClr val="172033"/>
                          </a:solidFill>
                        </a:rPr>
                        <a:t>Excire D20</a:t>
                      </a:r>
                    </a:p>
                  </a:txBody>
                  <a:tcPr anchor="ctr">
                    <a:solidFill>
                      <a:srgbClr val="E9EEF8"/>
                    </a:solidFill>
                  </a:tcPr>
                </a:tc>
                <a:tc>
                  <a:txBody>
                    <a:bodyPr/>
                    <a:lstStyle/>
                    <a:p>
                      <a:pPr algn="ctr">
                        <a:buNone/>
                      </a:pPr>
                      <a:r>
                        <a:rPr sz="1425" b="0">
                          <a:solidFill>
                            <a:srgbClr val="172033"/>
                          </a:solidFill>
                        </a:rPr>
                        <a:t>92.7%</a:t>
                      </a:r>
                    </a:p>
                  </a:txBody>
                  <a:tcPr anchor="ctr">
                    <a:solidFill>
                      <a:srgbClr val="E9EEF8"/>
                    </a:solidFill>
                  </a:tcPr>
                </a:tc>
                <a:tc>
                  <a:txBody>
                    <a:bodyPr/>
                    <a:lstStyle/>
                    <a:p>
                      <a:pPr algn="ctr">
                        <a:buNone/>
                      </a:pPr>
                      <a:r>
                        <a:rPr sz="1425" b="0">
                          <a:solidFill>
                            <a:srgbClr val="172033"/>
                          </a:solidFill>
                        </a:rPr>
                        <a:t>88.0%</a:t>
                      </a:r>
                    </a:p>
                  </a:txBody>
                  <a:tcPr anchor="ctr">
                    <a:solidFill>
                      <a:srgbClr val="E9EEF8"/>
                    </a:solidFill>
                  </a:tcPr>
                </a:tc>
                <a:tc>
                  <a:txBody>
                    <a:bodyPr/>
                    <a:lstStyle/>
                    <a:p>
                      <a:pPr algn="ctr">
                        <a:buNone/>
                      </a:pPr>
                      <a:r>
                        <a:rPr sz="1425" b="0">
                          <a:solidFill>
                            <a:srgbClr val="172033"/>
                          </a:solidFill>
                        </a:rPr>
                        <a:t>12.0%</a:t>
                      </a:r>
                    </a:p>
                  </a:txBody>
                  <a:tcPr anchor="ctr">
                    <a:solidFill>
                      <a:srgbClr val="E9EEF8"/>
                    </a:solidFill>
                  </a:tcPr>
                </a:tc>
                <a:tc>
                  <a:txBody>
                    <a:bodyPr/>
                    <a:lstStyle/>
                    <a:p>
                      <a:pPr algn="ctr">
                        <a:buNone/>
                      </a:pPr>
                      <a:r>
                        <a:rPr sz="1425" b="0">
                          <a:solidFill>
                            <a:srgbClr val="172033"/>
                          </a:solidFill>
                        </a:rPr>
                        <a:t>2.6%</a:t>
                      </a:r>
                    </a:p>
                  </a:txBody>
                  <a:tcPr anchor="ctr">
                    <a:solidFill>
                      <a:srgbClr val="E9EEF8"/>
                    </a:solidFill>
                  </a:tcPr>
                </a:tc>
                <a:tc>
                  <a:txBody>
                    <a:bodyPr/>
                    <a:lstStyle/>
                    <a:p>
                      <a:pPr algn="ctr">
                        <a:buNone/>
                      </a:pPr>
                      <a:r>
                        <a:rPr sz="1425" b="0">
                          <a:solidFill>
                            <a:srgbClr val="172033"/>
                          </a:solidFill>
                        </a:rPr>
                        <a:t>23.8%</a:t>
                      </a:r>
                    </a:p>
                  </a:txBody>
                  <a:tcPr anchor="ctr">
                    <a:solidFill>
                      <a:srgbClr val="E9EEF8"/>
                    </a:solidFill>
                  </a:tcPr>
                </a:tc>
                <a:extLst>
                  <a:ext uri="{0D108BD9-81ED-4DB2-BD59-A6C34878D82A}">
                    <a16:rowId xmlns:a16="http://schemas.microsoft.com/office/drawing/2014/main" val="10002"/>
                  </a:ext>
                </a:extLst>
              </a:tr>
              <a:tr h="533400">
                <a:tc>
                  <a:txBody>
                    <a:bodyPr/>
                    <a:lstStyle/>
                    <a:p>
                      <a:pPr algn="l">
                        <a:buNone/>
                      </a:pPr>
                      <a:r>
                        <a:rPr sz="1425" b="1">
                          <a:solidFill>
                            <a:srgbClr val="172033"/>
                          </a:solidFill>
                        </a:rPr>
                        <a:t>Excire D50</a:t>
                      </a:r>
                    </a:p>
                  </a:txBody>
                  <a:tcPr anchor="ctr">
                    <a:solidFill>
                      <a:srgbClr val="FFFFFF"/>
                    </a:solidFill>
                  </a:tcPr>
                </a:tc>
                <a:tc>
                  <a:txBody>
                    <a:bodyPr/>
                    <a:lstStyle/>
                    <a:p>
                      <a:pPr algn="ctr">
                        <a:buNone/>
                      </a:pPr>
                      <a:r>
                        <a:rPr sz="1425" b="0">
                          <a:solidFill>
                            <a:srgbClr val="172033"/>
                          </a:solidFill>
                        </a:rPr>
                        <a:t>94.4%</a:t>
                      </a:r>
                    </a:p>
                  </a:txBody>
                  <a:tcPr anchor="ctr">
                    <a:solidFill>
                      <a:srgbClr val="FFFFFF"/>
                    </a:solidFill>
                  </a:tcPr>
                </a:tc>
                <a:tc>
                  <a:txBody>
                    <a:bodyPr/>
                    <a:lstStyle/>
                    <a:p>
                      <a:pPr algn="ctr">
                        <a:buNone/>
                      </a:pPr>
                      <a:r>
                        <a:rPr sz="1425" b="0">
                          <a:solidFill>
                            <a:srgbClr val="172033"/>
                          </a:solidFill>
                        </a:rPr>
                        <a:t>95.8%</a:t>
                      </a:r>
                    </a:p>
                  </a:txBody>
                  <a:tcPr anchor="ctr">
                    <a:solidFill>
                      <a:srgbClr val="FFFFFF"/>
                    </a:solidFill>
                  </a:tcPr>
                </a:tc>
                <a:tc>
                  <a:txBody>
                    <a:bodyPr/>
                    <a:lstStyle/>
                    <a:p>
                      <a:pPr algn="ctr">
                        <a:buNone/>
                      </a:pPr>
                      <a:r>
                        <a:rPr sz="1425" b="0">
                          <a:solidFill>
                            <a:srgbClr val="172033"/>
                          </a:solidFill>
                        </a:rPr>
                        <a:t>4.2%</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34.0%</a:t>
                      </a: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1425" b="1">
                          <a:solidFill>
                            <a:srgbClr val="172033"/>
                          </a:solidFill>
                        </a:rPr>
                        <a:t>Excire D80</a:t>
                      </a:r>
                    </a:p>
                  </a:txBody>
                  <a:tcPr anchor="ctr">
                    <a:solidFill>
                      <a:srgbClr val="E9EEF8"/>
                    </a:solidFill>
                  </a:tcPr>
                </a:tc>
                <a:tc>
                  <a:txBody>
                    <a:bodyPr/>
                    <a:lstStyle/>
                    <a:p>
                      <a:pPr algn="ctr">
                        <a:buNone/>
                      </a:pPr>
                      <a:r>
                        <a:rPr sz="1425" b="0">
                          <a:solidFill>
                            <a:srgbClr val="172033"/>
                          </a:solidFill>
                        </a:rPr>
                        <a:t>91.5%</a:t>
                      </a:r>
                    </a:p>
                  </a:txBody>
                  <a:tcPr anchor="ctr">
                    <a:solidFill>
                      <a:srgbClr val="E9EEF8"/>
                    </a:solidFill>
                  </a:tcPr>
                </a:tc>
                <a:tc>
                  <a:txBody>
                    <a:bodyPr/>
                    <a:lstStyle/>
                    <a:p>
                      <a:pPr algn="ctr">
                        <a:buNone/>
                      </a:pPr>
                      <a:r>
                        <a:rPr sz="1425" b="0">
                          <a:solidFill>
                            <a:srgbClr val="172033"/>
                          </a:solidFill>
                        </a:rPr>
                        <a:t>98.6%</a:t>
                      </a:r>
                    </a:p>
                  </a:txBody>
                  <a:tcPr anchor="ctr">
                    <a:solidFill>
                      <a:srgbClr val="E9EEF8"/>
                    </a:solidFill>
                  </a:tcPr>
                </a:tc>
                <a:tc>
                  <a:txBody>
                    <a:bodyPr/>
                    <a:lstStyle/>
                    <a:p>
                      <a:pPr algn="ctr">
                        <a:buNone/>
                      </a:pPr>
                      <a:r>
                        <a:rPr sz="1425" b="0">
                          <a:solidFill>
                            <a:srgbClr val="172033"/>
                          </a:solidFill>
                        </a:rPr>
                        <a:t>1.4%</a:t>
                      </a:r>
                    </a:p>
                  </a:txBody>
                  <a:tcPr anchor="ctr">
                    <a:solidFill>
                      <a:srgbClr val="E9EEF8"/>
                    </a:solidFill>
                  </a:tcPr>
                </a:tc>
                <a:tc>
                  <a:txBody>
                    <a:bodyPr/>
                    <a:lstStyle/>
                    <a:p>
                      <a:pPr algn="ctr">
                        <a:buNone/>
                      </a:pPr>
                      <a:r>
                        <a:rPr sz="1425" b="0">
                          <a:solidFill>
                            <a:srgbClr val="172033"/>
                          </a:solidFill>
                        </a:rPr>
                        <a:t>15.6%</a:t>
                      </a:r>
                    </a:p>
                  </a:txBody>
                  <a:tcPr anchor="ctr">
                    <a:solidFill>
                      <a:srgbClr val="E9EEF8"/>
                    </a:solidFill>
                  </a:tcPr>
                </a:tc>
                <a:tc>
                  <a:txBody>
                    <a:bodyPr/>
                    <a:lstStyle/>
                    <a:p>
                      <a:pPr algn="ctr">
                        <a:buNone/>
                      </a:pPr>
                      <a:r>
                        <a:rPr sz="1425" b="0">
                          <a:solidFill>
                            <a:srgbClr val="172033"/>
                          </a:solidFill>
                        </a:rPr>
                        <a:t>52.2%</a:t>
                      </a:r>
                    </a:p>
                  </a:txBody>
                  <a:tcPr anchor="ctr">
                    <a:solidFill>
                      <a:srgbClr val="E9EEF8"/>
                    </a:solidFill>
                  </a:tcPr>
                </a:tc>
                <a:extLst>
                  <a:ext uri="{0D108BD9-81ED-4DB2-BD59-A6C34878D82A}">
                    <a16:rowId xmlns:a16="http://schemas.microsoft.com/office/drawing/2014/main" val="10004"/>
                  </a:ext>
                </a:extLst>
              </a:tr>
              <a:tr h="533400">
                <a:tc>
                  <a:txBody>
                    <a:bodyPr/>
                    <a:lstStyle/>
                    <a:p>
                      <a:pPr algn="l">
                        <a:buNone/>
                      </a:pPr>
                      <a:r>
                        <a:rPr sz="1425" b="1">
                          <a:solidFill>
                            <a:srgbClr val="172033"/>
                          </a:solidFill>
                        </a:rPr>
                        <a:t>Cellebrite Inseyets</a:t>
                      </a:r>
                    </a:p>
                  </a:txBody>
                  <a:tcPr anchor="ctr">
                    <a:solidFill>
                      <a:srgbClr val="FFFFFF"/>
                    </a:solidFill>
                  </a:tcPr>
                </a:tc>
                <a:tc>
                  <a:txBody>
                    <a:bodyPr/>
                    <a:lstStyle/>
                    <a:p>
                      <a:pPr algn="ctr">
                        <a:buNone/>
                      </a:pPr>
                      <a:r>
                        <a:rPr sz="1425" b="0">
                          <a:solidFill>
                            <a:srgbClr val="172033"/>
                          </a:solidFill>
                        </a:rPr>
                        <a:t>96.4%</a:t>
                      </a:r>
                    </a:p>
                  </a:txBody>
                  <a:tcPr anchor="ctr">
                    <a:solidFill>
                      <a:srgbClr val="FFFFFF"/>
                    </a:solidFill>
                  </a:tcPr>
                </a:tc>
                <a:tc>
                  <a:txBody>
                    <a:bodyPr/>
                    <a:lstStyle/>
                    <a:p>
                      <a:pPr algn="ctr">
                        <a:buNone/>
                      </a:pPr>
                      <a:r>
                        <a:rPr sz="1425" b="0">
                          <a:solidFill>
                            <a:srgbClr val="172033"/>
                          </a:solidFill>
                        </a:rPr>
                        <a:t>96.8%</a:t>
                      </a:r>
                    </a:p>
                  </a:txBody>
                  <a:tcPr anchor="ctr">
                    <a:solidFill>
                      <a:srgbClr val="FFFFFF"/>
                    </a:solidFill>
                  </a:tcPr>
                </a:tc>
                <a:tc>
                  <a:txBody>
                    <a:bodyPr/>
                    <a:lstStyle/>
                    <a:p>
                      <a:pPr algn="ctr">
                        <a:buNone/>
                      </a:pPr>
                      <a:r>
                        <a:rPr sz="1425" b="0">
                          <a:solidFill>
                            <a:srgbClr val="172033"/>
                          </a:solidFill>
                        </a:rPr>
                        <a:t>3.2%</a:t>
                      </a:r>
                    </a:p>
                  </a:txBody>
                  <a:tcPr anchor="ctr">
                    <a:solidFill>
                      <a:srgbClr val="FFFFFF"/>
                    </a:solidFill>
                  </a:tcPr>
                </a:tc>
                <a:tc>
                  <a:txBody>
                    <a:bodyPr/>
                    <a:lstStyle/>
                    <a:p>
                      <a:pPr algn="ctr">
                        <a:buNone/>
                      </a:pPr>
                      <a:r>
                        <a:rPr sz="1425" b="0">
                          <a:solidFill>
                            <a:srgbClr val="172033"/>
                          </a:solidFill>
                        </a:rPr>
                        <a:t>4.0%</a:t>
                      </a:r>
                    </a:p>
                  </a:txBody>
                  <a:tcPr anchor="ctr">
                    <a:solidFill>
                      <a:srgbClr val="FFFFFF"/>
                    </a:solidFill>
                  </a:tcPr>
                </a:tc>
                <a:tc>
                  <a:txBody>
                    <a:bodyPr/>
                    <a:lstStyle/>
                    <a:p>
                      <a:pPr algn="ctr">
                        <a:buNone/>
                      </a:pPr>
                      <a:r>
                        <a:rPr sz="1425" b="0">
                          <a:solidFill>
                            <a:srgbClr val="172033"/>
                          </a:solidFill>
                        </a:rPr>
                        <a:t>29.2%</a:t>
                      </a:r>
                    </a:p>
                  </a:txBody>
                  <a:tcPr anchor="ctr">
                    <a:solidFill>
                      <a:srgbClr val="FFFFFF"/>
                    </a:solidFill>
                  </a:tcPr>
                </a:tc>
                <a:extLst>
                  <a:ext uri="{0D108BD9-81ED-4DB2-BD59-A6C34878D82A}">
                    <a16:rowId xmlns:a16="http://schemas.microsoft.com/office/drawing/2014/main" val="10005"/>
                  </a:ext>
                </a:extLst>
              </a:tr>
              <a:tr h="533400">
                <a:tc>
                  <a:txBody>
                    <a:bodyPr/>
                    <a:lstStyle/>
                    <a:p>
                      <a:pPr algn="l">
                        <a:buNone/>
                      </a:pPr>
                      <a:r>
                        <a:rPr sz="1425" b="1">
                          <a:solidFill>
                            <a:srgbClr val="172033"/>
                          </a:solidFill>
                        </a:rPr>
                        <a:t>Griffeye / T3K</a:t>
                      </a:r>
                    </a:p>
                  </a:txBody>
                  <a:tcPr anchor="ctr">
                    <a:solidFill>
                      <a:srgbClr val="E9EEF8"/>
                    </a:solidFill>
                  </a:tcPr>
                </a:tc>
                <a:tc>
                  <a:txBody>
                    <a:bodyPr/>
                    <a:lstStyle/>
                    <a:p>
                      <a:pPr algn="ctr">
                        <a:buNone/>
                      </a:pPr>
                      <a:r>
                        <a:rPr sz="1425" b="0">
                          <a:solidFill>
                            <a:srgbClr val="172033"/>
                          </a:solidFill>
                        </a:rPr>
                        <a:t>97.8%</a:t>
                      </a:r>
                    </a:p>
                  </a:txBody>
                  <a:tcPr anchor="ctr">
                    <a:solidFill>
                      <a:srgbClr val="E9EEF8"/>
                    </a:solidFill>
                  </a:tcPr>
                </a:tc>
                <a:tc>
                  <a:txBody>
                    <a:bodyPr/>
                    <a:lstStyle/>
                    <a:p>
                      <a:pPr algn="ctr">
                        <a:buNone/>
                      </a:pPr>
                      <a:r>
                        <a:rPr sz="1425" b="0">
                          <a:solidFill>
                            <a:srgbClr val="172033"/>
                          </a:solidFill>
                        </a:rPr>
                        <a:t>96.4%</a:t>
                      </a:r>
                    </a:p>
                  </a:txBody>
                  <a:tcPr anchor="ctr">
                    <a:solidFill>
                      <a:srgbClr val="E9EEF8"/>
                    </a:solidFill>
                  </a:tcPr>
                </a:tc>
                <a:tc>
                  <a:txBody>
                    <a:bodyPr/>
                    <a:lstStyle/>
                    <a:p>
                      <a:pPr algn="ctr">
                        <a:buNone/>
                      </a:pPr>
                      <a:r>
                        <a:rPr sz="1425" b="0">
                          <a:solidFill>
                            <a:srgbClr val="172033"/>
                          </a:solidFill>
                        </a:rPr>
                        <a:t>3.6%</a:t>
                      </a:r>
                    </a:p>
                  </a:txBody>
                  <a:tcPr anchor="ctr">
                    <a:solidFill>
                      <a:srgbClr val="E9EEF8"/>
                    </a:solidFill>
                  </a:tcPr>
                </a:tc>
                <a:tc>
                  <a:txBody>
                    <a:bodyPr/>
                    <a:lstStyle/>
                    <a:p>
                      <a:pPr algn="ctr">
                        <a:buNone/>
                      </a:pPr>
                      <a:r>
                        <a:rPr sz="1425" b="0">
                          <a:solidFill>
                            <a:srgbClr val="172033"/>
                          </a:solidFill>
                        </a:rPr>
                        <a:t>0.8%</a:t>
                      </a:r>
                    </a:p>
                  </a:txBody>
                  <a:tcPr anchor="ctr">
                    <a:solidFill>
                      <a:srgbClr val="E9EEF8"/>
                    </a:solidFill>
                  </a:tcPr>
                </a:tc>
                <a:tc>
                  <a:txBody>
                    <a:bodyPr/>
                    <a:lstStyle/>
                    <a:p>
                      <a:pPr algn="ctr">
                        <a:buNone/>
                      </a:pPr>
                      <a:r>
                        <a:rPr sz="1425" b="0">
                          <a:solidFill>
                            <a:srgbClr val="172033"/>
                          </a:solidFill>
                        </a:rPr>
                        <a:t>26.0%</a:t>
                      </a:r>
                    </a:p>
                  </a:txBody>
                  <a:tcPr anchor="ctr">
                    <a:solidFill>
                      <a:srgbClr val="E9EEF8"/>
                    </a:solidFill>
                  </a:tcPr>
                </a:tc>
                <a:extLst>
                  <a:ext uri="{0D108BD9-81ED-4DB2-BD59-A6C34878D82A}">
                    <a16:rowId xmlns:a16="http://schemas.microsoft.com/office/drawing/2014/main" val="10006"/>
                  </a:ext>
                </a:extLst>
              </a:tr>
            </a:tbl>
          </a:graphicData>
        </a:graphic>
      </p:graphicFrame>
      <p:sp>
        <p:nvSpPr>
          <p:cNvPr id="7" name="Rettangolo con angoli arrotondati 6">
            <a:extLst>
              <a:ext uri="{FF2B5EF4-FFF2-40B4-BE49-F238E27FC236}">
                <a16:creationId xmlns:a16="http://schemas.microsoft.com/office/drawing/2014/main" id="{D32727B6-06C1-49D9-947E-5CF838C2A296}"/>
              </a:ext>
            </a:extLst>
          </p:cNvPr>
          <p:cNvSpPr>
            <a:spLocks noGrp="1"/>
          </p:cNvSpPr>
          <p:nvPr/>
        </p:nvSpPr>
        <p:spPr>
          <a:xfrm>
            <a:off x="1123950" y="5505450"/>
            <a:ext cx="9944100" cy="609600"/>
          </a:xfrm>
          <a:prstGeom prst="roundRect">
            <a:avLst>
              <a:gd name="adj" fmla="val 21875"/>
            </a:avLst>
          </a:prstGeom>
          <a:solidFill>
            <a:srgbClr val="FFF4CD"/>
          </a:solidFill>
          <a:ln w="0">
            <a:noFill/>
            <a:prstDash val="solid"/>
          </a:ln>
        </p:spPr>
        <p:txBody>
          <a:bodyPr/>
          <a:lstStyle/>
          <a:p>
            <a:endParaRPr/>
          </a:p>
        </p:txBody>
      </p:sp>
      <p:sp>
        <p:nvSpPr>
          <p:cNvPr id="8" name="Rettangolo 7">
            <a:extLst>
              <a:ext uri="{FF2B5EF4-FFF2-40B4-BE49-F238E27FC236}">
                <a16:creationId xmlns:a16="http://schemas.microsoft.com/office/drawing/2014/main" id="{075FA7FD-80D1-4D89-BDEE-5525A60E4810}"/>
              </a:ext>
            </a:extLst>
          </p:cNvPr>
          <p:cNvSpPr>
            <a:spLocks noGrp="1"/>
          </p:cNvSpPr>
          <p:nvPr/>
        </p:nvSpPr>
        <p:spPr>
          <a:xfrm>
            <a:off x="1428750" y="5676900"/>
            <a:ext cx="933450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1255541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Fixed adversarial settings and claim boundaries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B5</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GRADIENT / SCORE-BASED</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FGSM · ε = 8/255 · untargeted</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fold-aware white-box checkpoint</a:t>
            </a:r>
            <a:r>
              <a:rPr lang="it-IT" sz="1800" dirty="0">
                <a:solidFill>
                  <a:srgbClr val="172033"/>
                </a:solidFill>
                <a:latin typeface="Arial"/>
                <a:ea typeface="Arial"/>
                <a:cs typeface="Arial"/>
              </a:rPr>
              <a:t> </a:t>
            </a:r>
            <a:endParaRPr sz="1800" dirty="0">
              <a:solidFill>
                <a:srgbClr val="172033"/>
              </a:solidFill>
              <a:latin typeface="Arial"/>
              <a:ea typeface="Arial"/>
              <a:cs typeface="Arial"/>
            </a:endParaRP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One Pixel · one-pixel DE</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50 iters · pop. 100 · seed 42</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SPARSE / BOUNDARY-BASED</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Sigma Zero · 1,000 reference steps</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η₀ = 1.0 · σ = .001 · τ₀ = .3</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err="1">
                <a:solidFill>
                  <a:srgbClr val="172033"/>
                </a:solidFill>
                <a:latin typeface="Arial"/>
                <a:ea typeface="Arial"/>
                <a:cs typeface="Arial"/>
              </a:rPr>
              <a:t>SuperDeepFool</a:t>
            </a:r>
            <a:r>
              <a:rPr sz="1800" dirty="0">
                <a:solidFill>
                  <a:srgbClr val="172033"/>
                </a:solidFill>
                <a:latin typeface="Arial"/>
                <a:ea typeface="Arial"/>
                <a:cs typeface="Arial"/>
              </a:rPr>
              <a:t> · internal L₂ adapter</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1 cycle · 50 inner · 1 projection</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Source model: EfficientNet-B0 · PNG outputs</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R +12 / G 0 / B −12 · saturation 1.10 · JPEG quality 95</a:t>
            </a:r>
          </a:p>
        </p:txBody>
      </p:sp>
    </p:spTree>
    <p:extLst>
      <p:ext uri="{BB962C8B-B14F-4D97-AF65-F5344CB8AC3E}">
        <p14:creationId xmlns:p14="http://schemas.microsoft.com/office/powerpoint/2010/main" val="9804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Frozen anti-forensic settings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B6</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SPATIAL / COMPRESSION</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 q70 · dimensions unchanged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Resize · 50% down/up · bicubic</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 · radius 1.5</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TONAL</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 per-channel equalization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 autocontrast · 1% cutoff</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Other outputs · JPEG q95</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Model-agnostic · 1,000 source-linked artifacts per condition</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One fixed setting; no severity-response curve</a:t>
            </a:r>
          </a:p>
        </p:txBody>
      </p:sp>
    </p:spTree>
    <p:extLst>
      <p:ext uri="{BB962C8B-B14F-4D97-AF65-F5344CB8AC3E}">
        <p14:creationId xmlns:p14="http://schemas.microsoft.com/office/powerpoint/2010/main" val="98046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How heterogeneous outputs became comparable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B7</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MAGNET</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476500" y="146685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‘Possible weapons’ tag → weapon</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GRIFFEYE</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476500" y="246697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T3K ‘CORE/Violence/Firearm’ bookmark → weapon</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EXCIRE</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476500" y="346710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Hit in ≥1 of eight firearm-prompt lists → weapon · D20 / D50 / D80 kept separate</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INSEYETS</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476500" y="446722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Cellebrite: ‘Armi’, ‘Pistola’ or ‘Fucile’ classification → weapon</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true → weapon · false → non_weapon · unsupported → unknown · 0 unknown in 69,000 decisions</a:t>
            </a:r>
          </a:p>
        </p:txBody>
      </p:sp>
    </p:spTree>
    <p:extLst>
      <p:ext uri="{BB962C8B-B14F-4D97-AF65-F5344CB8AC3E}">
        <p14:creationId xmlns:p14="http://schemas.microsoft.com/office/powerpoint/2010/main" val="163151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Metric denominators keep comparisons honest</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B8</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ACC</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Correct decisions / evaluated binary outputs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FNR</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FN / (TP + FN) = 1 − recall · missed-target risk</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FPR</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FP / (FP + TN) · review-workload risk</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OOD</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Weapon assignments / OOD responses · reported separately</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Proxy OOD: 5 folds × 500 = 2,500 responses · commercial OOD: 500 decisions/configuration</a:t>
            </a:r>
          </a:p>
        </p:txBody>
      </p:sp>
    </p:spTree>
    <p:extLst>
      <p:ext uri="{BB962C8B-B14F-4D97-AF65-F5344CB8AC3E}">
        <p14:creationId xmlns:p14="http://schemas.microsoft.com/office/powerpoint/2010/main" val="1631516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Limitations define the next validation steps</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B9</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FUTURE VALIDATION</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next steps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across data, tools and time</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Generalizability must be tested</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not assumed from one frozen protocol.</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BOUNDARY → NEXT STEP</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larger, heterogeneous, multi-reviewer sets</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Conditions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sweeps; full SDF; matched controls</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Tools</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repeat across versions; track drift</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Modalities</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extend beyond still images</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Governance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stronger audit and review controls</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Expand the protocol without weakening traceability.</a:t>
            </a:r>
          </a:p>
        </p:txBody>
      </p:sp>
    </p:spTree>
    <p:extLst>
      <p:ext uri="{BB962C8B-B14F-4D97-AF65-F5344CB8AC3E}">
        <p14:creationId xmlns:p14="http://schemas.microsoft.com/office/powerpoint/2010/main" val="1308217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5680</Words>
  <Application>Microsoft Office PowerPoint</Application>
  <DocSecurity>0</DocSecurity>
  <PresentationFormat>Widescreen</PresentationFormat>
  <Paragraphs>798</Paragraphs>
  <Slides>25</Slides>
  <Notes>25</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25</vt:i4>
      </vt:variant>
    </vt:vector>
  </HeadingPairs>
  <TitlesOfParts>
    <vt:vector size="29" baseType="lpstr">
      <vt:lpstr>Arial</vt:lpstr>
      <vt:lpstr>Calibri</vt:lpstr>
      <vt:lpstr>Carlito</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LELLO MOLINARIO</cp:lastModifiedBy>
  <cp:revision>11</cp:revision>
  <dcterms:created xsi:type="dcterms:W3CDTF">2026-09-06T08:00:34Z</dcterms:created>
  <dcterms:modified xsi:type="dcterms:W3CDTF">2026-09-28T17:16:04Z</dcterms:modified>
</cp:coreProperties>
</file>