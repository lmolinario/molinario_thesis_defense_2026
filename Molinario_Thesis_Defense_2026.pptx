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84" r:id="rId33"/>
    <p:sldId id="260" r:id="rId6"/>
    <p:sldId id="261" r:id="rId7"/>
    <p:sldId id="262" r:id="rId8"/>
    <p:sldId id="263" r:id="rId9"/>
    <p:sldId id="264" r:id="rId10"/>
    <p:sldId id="265" r:id="rId11"/>
    <p:sldId id="266" r:id="rId12"/>
    <p:sldId id="267" r:id="rId13"/>
    <p:sldId id="268" r:id="rId14"/>
    <p:sldId id="269" r:id="rId15"/>
    <p:sldId id="283"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DF3415-FB48-4CB0-8F5F-0B47D517F724}" v="4" dt="2026-09-23T09:49:49.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930" autoAdjust="0"/>
  </p:normalViewPr>
  <p:slideViewPr>
    <p:cSldViewPr snapToGrid="0" snapToObjects="1">
      <p:cViewPr varScale="1">
        <p:scale>
          <a:sx n="88" d="100"/>
          <a:sy n="88" d="100"/>
        </p:scale>
        <p:origin x="1356" y="72"/>
      </p:cViewPr>
      <p:guideLst/>
    </p:cSldViewPr>
  </p:slideViewPr>
  <p:notesTextViewPr>
    <p:cViewPr>
      <p:scale>
        <a:sx n="1" d="1"/>
        <a:sy n="1" d="1"/>
      </p:scale>
      <p:origin x="0" y="-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modSld">
      <pc:chgData name="LELLO MOLINARIO" userId="675167b3-0327-4eb0-b712-ad5d2d77a8a3" providerId="ADAL" clId="{9715378B-D33F-4C88-8CE1-003C56922897}" dt="2026-09-23T09:38:06.639" v="0" actId="20577"/>
      <pc:docMkLst>
        <pc:docMk/>
      </pc:docMkLst>
      <pc:sldChg chg="modNotesTx">
        <pc:chgData name="LELLO MOLINARIO" userId="675167b3-0327-4eb0-b712-ad5d2d77a8a3" providerId="ADAL" clId="{9715378B-D33F-4C88-8CE1-003C56922897}" dt="2026-09-23T09:38:06.639" v="0" actId="20577"/>
        <pc:sldMkLst>
          <pc:docMk/>
          <pc:sldMk cId="7108233" sldId="257"/>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0:00–0:30</a:t>
            </a:r>
          </a:p>
          <a:p>
            <a:endParaRPr lang="en-US" dirty="0"/>
          </a:p>
          <a:p>
            <a:r>
              <a:rPr lang="en-US" dirty="0"/>
              <a:t>SPEAKER SCRIPT</a:t>
            </a:r>
          </a:p>
          <a:p>
            <a:r>
              <a:rPr lang="en-US" dirty="0"/>
              <a:t>Good morning. My name is Lello Molinario, and today I will present my Master's thesis on the operational robustness of AI-based forensic tools under adversarial and anti-forensic conditions. Artificial intelligence is increasingly integrated into digital forensic tools to help investigators analyze and classify relevant data. In this work, automated image classification is used as a representative case study. The central question is whether AI-assisted forensic tools remain dependable when the data are intentionally manipulated to evade detection.</a:t>
            </a:r>
          </a:p>
          <a:p>
            <a:endParaRPr lang="en-US" dirty="0"/>
          </a:p>
          <a:p>
            <a:r>
              <a:rPr lang="en-US" dirty="0"/>
              <a:t>MEMORY ANCHORS</a:t>
            </a:r>
          </a:p>
          <a:p>
            <a:r>
              <a:rPr lang="en-US" dirty="0"/>
              <a:t>AI forensic tools → relevant data → manipulation → operational robustness → image classification as case study</a:t>
            </a:r>
          </a:p>
          <a:p>
            <a:endParaRPr lang="en-US" dirty="0"/>
          </a:p>
          <a:p>
            <a:r>
              <a:rPr lang="en-US" dirty="0"/>
              <a:t>TRANSITION</a:t>
            </a:r>
          </a:p>
          <a:p>
            <a:r>
              <a:rPr lang="en-US" dirty="0"/>
              <a:t>I will start from the operational risk that motivated this work.</a:t>
            </a:r>
          </a:p>
          <a:p>
            <a:endParaRPr lang="en-US" dirty="0"/>
          </a:p>
          <a:p>
            <a:r>
              <a:rPr lang="en-US" dirty="0"/>
              <a:t>[Sources]</a:t>
            </a:r>
          </a:p>
          <a:p>
            <a:r>
              <a:rPr lang="en-US" dirty="0"/>
              <a:t>- docs/</a:t>
            </a:r>
            <a:r>
              <a:rPr lang="en-US" dirty="0" err="1"/>
              <a:t>LatexThesis</a:t>
            </a:r>
            <a:r>
              <a:rPr lang="en-US" dirty="0"/>
              <a:t>/</a:t>
            </a:r>
            <a:r>
              <a:rPr lang="en-US" dirty="0" err="1"/>
              <a:t>title.tex</a:t>
            </a:r>
            <a:endParaRPr lang="en-US" dirty="0"/>
          </a:p>
          <a:p>
            <a:r>
              <a:rPr lang="en-US" dirty="0"/>
              <a:t>- docs/</a:t>
            </a:r>
            <a:r>
              <a:rPr lang="en-US" dirty="0" err="1"/>
              <a:t>LatexThesis</a:t>
            </a:r>
            <a:r>
              <a:rPr lang="en-US" dirty="0"/>
              <a:t>/sections/00_abstract.tex</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Digital </a:t>
            </a:r>
            <a:r>
              <a:rPr lang="it-IT" dirty="0" err="1"/>
              <a:t>investigations</a:t>
            </a:r>
            <a:r>
              <a:rPr lang="it-IT" dirty="0"/>
              <a:t> </a:t>
            </a:r>
            <a:r>
              <a:rPr lang="it-IT" dirty="0" err="1"/>
              <a:t>may</a:t>
            </a:r>
            <a:r>
              <a:rPr lang="it-IT" dirty="0"/>
              <a:t> involve </a:t>
            </a:r>
            <a:r>
              <a:rPr lang="it-IT" dirty="0" err="1"/>
              <a:t>very</a:t>
            </a:r>
            <a:r>
              <a:rPr lang="it-IT" dirty="0"/>
              <a:t> large </a:t>
            </a:r>
            <a:r>
              <a:rPr lang="it-IT" dirty="0" err="1"/>
              <a:t>amounts</a:t>
            </a:r>
            <a:r>
              <a:rPr lang="it-IT" dirty="0"/>
              <a:t> of data.</a:t>
            </a:r>
          </a:p>
          <a:p>
            <a:r>
              <a:rPr lang="it-IT" dirty="0"/>
              <a:t>AI-</a:t>
            </a:r>
            <a:r>
              <a:rPr lang="it-IT" dirty="0" err="1"/>
              <a:t>based</a:t>
            </a:r>
            <a:r>
              <a:rPr lang="it-IT" dirty="0"/>
              <a:t> tools can help </a:t>
            </a:r>
            <a:r>
              <a:rPr lang="it-IT" dirty="0" err="1"/>
              <a:t>investigators</a:t>
            </a:r>
            <a:r>
              <a:rPr lang="it-IT" dirty="0"/>
              <a:t> by </a:t>
            </a:r>
            <a:r>
              <a:rPr lang="it-IT" dirty="0" err="1"/>
              <a:t>prioritizing</a:t>
            </a:r>
            <a:r>
              <a:rPr lang="it-IT" dirty="0"/>
              <a:t> the </a:t>
            </a:r>
            <a:r>
              <a:rPr lang="it-IT" dirty="0" err="1"/>
              <a:t>content</a:t>
            </a:r>
            <a:r>
              <a:rPr lang="it-IT" dirty="0"/>
              <a:t> </a:t>
            </a:r>
            <a:r>
              <a:rPr lang="it-IT" dirty="0" err="1"/>
              <a:t>that</a:t>
            </a:r>
            <a:r>
              <a:rPr lang="it-IT" dirty="0"/>
              <a:t> </a:t>
            </a:r>
            <a:r>
              <a:rPr lang="it-IT" dirty="0" err="1"/>
              <a:t>should</a:t>
            </a:r>
            <a:r>
              <a:rPr lang="it-IT" dirty="0"/>
              <a:t> be </a:t>
            </a:r>
            <a:r>
              <a:rPr lang="it-IT" dirty="0" err="1"/>
              <a:t>reviewed</a:t>
            </a:r>
            <a:r>
              <a:rPr lang="it-IT" dirty="0"/>
              <a:t> first.</a:t>
            </a:r>
          </a:p>
          <a:p>
            <a:r>
              <a:rPr lang="it-IT" dirty="0" err="1"/>
              <a:t>However</a:t>
            </a:r>
            <a:r>
              <a:rPr lang="it-IT" dirty="0"/>
              <a:t>, the </a:t>
            </a:r>
            <a:r>
              <a:rPr lang="it-IT" dirty="0" err="1"/>
              <a:t>main</a:t>
            </a:r>
            <a:r>
              <a:rPr lang="it-IT" dirty="0"/>
              <a:t> </a:t>
            </a:r>
            <a:r>
              <a:rPr lang="it-IT" dirty="0" err="1"/>
              <a:t>operational</a:t>
            </a:r>
            <a:r>
              <a:rPr lang="it-IT" dirty="0"/>
              <a:t> risk </a:t>
            </a:r>
            <a:r>
              <a:rPr lang="it-IT" dirty="0" err="1"/>
              <a:t>is</a:t>
            </a:r>
            <a:r>
              <a:rPr lang="it-IT" dirty="0"/>
              <a:t> a false negative.</a:t>
            </a:r>
          </a:p>
          <a:p>
            <a:r>
              <a:rPr lang="it-IT" dirty="0"/>
              <a:t>A false positive </a:t>
            </a:r>
            <a:r>
              <a:rPr lang="it-IT" dirty="0" err="1"/>
              <a:t>creates</a:t>
            </a:r>
            <a:r>
              <a:rPr lang="it-IT" dirty="0"/>
              <a:t> </a:t>
            </a:r>
            <a:r>
              <a:rPr lang="it-IT" dirty="0" err="1"/>
              <a:t>additional</a:t>
            </a:r>
            <a:r>
              <a:rPr lang="it-IT" dirty="0"/>
              <a:t> work for the </a:t>
            </a:r>
            <a:r>
              <a:rPr lang="it-IT" dirty="0" err="1"/>
              <a:t>analyst</a:t>
            </a:r>
            <a:r>
              <a:rPr lang="it-IT" dirty="0"/>
              <a:t>, </a:t>
            </a:r>
            <a:r>
              <a:rPr lang="it-IT" dirty="0" err="1"/>
              <a:t>but</a:t>
            </a:r>
            <a:r>
              <a:rPr lang="it-IT" dirty="0"/>
              <a:t> a false negative </a:t>
            </a:r>
            <a:r>
              <a:rPr lang="it-IT" dirty="0" err="1"/>
              <a:t>may</a:t>
            </a:r>
            <a:r>
              <a:rPr lang="it-IT" dirty="0"/>
              <a:t> </a:t>
            </a:r>
            <a:r>
              <a:rPr lang="it-IT" dirty="0" err="1"/>
              <a:t>silently</a:t>
            </a:r>
            <a:r>
              <a:rPr lang="it-IT" dirty="0"/>
              <a:t> </a:t>
            </a:r>
            <a:r>
              <a:rPr lang="it-IT" dirty="0" err="1"/>
              <a:t>exclude</a:t>
            </a:r>
            <a:r>
              <a:rPr lang="it-IT" dirty="0"/>
              <a:t> </a:t>
            </a:r>
            <a:r>
              <a:rPr lang="it-IT" dirty="0" err="1"/>
              <a:t>relevant</a:t>
            </a:r>
            <a:r>
              <a:rPr lang="it-IT" dirty="0"/>
              <a:t> </a:t>
            </a:r>
            <a:r>
              <a:rPr lang="it-IT" dirty="0" err="1"/>
              <a:t>evidence</a:t>
            </a:r>
            <a:r>
              <a:rPr lang="it-IT" dirty="0"/>
              <a:t> from the </a:t>
            </a:r>
            <a:r>
              <a:rPr lang="it-IT" dirty="0" err="1"/>
              <a:t>priority</a:t>
            </a:r>
            <a:r>
              <a:rPr lang="it-IT" dirty="0"/>
              <a:t> </a:t>
            </a:r>
            <a:r>
              <a:rPr lang="it-IT" dirty="0" err="1"/>
              <a:t>queue</a:t>
            </a:r>
            <a:r>
              <a:rPr lang="it-IT" dirty="0"/>
              <a:t>.</a:t>
            </a:r>
          </a:p>
          <a:p>
            <a:r>
              <a:rPr lang="it-IT" dirty="0"/>
              <a:t>For </a:t>
            </a:r>
            <a:r>
              <a:rPr lang="it-IT" dirty="0" err="1"/>
              <a:t>this</a:t>
            </a:r>
            <a:r>
              <a:rPr lang="it-IT" dirty="0"/>
              <a:t> </a:t>
            </a:r>
            <a:r>
              <a:rPr lang="it-IT" dirty="0" err="1"/>
              <a:t>reason</a:t>
            </a:r>
            <a:r>
              <a:rPr lang="it-IT" dirty="0"/>
              <a:t>, good performance on </a:t>
            </a:r>
            <a:r>
              <a:rPr lang="it-IT" dirty="0" err="1"/>
              <a:t>clean</a:t>
            </a:r>
            <a:r>
              <a:rPr lang="it-IT" dirty="0"/>
              <a:t> data </a:t>
            </a:r>
            <a:r>
              <a:rPr lang="it-IT" dirty="0" err="1"/>
              <a:t>is</a:t>
            </a:r>
            <a:r>
              <a:rPr lang="it-IT" dirty="0"/>
              <a:t> </a:t>
            </a:r>
            <a:r>
              <a:rPr lang="it-IT" dirty="0" err="1"/>
              <a:t>not</a:t>
            </a:r>
            <a:r>
              <a:rPr lang="it-IT" dirty="0"/>
              <a:t> </a:t>
            </a:r>
            <a:r>
              <a:rPr lang="it-IT" dirty="0" err="1"/>
              <a:t>enough</a:t>
            </a:r>
            <a:r>
              <a:rPr lang="it-IT" dirty="0"/>
              <a:t>.</a:t>
            </a:r>
          </a:p>
          <a:p>
            <a:r>
              <a:rPr lang="it-IT" dirty="0"/>
              <a:t>The key </a:t>
            </a:r>
            <a:r>
              <a:rPr lang="it-IT" dirty="0" err="1"/>
              <a:t>question</a:t>
            </a:r>
            <a:r>
              <a:rPr lang="it-IT" dirty="0"/>
              <a:t> </a:t>
            </a:r>
            <a:r>
              <a:rPr lang="it-IT" dirty="0" err="1"/>
              <a:t>is</a:t>
            </a:r>
            <a:r>
              <a:rPr lang="it-IT" dirty="0"/>
              <a:t> </a:t>
            </a:r>
            <a:r>
              <a:rPr lang="it-IT" dirty="0" err="1"/>
              <a:t>how</a:t>
            </a:r>
            <a:r>
              <a:rPr lang="it-IT" dirty="0"/>
              <a:t> </a:t>
            </a:r>
            <a:r>
              <a:rPr lang="it-IT" dirty="0" err="1"/>
              <a:t>these</a:t>
            </a:r>
            <a:r>
              <a:rPr lang="it-IT" dirty="0"/>
              <a:t> tools </a:t>
            </a:r>
            <a:r>
              <a:rPr lang="it-IT" dirty="0" err="1"/>
              <a:t>behave</a:t>
            </a:r>
            <a:r>
              <a:rPr lang="it-IT" dirty="0"/>
              <a:t> </a:t>
            </a:r>
            <a:r>
              <a:rPr lang="it-IT" dirty="0" err="1"/>
              <a:t>when</a:t>
            </a:r>
            <a:r>
              <a:rPr lang="it-IT" dirty="0"/>
              <a:t> the input </a:t>
            </a:r>
            <a:r>
              <a:rPr lang="it-IT" dirty="0" err="1"/>
              <a:t>is</a:t>
            </a:r>
            <a:r>
              <a:rPr lang="it-IT" dirty="0"/>
              <a:t> </a:t>
            </a:r>
            <a:r>
              <a:rPr lang="it-IT" dirty="0" err="1"/>
              <a:t>adversarial</a:t>
            </a:r>
            <a:r>
              <a:rPr lang="it-IT" dirty="0"/>
              <a:t>, anti-</a:t>
            </a:r>
            <a:r>
              <a:rPr lang="it-IT" dirty="0" err="1"/>
              <a:t>forensic</a:t>
            </a:r>
            <a:r>
              <a:rPr lang="it-IT" dirty="0"/>
              <a:t>, or out of </a:t>
            </a:r>
            <a:r>
              <a:rPr lang="it-IT" dirty="0" err="1"/>
              <a:t>distribution</a:t>
            </a:r>
            <a:r>
              <a:rPr lang="it-IT" dirty="0"/>
              <a:t>.</a:t>
            </a:r>
          </a:p>
          <a:p>
            <a:endParaRPr lang="it-IT" b="1"/>
          </a:p>
          <a:p>
            <a:r>
              <a:rPr b="1"/>
              <a:t>Transition</a:t>
            </a:r>
            <a:r>
              <a:rPr dirty="0"/>
              <a:t>: To answer this question, I designed the </a:t>
            </a:r>
            <a:r>
              <a:rPr dirty="0" err="1"/>
              <a:t>FAIRLab</a:t>
            </a:r>
            <a:r>
              <a:rPr dirty="0"/>
              <a:t> protocol.</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FAIRLab</a:t>
            </a:r>
            <a:r>
              <a:rPr dirty="0"/>
              <a:t> connects six stages. I start from a heterogeneous image pool, validate and deduplicate it, and freeze 1,500 source images. I generate controlled perturbations, evaluate three transparent proxies and six commercial configurations, normalize the observable outputs, and interpret the results in forensic terms. Traceability runs through the complete process with identifiers, manifests, checksums, frozen configurations and source-to-output links.</a:t>
            </a:r>
          </a:p>
          <a:p>
            <a:r>
              <a:rPr b="1" dirty="0"/>
              <a:t>Transition</a:t>
            </a:r>
            <a:r>
              <a:rPr dirty="0"/>
              <a:t>: This is the exact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frozen population contains 1,500 source images: 500 weapon, 500 non-weapon and 500 images in a separate OOD branch. The 1,000 binary images produce ten linked variants each, for 10,000 adversarial and anti-forensic files. Together with the clean sources, the tool-facing bundle contains 11,500 files. The variants remain linked to their sources; they are not 10,000 independent cases. OOD is evaluated separately, not as a third supervised class.</a:t>
            </a:r>
          </a:p>
          <a:p>
            <a:r>
              <a:t>Transition: Before moving to the tools, I will clarify how weapon, non-weapon and OOD play different roles.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first evidence level uses transparent proxy models: EfficientNet-B0, ResNet18 and a CLIP-based proxy. Here I can inspect predictions, gradients and fold-aware checkpoints. The second level uses four commercial black-box systems in six configurations, where only analyst-visible outputs are available. The threat model is essential: model-dependent attacks are direct only on EfficientNet-B0. On every other system, the same files measure empirical transfer. Color Shift and the five anti-forensic transformations are model-agnostic conditions.</a:t>
            </a:r>
          </a:p>
          <a:p>
            <a:r>
              <a:rPr b="1" dirty="0"/>
              <a:t>Transition</a:t>
            </a:r>
            <a:r>
              <a:rPr dirty="0"/>
              <a:t>: Different outputs can be compared only after an explicit normalization step.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Commercial tools expose tags, bookmarks, labels or retrieval results rather than one common prediction interface. I therefore freeze a mapping for every tool version and configuration and normalize each output into weapon, non-weapon or unknown. This makes directional errors comparable. The false-negative rate represents missed-target risk; the false-positive rate represents review workload. OOD weapon assignment is reported separately. No unknown state occurred in the 69,000 normalized commercial decisions, but the protocol keeps that state explicit.</a:t>
            </a:r>
          </a:p>
          <a:p>
            <a:r>
              <a:rPr b="1" dirty="0"/>
              <a:t>Transition</a:t>
            </a:r>
            <a:r>
              <a:rPr dirty="0"/>
              <a:t>: With the comparison rules fixed, we can now examine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EfficientNet-B0 reaches 97.8 percent clean accuracy. Under the strongest direct Sigma Zero condition, it falls to 1.5 percent: a drop of 96.3 percentage points. The same generated artifacts do not transfer uniformly. The worst transferred accuracies are 91.8 percent for ResNet18 and 91.4 percent for CLIP. These are different claims: the first is direct-target vulnerability; the others are empirical transfer. Aggregate anti-forensic effects are smaller, with a largest proxy drop of 3.0 points, but directional errors still matter.</a:t>
            </a:r>
          </a:p>
          <a:p>
            <a:r>
              <a:rPr b="1" dirty="0"/>
              <a:t>Transition</a:t>
            </a:r>
            <a:r>
              <a:rPr dirty="0"/>
              <a:t>: The commercial-tool heatmap shows that transfer is also configuration-dependent.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heatmap is the clearest publication visual for black-box transfer. I would not read every cell. The message is heterogeneity: the same </a:t>
            </a:r>
            <a:r>
              <a:rPr dirty="0" err="1"/>
              <a:t>EfficientNet</a:t>
            </a:r>
            <a:r>
              <a:rPr dirty="0"/>
              <a:t>-generated artifacts have different effects across tools and across settings of the same tool. The largest observed effects are Sigma Zero transfers on </a:t>
            </a:r>
            <a:r>
              <a:rPr dirty="0" err="1"/>
              <a:t>Excire</a:t>
            </a:r>
            <a:r>
              <a:rPr dirty="0"/>
              <a:t> D50 and D80, with drops of 20.2 and 25.8 percentage points. These are transfer results, not direct attacks on proprietary models, and they do not create a product ranking.</a:t>
            </a:r>
          </a:p>
          <a:p>
            <a:r>
              <a:rPr b="1" dirty="0"/>
              <a:t>Transition</a:t>
            </a:r>
            <a:r>
              <a:rPr dirty="0"/>
              <a:t>: Configuration also changes the ordinary clean-condition error trade-off.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One accuracy value is not enough. For </a:t>
            </a:r>
            <a:r>
              <a:rPr dirty="0" err="1"/>
              <a:t>Excire</a:t>
            </a:r>
            <a:r>
              <a:rPr dirty="0"/>
              <a:t>, moving from distance 20 to distance 80 reduces the missed-target rate from 12.0 to 1.4 percent. However, the false-positive rate rises from 2.6 to 15.6 percent, and OOD weapon assignment rises from 23.8 to 52.2 percent. A setting can therefore reduce silent misses while creating much more review work and more OOD routing. These rows are frozen operating profiles, not a universal ranking of products.</a:t>
            </a:r>
          </a:p>
          <a:p>
            <a:r>
              <a:rPr b="1" dirty="0"/>
              <a:t>Transition</a:t>
            </a:r>
            <a:r>
              <a:rPr dirty="0"/>
              <a:t>: The separate OOD branch makes that third behavior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Every evaluated system assigns at least some OOD images to the weapon-oriented state. The CLIP proxy reaches 83.6 percent, while the commercial configurations range from 23.8 to 52.2 percent. For CLIP, 500 OOD images are evaluated by five fold-specific checkpoints, so 83.6 percent refers to 2,500 responses. Each commercial rate uses one normalized decision per image. These values are not supervised false-positive rates; they describe closed-set operating behavior.</a:t>
            </a:r>
          </a:p>
          <a:p>
            <a:r>
              <a:rPr b="1" dirty="0"/>
              <a:t>Transition</a:t>
            </a:r>
            <a:r>
              <a:rPr dirty="0"/>
              <a:t>: One explainability case shows why even a very concentrated output is not a guarantee.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case 0015, the reference class is non-weapon. After Sigma Zero, the proxy predicts weapon with a maximum predicted-class probability of 1.000. Integrated Gradients helps inspect where this selected proxy response is concentrated, but the claim is deliberately limited. The attribution is a qualitative diagnostic. It does not certify correctness, calibrate confidence or explain the internal behavior of a proprietary tool.</a:t>
            </a:r>
          </a:p>
          <a:p>
            <a:r>
              <a:rPr b="1" dirty="0"/>
              <a:t>Transition</a:t>
            </a:r>
            <a:r>
              <a:rPr dirty="0"/>
              <a:t>: These findings lead to a clear operational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still be useful, but it should create a prioritized queue rather than an irreversible exclusion. The analyst reviews the context and makes the final decision. Every action should preserve the tool version, configuration, output mapping and validation context. This keeps the efficiency benefit while making the process reviewable and defensible. The practical rule is simple: use AI to prioritize evidence review, never to silently exclude evidence.</a:t>
            </a:r>
          </a:p>
          <a:p>
            <a:r>
              <a:rPr b="1" dirty="0"/>
              <a:t>Transition</a:t>
            </a:r>
            <a:r>
              <a:rPr dirty="0"/>
              <a:t>: Before I close, I will state the boundaries that keep this result defensible.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strongest limitations are the 1,500-image single-reviewer corpus, one frozen parameter setting per perturbation, direct attacks only on EfficientNet-B0, and version-dependent black-box outputs. Fifteen of 11,500 files matched a predefined sensitive metadata term. Leave-out differences were small, but this does not prove causal irrelevance for every decision. The work makes no legal-admissibility, certification or universal-ranking claim.</a:t>
            </a:r>
          </a:p>
          <a:p>
            <a:r>
              <a:rPr b="1" dirty="0"/>
              <a:t>Transition</a:t>
            </a:r>
            <a:r>
              <a:rPr dirty="0"/>
              <a:t>: I will finish with three points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First, clean performance is only a baseline; robustness depends on the condition. Second, direct attacks, empirical transfer, OOD behavior and configuration trade-offs are distinct dimensions and must not be mixed. Third, </a:t>
            </a:r>
            <a:r>
              <a:rPr dirty="0" err="1"/>
              <a:t>FAIRLab</a:t>
            </a:r>
            <a:r>
              <a:rPr dirty="0"/>
              <a:t> makes those dimensions traceable, auditable and reviewable by a forensic expert. The final message is: AI can prioritize evidence, but it must not silently exclude it. Thank you. I am happy to take your questions.</a:t>
            </a:r>
          </a:p>
          <a:p>
            <a:endParaRPr dirty="0"/>
          </a:p>
          <a:p>
            <a:r>
              <a:rPr dirty="0"/>
              <a:t>Backup map for Presenter View:</a:t>
            </a:r>
          </a:p>
          <a:p>
            <a:r>
              <a:rPr dirty="0"/>
              <a:t>B1 formal research questions · B2 perturbation overview · B3 traceability · B4 exact commercial metrics · B5 adversarial parameters · B6 anti-forensic parameters · B7 output normalization · B8 formulas and denominators · B9 limitations and future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B1 · Research questions</a:t>
            </a:r>
          </a:p>
          <a:p>
            <a:r>
              <a:rPr lang="en-US" dirty="0"/>
              <a:t>if the commission asks how the thesis claims map to the formal research questions</a:t>
            </a:r>
            <a:r>
              <a:rPr lang="it-IT" dirty="0"/>
              <a:t>. </a:t>
            </a:r>
            <a:r>
              <a:rPr dirty="0"/>
              <a:t>Answer briefly:</a:t>
            </a:r>
            <a:r>
              <a:rPr lang="it-IT" dirty="0"/>
              <a:t> </a:t>
            </a:r>
            <a:r>
              <a:rPr dirty="0"/>
              <a:t>RQ1 covers clean, OOD, adversarial and anti-forensic behavior of the proxies; RQ2 separates direct attack, transfer and model-agnostic conditions; RQ3 concerns black-box outputs and configuration profiles; RQ4 connects directional errors and OOD routing to continued human review. Repeat that the assessment is protocol-specific, not certification or legal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B2 · Perturbation suite</a:t>
            </a:r>
          </a:p>
          <a:p>
            <a:r>
              <a:rPr lang="it-IT"/>
              <a:t>Use this slide </a:t>
            </a:r>
            <a:r>
              <a:t>if </a:t>
            </a:r>
            <a:r>
              <a:rPr dirty="0"/>
              <a:t>the commission asks which conditions were evaluated. The adversarial or adversarial-style group includes FGSM, One Pixel, Sigma Zero, </a:t>
            </a:r>
            <a:r>
              <a:rPr dirty="0" err="1"/>
              <a:t>SuperDeepFool</a:t>
            </a:r>
            <a:r>
              <a:rPr dirty="0"/>
              <a:t> and deterministic model-agnostic Color Shift. The anti-forensic group includes JPEG recompression, resampling, Gaussian blur, histogram modification and contrast stretching. Stress again that model-dependent attacks are direct only on EfficientNet-B0 and are transfer tests elsewhere.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B3 · Traceability and reproducibility</a:t>
            </a:r>
          </a:p>
          <a:p>
            <a:r>
              <a:rPr dirty="0"/>
              <a:t>if the commission asks how a reported number can be audited. Start from the source manifest, follow the source-condition identifier to the derived file, then to the proxy or tool output, the normalized operational state, the metric table and the final figure. SHA-256 digests, frozen registries and explicit mapping rules protect this chain.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B4 · Exact commercial metrics</a:t>
            </a:r>
          </a:p>
          <a:p>
            <a:r>
              <a:rPr dirty="0"/>
              <a:t>Use this table only for a numerical question about one commercial configuration. Keep clean binary metrics and OOD routing separate. The strongest clean accuracy in this frozen comparison is 97.8 percent for </a:t>
            </a:r>
            <a:r>
              <a:rPr dirty="0" err="1"/>
              <a:t>Griffeye</a:t>
            </a:r>
            <a:r>
              <a:rPr dirty="0"/>
              <a:t>/T3K, but the rows are operating profiles under specific versions and settings; they do not establish a general product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B5 · Frozen adversarial settings</a:t>
            </a:r>
          </a:p>
          <a:p>
            <a:r>
              <a:rPr dirty="0"/>
              <a:t>if the commission asks whether the attacks were reproducible or which parameters were fixed. FGSM is untargeted with ε = 8/255 in pixel space. One Pixel uses Differential Evolution over x, y, R, G and B, with 50 iterations, an effective population of approximately 100, seed 42 and early stopping after misclassification. Sigma Zero uses 1,000 steps, η₀ = 1.0, σ = 0.001 and τ₀ = 0.3. </a:t>
            </a:r>
            <a:r>
              <a:rPr dirty="0" err="1"/>
              <a:t>SuperDeepFool</a:t>
            </a:r>
            <a:r>
              <a:rPr dirty="0"/>
              <a:t> uses SDF(∞,1), 20 outer iterations, 50 </a:t>
            </a:r>
            <a:r>
              <a:rPr dirty="0" err="1"/>
              <a:t>DeepFool</a:t>
            </a:r>
            <a:r>
              <a:rPr dirty="0"/>
              <a:t> iterations and one projection step. All model-dependent conditions target the fold-aware EfficientNet-B0 checkpoint. Color Shift is 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B6 · Frozen anti-forensic settings</a:t>
            </a:r>
          </a:p>
          <a:p>
            <a:r>
              <a:rPr dirty="0"/>
              <a:t>if the commission asks how the anti-forensic transformations were controlled. JPEG recompression uses quality 70 without changing dimensions. Resize </a:t>
            </a:r>
            <a:r>
              <a:rPr dirty="0" err="1"/>
              <a:t>downsamples</a:t>
            </a:r>
            <a:r>
              <a:rPr dirty="0"/>
              <a:t> to 50 percent and restores the original dimensions with bicubic interpolation. Gaussian blur uses radius 1.5. Histogram modification applies per-channel equalization, while contrast stretching uses </a:t>
            </a:r>
            <a:r>
              <a:rPr dirty="0" err="1"/>
              <a:t>autocontrast</a:t>
            </a:r>
            <a:r>
              <a:rPr dirty="0"/>
              <a:t> with a 1 percent cutoff. The four transformations other than the dedicated recompression condition are serialized at JPEG quality 95. Each condition is model-agnostic and uses one frozen setting.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B7 · Black-box output normalization</a:t>
            </a:r>
          </a:p>
          <a:p>
            <a:r>
              <a:rPr dirty="0"/>
              <a:t>if the commission asks how unlike commercial outputs were made comparable. Magnet uses its Possible weapons tag; </a:t>
            </a:r>
            <a:r>
              <a:rPr dirty="0" err="1"/>
              <a:t>Griffeye</a:t>
            </a:r>
            <a:r>
              <a:rPr dirty="0"/>
              <a:t>/T3K uses the CORE/Violence/Firearm bookmark; </a:t>
            </a:r>
            <a:r>
              <a:rPr dirty="0" err="1"/>
              <a:t>Excire</a:t>
            </a:r>
            <a:r>
              <a:rPr dirty="0"/>
              <a:t> uses membership in at least one of eight frozen firearm-oriented prompt hit lists, keeping D20, D50 and D80 separate; Cellebrite uses the Armi, Pistola or Fucile classifications. The frozen rules convert observable states to true, false or unsupported, and then to weapon, </a:t>
            </a:r>
            <a:r>
              <a:rPr dirty="0" err="1"/>
              <a:t>non_weapon</a:t>
            </a:r>
            <a:r>
              <a:rPr dirty="0"/>
              <a:t> or unknown. Unsupported values are never silently treated as negative. No unknown decision occurred in the final 69,000-row population.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B8 · Metric formulas and denominators</a:t>
            </a:r>
          </a:p>
          <a:p>
            <a:r>
              <a:rPr lang="it-IT" dirty="0" err="1"/>
              <a:t>If</a:t>
            </a:r>
            <a:r>
              <a:rPr lang="it-IT" dirty="0"/>
              <a:t> the commissione </a:t>
            </a:r>
            <a:r>
              <a:rPr lang="it-IT" dirty="0" err="1"/>
              <a:t>asks</a:t>
            </a:r>
            <a:r>
              <a:rPr lang="it-IT" dirty="0"/>
              <a:t> </a:t>
            </a:r>
            <a:r>
              <a:rPr dirty="0"/>
              <a:t>for a question about metric interpretation. Accuracy summarizes correct binary decisions. FNR is FN divided by TP plus FN and corresponds to missed-target risk. FPR is FP divided by FP plus TN and corresponds to additional review workload. OOD weapon assignment is reported separately because OOD images do not belong to the supervised weapon/non-weapon task. Proxy OOD values aggregate five fold-specific responses for each of 500 images, so the denominator is 2,500. Each commercial configuration produces one decision per OOD image, so its denominator is 500. Unknown outputs are excluded from binary denominators and reported separately.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B9 · Limitations and future validation</a:t>
            </a:r>
          </a:p>
          <a:p>
            <a:r>
              <a:rPr dirty="0"/>
              <a:t>if the commission asks how the work should be extended. The next step is not merely to seek higher accuracy. It is to test whether the observed operating profiles remain stable across larger and more heterogeneous multi-reviewer datasets, parameter sweeps and adaptive attacks, repeated commercial-tool versions, additional media modalities and stronger audit controls. These directions address the current boundaries without changing the central requirement: every extension must remain traceable and reviewable by a forensic expert.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binary task contains two in-distribution groups: weapon and non-weapon. Weapon images contain a real firearm or firearm-like object sufficiently visible and relevant to the triage task. Non-weapon images are realistic negatives with no firearm but remain compatible with the same visual domain. OOD is different: it is a separate robustness branch containing borderline, synthetic, degraded, ambiguous or semantically external inputs, such as toys or replicas, CGI, non-firearm weapons or war imagery. OOD is not a third supervised class; it is used to observe closed-set behavior outside the intended binary distribution.</a:t>
            </a:r>
          </a:p>
          <a:p>
            <a:r>
              <a:t>Transition: With this distinction clear, I can now explain the two evidence levels used in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23/09/2026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23/09/2026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23/09/2026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06</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07</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08</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09</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10</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11</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12</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13</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14</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2"/>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 y="457200"/>
            <a:ext cx="10789920" cy="566928"/>
          </a:xfrm>
          <a:prstGeom prst="rect">
            <a:avLst/>
          </a:prstGeom>
          <a:noFill/>
        </p:spPr>
        <p:txBody>
          <a:bodyPr wrap="square" anchor="t">
            <a:spAutoFit/>
          </a:bodyPr>
          <a:lstStyle/>
          <a:p>
            <a:pPr algn="l"/>
            <a:r>
              <a:rPr sz="3550" b="1">
                <a:solidFill>
                  <a:srgbClr val="233A70"/>
                </a:solidFill>
                <a:latin typeface="Arial"/>
              </a:rPr>
              <a:t>Weapon, non-weapon and OOD: distinct roles</a:t>
            </a:r>
          </a:p>
        </p:txBody>
      </p:sp>
      <p:sp>
        <p:nvSpPr>
          <p:cNvPr id="4" name="Rectangle 3"/>
          <p:cNvSpPr/>
          <p:nvPr/>
        </p:nvSpPr>
        <p:spPr>
          <a:xfrm>
            <a:off x="694944" y="1078992"/>
            <a:ext cx="10826496" cy="18288"/>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94944" y="1481328"/>
            <a:ext cx="3273552" cy="3886200"/>
          </a:xfrm>
          <a:prstGeom prst="roundRect">
            <a:avLst/>
          </a:prstGeom>
          <a:solidFill>
            <a:srgbClr val="FBEAEA"/>
          </a:solidFill>
          <a:ln>
            <a:solidFill>
              <a:srgbClr val="FBEA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36391"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36391" y="1645920"/>
            <a:ext cx="621792" cy="320040"/>
          </a:xfrm>
          <a:prstGeom prst="rect">
            <a:avLst/>
          </a:prstGeom>
          <a:noFill/>
        </p:spPr>
        <p:txBody>
          <a:bodyPr wrap="square" anchor="ctr">
            <a:spAutoFit/>
          </a:bodyPr>
          <a:lstStyle/>
          <a:p>
            <a:pPr algn="ctr"/>
            <a:r>
              <a:rPr sz="1300" b="1">
                <a:solidFill>
                  <a:srgbClr val="C43D38"/>
                </a:solidFill>
                <a:latin typeface="Arial"/>
              </a:rPr>
              <a:t>500</a:t>
            </a:r>
          </a:p>
        </p:txBody>
      </p:sp>
      <p:pic>
        <p:nvPicPr>
          <p:cNvPr id="8" name="Picture 7" descr="gun.png"/>
          <p:cNvPicPr>
            <a:picLocks noChangeAspect="1"/>
          </p:cNvPicPr>
          <p:nvPr/>
        </p:nvPicPr>
        <p:blipFill>
          <a:blip r:embed="rId2"/>
          <a:stretch>
            <a:fillRect/>
          </a:stretch>
        </p:blipFill>
        <p:spPr>
          <a:xfrm>
            <a:off x="1773936" y="1865376"/>
            <a:ext cx="1097280" cy="1097280"/>
          </a:xfrm>
          <a:prstGeom prst="rect">
            <a:avLst/>
          </a:prstGeom>
        </p:spPr>
      </p:pic>
      <p:sp>
        <p:nvSpPr>
          <p:cNvPr id="9" name="TextBox 8"/>
          <p:cNvSpPr txBox="1"/>
          <p:nvPr/>
        </p:nvSpPr>
        <p:spPr>
          <a:xfrm>
            <a:off x="950976" y="2944368"/>
            <a:ext cx="2761488" cy="411480"/>
          </a:xfrm>
          <a:prstGeom prst="rect">
            <a:avLst/>
          </a:prstGeom>
          <a:noFill/>
        </p:spPr>
        <p:txBody>
          <a:bodyPr wrap="square" anchor="t">
            <a:spAutoFit/>
          </a:bodyPr>
          <a:lstStyle/>
          <a:p>
            <a:pPr algn="ctr"/>
            <a:r>
              <a:rPr sz="2050" b="1">
                <a:solidFill>
                  <a:srgbClr val="C43D38"/>
                </a:solidFill>
                <a:latin typeface="Arial"/>
              </a:rPr>
              <a:t>WEAPON</a:t>
            </a:r>
          </a:p>
        </p:txBody>
      </p:sp>
      <p:sp>
        <p:nvSpPr>
          <p:cNvPr id="10" name="TextBox 9"/>
          <p:cNvSpPr txBox="1"/>
          <p:nvPr/>
        </p:nvSpPr>
        <p:spPr>
          <a:xfrm>
            <a:off x="950976" y="3383280"/>
            <a:ext cx="2761488" cy="347472"/>
          </a:xfrm>
          <a:prstGeom prst="rect">
            <a:avLst/>
          </a:prstGeom>
          <a:noFill/>
        </p:spPr>
        <p:txBody>
          <a:bodyPr wrap="square" anchor="t">
            <a:spAutoFit/>
          </a:bodyPr>
          <a:lstStyle/>
          <a:p>
            <a:pPr algn="ctr"/>
            <a:r>
              <a:rPr sz="1250" b="1">
                <a:solidFill>
                  <a:srgbClr val="233A70"/>
                </a:solidFill>
                <a:latin typeface="Arial"/>
              </a:rPr>
              <a:t>IN-DISTRIBUTION POSITIVE</a:t>
            </a:r>
          </a:p>
        </p:txBody>
      </p:sp>
      <p:sp>
        <p:nvSpPr>
          <p:cNvPr id="11" name="Rectangle 10"/>
          <p:cNvSpPr/>
          <p:nvPr/>
        </p:nvSpPr>
        <p:spPr>
          <a:xfrm>
            <a:off x="1106424"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4005072"/>
            <a:ext cx="2633472" cy="1024128"/>
          </a:xfrm>
          <a:prstGeom prst="rect">
            <a:avLst/>
          </a:prstGeom>
          <a:noFill/>
        </p:spPr>
        <p:txBody>
          <a:bodyPr wrap="square" anchor="t">
            <a:spAutoFit/>
          </a:bodyPr>
          <a:lstStyle/>
          <a:p>
            <a:pPr algn="ctr"/>
            <a:r>
              <a:rPr sz="1240" b="0">
                <a:solidFill>
                  <a:srgbClr val="5D6A7F"/>
                </a:solidFill>
                <a:latin typeface="Arial"/>
              </a:rPr>
              <a:t>Real firearm or firearm-like object, sufficiently visible and relevant to the binary triage task.</a:t>
            </a:r>
          </a:p>
        </p:txBody>
      </p:sp>
      <p:sp>
        <p:nvSpPr>
          <p:cNvPr id="13" name="Rounded Rectangle 12"/>
          <p:cNvSpPr/>
          <p:nvPr/>
        </p:nvSpPr>
        <p:spPr>
          <a:xfrm>
            <a:off x="4462272" y="1481328"/>
            <a:ext cx="3273552" cy="3886200"/>
          </a:xfrm>
          <a:prstGeom prst="roundRect">
            <a:avLst/>
          </a:prstGeom>
          <a:solidFill>
            <a:srgbClr val="E7F8F0"/>
          </a:solidFill>
          <a:ln>
            <a:solidFill>
              <a:srgbClr val="E7F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03720"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03720" y="1645920"/>
            <a:ext cx="621792" cy="320040"/>
          </a:xfrm>
          <a:prstGeom prst="rect">
            <a:avLst/>
          </a:prstGeom>
          <a:noFill/>
        </p:spPr>
        <p:txBody>
          <a:bodyPr wrap="square" anchor="ctr">
            <a:spAutoFit/>
          </a:bodyPr>
          <a:lstStyle/>
          <a:p>
            <a:pPr algn="ctr"/>
            <a:r>
              <a:rPr sz="1300" b="1">
                <a:solidFill>
                  <a:srgbClr val="007F5C"/>
                </a:solidFill>
                <a:latin typeface="Arial"/>
              </a:rPr>
              <a:t>500</a:t>
            </a:r>
          </a:p>
        </p:txBody>
      </p:sp>
      <p:pic>
        <p:nvPicPr>
          <p:cNvPr id="16" name="Picture 15" descr="mug.png"/>
          <p:cNvPicPr>
            <a:picLocks noChangeAspect="1"/>
          </p:cNvPicPr>
          <p:nvPr/>
        </p:nvPicPr>
        <p:blipFill>
          <a:blip r:embed="rId3"/>
          <a:stretch>
            <a:fillRect/>
          </a:stretch>
        </p:blipFill>
        <p:spPr>
          <a:xfrm>
            <a:off x="5541264" y="1865376"/>
            <a:ext cx="1097280" cy="1097280"/>
          </a:xfrm>
          <a:prstGeom prst="rect">
            <a:avLst/>
          </a:prstGeom>
        </p:spPr>
      </p:pic>
      <p:sp>
        <p:nvSpPr>
          <p:cNvPr id="17" name="TextBox 16"/>
          <p:cNvSpPr txBox="1"/>
          <p:nvPr/>
        </p:nvSpPr>
        <p:spPr>
          <a:xfrm>
            <a:off x="4718304" y="2944368"/>
            <a:ext cx="2761488" cy="411480"/>
          </a:xfrm>
          <a:prstGeom prst="rect">
            <a:avLst/>
          </a:prstGeom>
          <a:noFill/>
        </p:spPr>
        <p:txBody>
          <a:bodyPr wrap="square" anchor="t">
            <a:spAutoFit/>
          </a:bodyPr>
          <a:lstStyle/>
          <a:p>
            <a:pPr algn="ctr"/>
            <a:r>
              <a:rPr sz="2050" b="1">
                <a:solidFill>
                  <a:srgbClr val="007F5C"/>
                </a:solidFill>
                <a:latin typeface="Arial"/>
              </a:rPr>
              <a:t>NON-WEAPON</a:t>
            </a:r>
          </a:p>
        </p:txBody>
      </p:sp>
      <p:sp>
        <p:nvSpPr>
          <p:cNvPr id="18" name="TextBox 17"/>
          <p:cNvSpPr txBox="1"/>
          <p:nvPr/>
        </p:nvSpPr>
        <p:spPr>
          <a:xfrm>
            <a:off x="4718304" y="3383280"/>
            <a:ext cx="2761488" cy="347472"/>
          </a:xfrm>
          <a:prstGeom prst="rect">
            <a:avLst/>
          </a:prstGeom>
          <a:noFill/>
        </p:spPr>
        <p:txBody>
          <a:bodyPr wrap="square" anchor="t">
            <a:spAutoFit/>
          </a:bodyPr>
          <a:lstStyle/>
          <a:p>
            <a:pPr algn="ctr"/>
            <a:r>
              <a:rPr sz="1250" b="1">
                <a:solidFill>
                  <a:srgbClr val="233A70"/>
                </a:solidFill>
                <a:latin typeface="Arial"/>
              </a:rPr>
              <a:t>IN-DISTRIBUTION NEGATIVE</a:t>
            </a:r>
          </a:p>
        </p:txBody>
      </p:sp>
      <p:sp>
        <p:nvSpPr>
          <p:cNvPr id="19" name="Rectangle 18"/>
          <p:cNvSpPr/>
          <p:nvPr/>
        </p:nvSpPr>
        <p:spPr>
          <a:xfrm>
            <a:off x="4873752"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82312" y="4005072"/>
            <a:ext cx="2633472" cy="1024128"/>
          </a:xfrm>
          <a:prstGeom prst="rect">
            <a:avLst/>
          </a:prstGeom>
          <a:noFill/>
        </p:spPr>
        <p:txBody>
          <a:bodyPr wrap="square" anchor="t">
            <a:spAutoFit/>
          </a:bodyPr>
          <a:lstStyle/>
          <a:p>
            <a:pPr algn="ctr"/>
            <a:r>
              <a:rPr sz="1240" b="0">
                <a:solidFill>
                  <a:srgbClr val="5D6A7F"/>
                </a:solidFill>
                <a:latin typeface="Arial"/>
              </a:rPr>
              <a:t>Realistic image with no firearm, still compatible with the visual domain of the binary task.</a:t>
            </a:r>
          </a:p>
        </p:txBody>
      </p:sp>
      <p:sp>
        <p:nvSpPr>
          <p:cNvPr id="21" name="Rounded Rectangle 20"/>
          <p:cNvSpPr/>
          <p:nvPr/>
        </p:nvSpPr>
        <p:spPr>
          <a:xfrm>
            <a:off x="8229600" y="1481328"/>
            <a:ext cx="3273552" cy="3886200"/>
          </a:xfrm>
          <a:prstGeom prst="roundRect">
            <a:avLst/>
          </a:prstGeom>
          <a:solidFill>
            <a:srgbClr val="FFF4CD"/>
          </a:solidFill>
          <a:ln>
            <a:solidFill>
              <a:srgbClr val="FFF4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671048"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71048" y="1645920"/>
            <a:ext cx="621792" cy="320040"/>
          </a:xfrm>
          <a:prstGeom prst="rect">
            <a:avLst/>
          </a:prstGeom>
          <a:noFill/>
        </p:spPr>
        <p:txBody>
          <a:bodyPr wrap="square" anchor="ctr">
            <a:spAutoFit/>
          </a:bodyPr>
          <a:lstStyle/>
          <a:p>
            <a:pPr algn="ctr"/>
            <a:r>
              <a:rPr sz="1300" b="1">
                <a:solidFill>
                  <a:srgbClr val="C99500"/>
                </a:solidFill>
                <a:latin typeface="Arial"/>
              </a:rPr>
              <a:t>500</a:t>
            </a:r>
          </a:p>
        </p:txBody>
      </p:sp>
      <p:pic>
        <p:nvPicPr>
          <p:cNvPr id="24" name="Picture 23" descr="gamepad.png"/>
          <p:cNvPicPr>
            <a:picLocks noChangeAspect="1"/>
          </p:cNvPicPr>
          <p:nvPr/>
        </p:nvPicPr>
        <p:blipFill>
          <a:blip r:embed="rId4"/>
          <a:stretch>
            <a:fillRect/>
          </a:stretch>
        </p:blipFill>
        <p:spPr>
          <a:xfrm>
            <a:off x="8796528" y="1984248"/>
            <a:ext cx="685800" cy="685800"/>
          </a:xfrm>
          <a:prstGeom prst="rect">
            <a:avLst/>
          </a:prstGeom>
        </p:spPr>
      </p:pic>
      <p:pic>
        <p:nvPicPr>
          <p:cNvPr id="25" name="Picture 24" descr="robot.png"/>
          <p:cNvPicPr>
            <a:picLocks noChangeAspect="1"/>
          </p:cNvPicPr>
          <p:nvPr/>
        </p:nvPicPr>
        <p:blipFill>
          <a:blip r:embed="rId5"/>
          <a:stretch>
            <a:fillRect/>
          </a:stretch>
        </p:blipFill>
        <p:spPr>
          <a:xfrm>
            <a:off x="9509760" y="1801368"/>
            <a:ext cx="822960" cy="822960"/>
          </a:xfrm>
          <a:prstGeom prst="rect">
            <a:avLst/>
          </a:prstGeom>
        </p:spPr>
      </p:pic>
      <p:pic>
        <p:nvPicPr>
          <p:cNvPr id="26" name="Picture 25" descr="warn.png"/>
          <p:cNvPicPr>
            <a:picLocks noChangeAspect="1"/>
          </p:cNvPicPr>
          <p:nvPr/>
        </p:nvPicPr>
        <p:blipFill>
          <a:blip r:embed="rId6"/>
          <a:stretch>
            <a:fillRect/>
          </a:stretch>
        </p:blipFill>
        <p:spPr>
          <a:xfrm>
            <a:off x="10222992" y="1984248"/>
            <a:ext cx="685800" cy="685800"/>
          </a:xfrm>
          <a:prstGeom prst="rect">
            <a:avLst/>
          </a:prstGeom>
        </p:spPr>
      </p:pic>
      <p:sp>
        <p:nvSpPr>
          <p:cNvPr id="27" name="TextBox 26"/>
          <p:cNvSpPr txBox="1"/>
          <p:nvPr/>
        </p:nvSpPr>
        <p:spPr>
          <a:xfrm>
            <a:off x="8485632" y="2944368"/>
            <a:ext cx="2761488" cy="411480"/>
          </a:xfrm>
          <a:prstGeom prst="rect">
            <a:avLst/>
          </a:prstGeom>
          <a:noFill/>
        </p:spPr>
        <p:txBody>
          <a:bodyPr wrap="square" anchor="t">
            <a:spAutoFit/>
          </a:bodyPr>
          <a:lstStyle/>
          <a:p>
            <a:pPr algn="ctr"/>
            <a:r>
              <a:rPr sz="2050" b="1">
                <a:solidFill>
                  <a:srgbClr val="C99500"/>
                </a:solidFill>
                <a:latin typeface="Arial"/>
              </a:rPr>
              <a:t>OOD</a:t>
            </a:r>
          </a:p>
        </p:txBody>
      </p:sp>
      <p:sp>
        <p:nvSpPr>
          <p:cNvPr id="28" name="TextBox 27"/>
          <p:cNvSpPr txBox="1"/>
          <p:nvPr/>
        </p:nvSpPr>
        <p:spPr>
          <a:xfrm>
            <a:off x="8485632" y="3383280"/>
            <a:ext cx="2761488" cy="347472"/>
          </a:xfrm>
          <a:prstGeom prst="rect">
            <a:avLst/>
          </a:prstGeom>
          <a:noFill/>
        </p:spPr>
        <p:txBody>
          <a:bodyPr wrap="square" anchor="t">
            <a:spAutoFit/>
          </a:bodyPr>
          <a:lstStyle/>
          <a:p>
            <a:pPr algn="ctr"/>
            <a:r>
              <a:rPr sz="1250" b="1">
                <a:solidFill>
                  <a:srgbClr val="233A70"/>
                </a:solidFill>
                <a:latin typeface="Arial"/>
              </a:rPr>
              <a:t>SEPARATE ROBUSTNESS BRANCH</a:t>
            </a:r>
          </a:p>
        </p:txBody>
      </p:sp>
      <p:sp>
        <p:nvSpPr>
          <p:cNvPr id="29" name="Rectangle 28"/>
          <p:cNvSpPr/>
          <p:nvPr/>
        </p:nvSpPr>
        <p:spPr>
          <a:xfrm>
            <a:off x="8641080"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9640" y="4005072"/>
            <a:ext cx="2633472" cy="1024128"/>
          </a:xfrm>
          <a:prstGeom prst="rect">
            <a:avLst/>
          </a:prstGeom>
          <a:noFill/>
        </p:spPr>
        <p:txBody>
          <a:bodyPr wrap="square" anchor="t">
            <a:spAutoFit/>
          </a:bodyPr>
          <a:lstStyle/>
          <a:p>
            <a:pPr algn="ctr"/>
            <a:r>
              <a:rPr sz="1240" b="0">
                <a:solidFill>
                  <a:srgbClr val="5D6A7F"/>
                </a:solidFill>
                <a:latin typeface="Arial"/>
              </a:rPr>
              <a:t>Borderline, synthetic, degraded, ambiguous or semantically external inputs: e.g., toys/replicas, CGI/cartoon, non-firearm weapons or war imagery.</a:t>
            </a:r>
          </a:p>
        </p:txBody>
      </p:sp>
      <p:sp>
        <p:nvSpPr>
          <p:cNvPr id="31" name="Rounded Rectangle 30"/>
          <p:cNvSpPr/>
          <p:nvPr/>
        </p:nvSpPr>
        <p:spPr>
          <a:xfrm>
            <a:off x="694944" y="5577840"/>
            <a:ext cx="10808208" cy="658368"/>
          </a:xfrm>
          <a:prstGeom prst="roundRect">
            <a:avLst/>
          </a:prstGeom>
          <a:solidFill>
            <a:srgbClr val="E9EEF8"/>
          </a:solidFill>
          <a:ln>
            <a:solidFill>
              <a:srgbClr val="E9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5687568"/>
            <a:ext cx="10378440" cy="329184"/>
          </a:xfrm>
          <a:prstGeom prst="rect">
            <a:avLst/>
          </a:prstGeom>
          <a:noFill/>
        </p:spPr>
        <p:txBody>
          <a:bodyPr wrap="square" anchor="ctr">
            <a:spAutoFit/>
          </a:bodyPr>
          <a:lstStyle/>
          <a:p>
            <a:pPr algn="ctr"/>
            <a:r>
              <a:rPr sz="1420" b="1">
                <a:solidFill>
                  <a:srgbClr val="233A70"/>
                </a:solidFill>
                <a:latin typeface="Arial"/>
              </a:rPr>
              <a:t>Binary task = weapon vs non_weapon   |   OOD is not a third supervised class and is evaluated separately.</a:t>
            </a:r>
          </a:p>
        </p:txBody>
      </p:sp>
      <p:sp>
        <p:nvSpPr>
          <p:cNvPr id="33" name="TextBox 32"/>
          <p:cNvSpPr txBox="1"/>
          <p:nvPr/>
        </p:nvSpPr>
        <p:spPr>
          <a:xfrm>
            <a:off x="694944" y="6510528"/>
            <a:ext cx="3657600" cy="182880"/>
          </a:xfrm>
          <a:prstGeom prst="rect">
            <a:avLst/>
          </a:prstGeom>
          <a:noFill/>
        </p:spPr>
        <p:txBody>
          <a:bodyPr wrap="square" anchor="t">
            <a:spAutoFit/>
          </a:bodyPr>
          <a:lstStyle/>
          <a:p>
            <a:pPr algn="l"/>
            <a:r>
              <a:rPr sz="850" b="0">
                <a:solidFill>
                  <a:srgbClr val="5D6A7F"/>
                </a:solidFill>
                <a:latin typeface="Arial"/>
              </a:rPr>
              <a:t>Illustrative icons — not dataset samples</a:t>
            </a:r>
          </a:p>
        </p:txBody>
      </p:sp>
      <p:sp>
        <p:nvSpPr>
          <p:cNvPr id="34" name="TextBox 33"/>
          <p:cNvSpPr txBox="1"/>
          <p:nvPr/>
        </p:nvSpPr>
        <p:spPr>
          <a:xfrm>
            <a:off x="694944" y="6620256"/>
            <a:ext cx="3657600" cy="201168"/>
          </a:xfrm>
          <a:prstGeom prst="rect">
            <a:avLst/>
          </a:prstGeom>
          <a:noFill/>
        </p:spPr>
        <p:txBody>
          <a:bodyPr wrap="square" anchor="t">
            <a:spAutoFit/>
          </a:bodyPr>
          <a:lstStyle/>
          <a:p>
            <a:pPr algn="l"/>
            <a:r>
              <a:rPr sz="1050" b="0">
                <a:solidFill>
                  <a:srgbClr val="5D6A7F"/>
                </a:solidFill>
                <a:latin typeface="Arial"/>
              </a:rPr>
              <a:t>Lello Molinario  |  MSc Thesis Defense</a:t>
            </a:r>
          </a:p>
        </p:txBody>
      </p:sp>
      <p:sp>
        <p:nvSpPr>
          <p:cNvPr id="35" name="TextBox 34"/>
          <p:cNvSpPr txBox="1"/>
          <p:nvPr/>
        </p:nvSpPr>
        <p:spPr>
          <a:xfrm>
            <a:off x="10991088" y="6528816"/>
            <a:ext cx="566928" cy="256032"/>
          </a:xfrm>
          <a:prstGeom prst="rect">
            <a:avLst/>
          </a:prstGeom>
          <a:noFill/>
        </p:spPr>
        <p:txBody>
          <a:bodyPr wrap="square" anchor="t">
            <a:spAutoFit/>
          </a:bodyPr>
          <a:lstStyle/>
          <a:p>
            <a:pPr algn="ctr"/>
            <a:r>
              <a:rPr sz="1500">
                <a:solidFill>
                  <a:srgbClr val="182235"/>
                </a:solidFill>
                <a:latin typeface="Aria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3868</Words>
  <Application>Microsoft Office PowerPoint</Application>
  <DocSecurity>0</DocSecurity>
  <PresentationFormat>Widescreen</PresentationFormat>
  <Paragraphs>471</Paragraphs>
  <Slides>24</Slides>
  <Notes>23</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7</cp:revision>
  <dcterms:created xsi:type="dcterms:W3CDTF">2026-09-06T08:00:34Z</dcterms:created>
  <dcterms:modified xsi:type="dcterms:W3CDTF">2026-09-23T09:49:58Z</dcterms:modified>
</cp:coreProperties>
</file>